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3333500" cy="7500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530352" y="438912"/>
            <a:ext cx="118872" cy="58521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68680" y="960120"/>
            <a:ext cx="10241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4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RAG 原始论文精读</a:t>
            </a:r>
            <a:endParaRPr lang="zh-CN" sz="4200"/>
          </a:p>
        </p:txBody>
      </p:sp>
      <p:sp>
        <p:nvSpPr>
          <p:cNvPr id="5" name="text 5"/>
          <p:cNvSpPr txBox="1"/>
          <p:nvPr/>
        </p:nvSpPr>
        <p:spPr>
          <a:xfrm>
            <a:off x="896112" y="201168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200">
                <a:solidFill>
                  <a:srgbClr val="A84F35"/>
                </a:solidFill>
                <a:latin typeface="Cascadia Mono"/>
                <a:ea typeface="Cascadia Mono"/>
                <a:cs typeface="Cascadia Mono"/>
              </a:rPr>
              <a:t>Retrieval-Augmented Generation for Knowledge-Intensive NLP Tasks</a:t>
            </a:r>
            <a:endParaRPr lang="zh-CN" sz="2200"/>
          </a:p>
        </p:txBody>
      </p:sp>
      <p:sp>
        <p:nvSpPr>
          <p:cNvPr id="6" name="text 6"/>
          <p:cNvSpPr txBox="1"/>
          <p:nvPr/>
        </p:nvSpPr>
        <p:spPr>
          <a:xfrm>
            <a:off x="914400" y="29260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9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基于 CSDN 精读文章重构：问题动机、模型结构、训练推理、实验结果与工程启示</a:t>
            </a:r>
            <a:endParaRPr lang="zh-CN" sz="1900"/>
          </a:p>
        </p:txBody>
      </p:sp>
      <p:sp>
        <p:nvSpPr>
          <p:cNvPr id="7" name="rect 7"/>
          <p:cNvSpPr/>
          <p:nvPr/>
        </p:nvSpPr>
        <p:spPr>
          <a:xfrm>
            <a:off x="914400" y="4800600"/>
            <a:ext cx="2057400" cy="65836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8" name="rect 8"/>
          <p:cNvSpPr/>
          <p:nvPr/>
        </p:nvSpPr>
        <p:spPr>
          <a:xfrm>
            <a:off x="914400" y="480060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9" name="node text 9"/>
          <p:cNvSpPr txBox="1"/>
          <p:nvPr/>
        </p:nvSpPr>
        <p:spPr>
          <a:xfrm>
            <a:off x="987552" y="4800600"/>
            <a:ext cx="19842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NeurIPS 2020</a:t>
            </a:r>
            <a:endParaRPr lang="zh-CN" sz="1400"/>
          </a:p>
          <a:p>
            <a:pPr algn="ctr"/>
            <a:r>
              <a:rPr lang="zh-CN" sz="14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FAIR</a:t>
            </a:r>
            <a:endParaRPr lang="zh-CN" sz="1400"/>
          </a:p>
        </p:txBody>
      </p:sp>
      <p:sp>
        <p:nvSpPr>
          <p:cNvPr id="10" name="rect 10"/>
          <p:cNvSpPr/>
          <p:nvPr/>
        </p:nvSpPr>
        <p:spPr>
          <a:xfrm>
            <a:off x="3337560" y="4800600"/>
            <a:ext cx="2057400" cy="65836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1" name="rect 11"/>
          <p:cNvSpPr/>
          <p:nvPr/>
        </p:nvSpPr>
        <p:spPr>
          <a:xfrm>
            <a:off x="3337560" y="480060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2" name="node text 12"/>
          <p:cNvSpPr txBox="1"/>
          <p:nvPr/>
        </p:nvSpPr>
        <p:spPr>
          <a:xfrm>
            <a:off x="3410712" y="4800600"/>
            <a:ext cx="19842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参数化记忆</a:t>
            </a:r>
            <a:endParaRPr lang="zh-CN" sz="1400"/>
          </a:p>
          <a:p>
            <a:pPr algn="ctr"/>
            <a:r>
              <a:rPr lang="zh-CN" sz="14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BART</a:t>
            </a:r>
            <a:endParaRPr lang="zh-CN" sz="1400"/>
          </a:p>
        </p:txBody>
      </p:sp>
      <p:sp>
        <p:nvSpPr>
          <p:cNvPr id="13" name="rect 13"/>
          <p:cNvSpPr/>
          <p:nvPr/>
        </p:nvSpPr>
        <p:spPr>
          <a:xfrm>
            <a:off x="5760720" y="4800600"/>
            <a:ext cx="2057400" cy="658368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4" name="rect 14"/>
          <p:cNvSpPr/>
          <p:nvPr/>
        </p:nvSpPr>
        <p:spPr>
          <a:xfrm>
            <a:off x="5760720" y="4800600"/>
            <a:ext cx="73152" cy="65836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5" name="node text 15"/>
          <p:cNvSpPr txBox="1"/>
          <p:nvPr/>
        </p:nvSpPr>
        <p:spPr>
          <a:xfrm>
            <a:off x="5833872" y="4800600"/>
            <a:ext cx="19842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非参数记忆</a:t>
            </a:r>
            <a:endParaRPr lang="zh-CN" sz="1400"/>
          </a:p>
          <a:p>
            <a:pPr algn="ctr"/>
            <a:r>
              <a:rPr lang="zh-CN" sz="14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Wikipedia 索引</a:t>
            </a:r>
            <a:endParaRPr lang="zh-CN" sz="1400"/>
          </a:p>
        </p:txBody>
      </p:sp>
      <p:sp>
        <p:nvSpPr>
          <p:cNvPr id="16" name="rect 16"/>
          <p:cNvSpPr/>
          <p:nvPr/>
        </p:nvSpPr>
        <p:spPr>
          <a:xfrm>
            <a:off x="8183879" y="4800600"/>
            <a:ext cx="205740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7" name="rect 17"/>
          <p:cNvSpPr/>
          <p:nvPr/>
        </p:nvSpPr>
        <p:spPr>
          <a:xfrm>
            <a:off x="8183879" y="4800600"/>
            <a:ext cx="73152" cy="65836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8" name="node text 18"/>
          <p:cNvSpPr txBox="1"/>
          <p:nvPr/>
        </p:nvSpPr>
        <p:spPr>
          <a:xfrm>
            <a:off x="8257031" y="4800600"/>
            <a:ext cx="19842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两种模型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RAG-Seq / RAG-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Tok</a:t>
            </a:r>
            <a:endParaRPr lang="zh-CN" sz="1300"/>
          </a:p>
        </p:txBody>
      </p:sp>
      <p:sp>
        <p:nvSpPr>
          <p:cNvPr id="19" name="text 19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主要来源：https://blog.csdn.net/weixin_43221845/article/details/142610477；原论文：arXiv:2005.11401</a:t>
            </a:r>
            <a:endParaRPr lang="zh-CN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1. 论文一句话与研究定位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读前定位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143000"/>
            <a:ext cx="3383280" cy="4389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143000"/>
            <a:ext cx="73152" cy="4389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777240" y="1143000"/>
            <a:ext cx="3273552" cy="438912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一句话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是把“检索”与“生成”统一到一个可微训练框架里的开山工作。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核心目标是解决知识密集型任务中，纯参数模型难访问、难更新、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难解释外部知识的问题。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4434840" y="1143000"/>
            <a:ext cx="3246120" cy="438912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4434840" y="1143000"/>
            <a:ext cx="73152" cy="43891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4526279" y="1143000"/>
            <a:ext cx="3136391" cy="438912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论文信息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Facebook AI Research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团队，Patrick Lewis、Ethan Perez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等。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2020-05-22 首版提交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arXiv，NeurIPS 2020 接收。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实验代码作为 HuggingFace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Transformers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research_projects/rag 的一部分开源。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8046720" y="1143000"/>
            <a:ext cx="3246120" cy="438912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046720" y="1143000"/>
            <a:ext cx="73152" cy="438912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6" name="card 16"/>
          <p:cNvSpPr txBox="1"/>
          <p:nvPr/>
        </p:nvSpPr>
        <p:spPr>
          <a:xfrm>
            <a:off x="8138160" y="1143000"/>
            <a:ext cx="3136391" cy="438912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把预训练模型内部知识称为参数化记忆。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把可检索文档索引称为非参数化记忆。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这套范式后来成为现代 RAG 系统的基础抽象。</a:t>
            </a:r>
            <a:endParaRPr lang="zh-CN" sz="1200"/>
          </a:p>
        </p:txBody>
      </p:sp>
      <p:sp>
        <p:nvSpPr>
          <p:cNvPr id="17" name="text 17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2. 动机：纯参数模型的三个瓶颈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731520" y="1143000"/>
            <a:ext cx="201168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731520" y="114300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804672" y="1143000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大模型预训练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存了事实知识</a:t>
            </a:r>
            <a:endParaRPr lang="zh-CN" sz="1300"/>
          </a:p>
        </p:txBody>
      </p:sp>
      <p:cxnSp>
        <p:nvCxnSpPr>
          <p:cNvPr id="11" name="arrow 11"/>
          <p:cNvCxnSpPr/>
          <p:nvPr/>
        </p:nvCxnSpPr>
        <p:spPr>
          <a:xfrm>
            <a:off x="2743200" y="1490472"/>
            <a:ext cx="50291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12" name="decision 12"/>
          <p:cNvSpPr/>
          <p:nvPr/>
        </p:nvSpPr>
        <p:spPr>
          <a:xfrm>
            <a:off x="3246120" y="1005840"/>
            <a:ext cx="1691640" cy="960120"/>
          </a:xfrm>
          <a:prstGeom prst="diamond">
            <a:avLst/>
          </a:prstGeom>
          <a:solidFill>
            <a:srgbClr val="F7E7DD"/>
          </a:solidFill>
          <a:ln w="12000">
            <a:solidFill>
              <a:srgbClr val="A84F35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知识密集型任务
仍然困难？</a:t>
            </a:r>
            <a:endParaRPr lang="zh-CN" sz="1200"/>
          </a:p>
        </p:txBody>
      </p:sp>
      <p:cxnSp>
        <p:nvCxnSpPr>
          <p:cNvPr id="13" name="arrow 13"/>
          <p:cNvCxnSpPr/>
          <p:nvPr/>
        </p:nvCxnSpPr>
        <p:spPr>
          <a:xfrm>
            <a:off x="4937760" y="1490472"/>
            <a:ext cx="594359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14" name="rect 14"/>
          <p:cNvSpPr/>
          <p:nvPr/>
        </p:nvSpPr>
        <p:spPr>
          <a:xfrm>
            <a:off x="5532120" y="804672"/>
            <a:ext cx="2057400" cy="621792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5532120" y="804672"/>
            <a:ext cx="73152" cy="621792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5605272" y="804672"/>
            <a:ext cx="1984248" cy="62179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精确访问知识难</a:t>
            </a:r>
            <a:endParaRPr lang="zh-CN" sz="1300"/>
          </a:p>
        </p:txBody>
      </p:sp>
      <p:sp>
        <p:nvSpPr>
          <p:cNvPr id="17" name="rect 17"/>
          <p:cNvSpPr/>
          <p:nvPr/>
        </p:nvSpPr>
        <p:spPr>
          <a:xfrm>
            <a:off x="5532120" y="1664208"/>
            <a:ext cx="2057400" cy="621792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5532120" y="1664208"/>
            <a:ext cx="73152" cy="62179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5605272" y="1664208"/>
            <a:ext cx="1984248" cy="62179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知识更新成本高</a:t>
            </a:r>
            <a:endParaRPr lang="zh-CN" sz="1300"/>
          </a:p>
        </p:txBody>
      </p:sp>
      <p:sp>
        <p:nvSpPr>
          <p:cNvPr id="20" name="rect 20"/>
          <p:cNvSpPr/>
          <p:nvPr/>
        </p:nvSpPr>
        <p:spPr>
          <a:xfrm>
            <a:off x="5532120" y="2523744"/>
            <a:ext cx="2057400" cy="621792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5532120" y="2523744"/>
            <a:ext cx="73152" cy="621792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5605272" y="2523744"/>
            <a:ext cx="1984248" cy="62179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生成依据难追溯</a:t>
            </a:r>
            <a:endParaRPr lang="zh-CN" sz="1300"/>
          </a:p>
        </p:txBody>
      </p:sp>
      <p:cxnSp>
        <p:nvCxnSpPr>
          <p:cNvPr id="23" name="arrow 23"/>
          <p:cNvCxnSpPr/>
          <p:nvPr/>
        </p:nvCxnSpPr>
        <p:spPr>
          <a:xfrm>
            <a:off x="7589520" y="1115568"/>
            <a:ext cx="640079" cy="1170432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7589520" y="1975104"/>
            <a:ext cx="640079" cy="310895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25" name="arrow 25"/>
          <p:cNvCxnSpPr/>
          <p:nvPr/>
        </p:nvCxnSpPr>
        <p:spPr>
          <a:xfrm flipV="1">
            <a:off x="7589520" y="2286000"/>
            <a:ext cx="640079" cy="548640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26" name="rect 26"/>
          <p:cNvSpPr/>
          <p:nvPr/>
        </p:nvSpPr>
        <p:spPr>
          <a:xfrm>
            <a:off x="8229600" y="1920240"/>
            <a:ext cx="2514600" cy="77724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8229600" y="1920240"/>
            <a:ext cx="73152" cy="77724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8" name="node text 28"/>
          <p:cNvSpPr txBox="1"/>
          <p:nvPr/>
        </p:nvSpPr>
        <p:spPr>
          <a:xfrm>
            <a:off x="8302752" y="1920240"/>
            <a:ext cx="2441448" cy="77724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RAG 解法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把外部文档纳入生成</a:t>
            </a:r>
            <a:endParaRPr lang="zh-CN" sz="1300"/>
          </a:p>
        </p:txBody>
      </p:sp>
      <p:sp>
        <p:nvSpPr>
          <p:cNvPr id="29" name="rect 29"/>
          <p:cNvSpPr/>
          <p:nvPr/>
        </p:nvSpPr>
        <p:spPr>
          <a:xfrm>
            <a:off x="822960" y="3977639"/>
            <a:ext cx="9875520" cy="123444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822960" y="3977639"/>
            <a:ext cx="73152" cy="123444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1" name="card 31"/>
          <p:cNvSpPr txBox="1"/>
          <p:nvPr/>
        </p:nvSpPr>
        <p:spPr>
          <a:xfrm>
            <a:off x="914400" y="3977639"/>
            <a:ext cx="9765792" cy="123444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精读提示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这篇论文不是简单“检索后拼 prompt”，而是在概率模型中把检索文档 z 作为潜变量，对多个候选文档进行边缘化。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所以 RAG 的核心不是多塞资料，而是让模型学习“检索哪些文档 + 如何基于文档生成”。</a:t>
            </a:r>
            <a:endParaRPr lang="zh-CN" sz="1200"/>
          </a:p>
        </p:txBody>
      </p:sp>
      <p:sp>
        <p:nvSpPr>
          <p:cNvPr id="32" name="text 32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3. 整体架构：从问题到答案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模型总图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594360" y="1280160"/>
            <a:ext cx="160020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594360" y="128016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667512" y="1280160"/>
            <a:ext cx="15270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输入问题 x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谁是《神曲》的作者？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2743200" y="1280160"/>
            <a:ext cx="160020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2743200" y="128016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2816352" y="1280160"/>
            <a:ext cx="15270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查询编码器</a:t>
            </a:r>
            <a:endParaRPr lang="zh-CN" sz="900"/>
          </a:p>
          <a:p>
            <a:pPr algn="ctr"/>
            <a:r>
              <a:rPr lang="zh-CN" sz="9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q(x)</a:t>
            </a:r>
            <a:endParaRPr lang="zh-CN" sz="900"/>
          </a:p>
        </p:txBody>
      </p:sp>
      <p:sp>
        <p:nvSpPr>
          <p:cNvPr id="14" name="rect 14"/>
          <p:cNvSpPr/>
          <p:nvPr/>
        </p:nvSpPr>
        <p:spPr>
          <a:xfrm>
            <a:off x="4846320" y="1280160"/>
            <a:ext cx="173736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4846320" y="128016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4919472" y="1280160"/>
            <a:ext cx="1664207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DPR 检索器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MIPS top-K</a:t>
            </a:r>
            <a:endParaRPr lang="zh-CN" sz="1200"/>
          </a:p>
        </p:txBody>
      </p:sp>
      <p:sp>
        <p:nvSpPr>
          <p:cNvPr id="17" name="rect 17"/>
          <p:cNvSpPr/>
          <p:nvPr/>
        </p:nvSpPr>
        <p:spPr>
          <a:xfrm>
            <a:off x="7223760" y="777240"/>
            <a:ext cx="1463040" cy="53035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7223760" y="777240"/>
            <a:ext cx="73152" cy="53035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7296912" y="777240"/>
            <a:ext cx="1389888" cy="53035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z1</a:t>
            </a:r>
            <a:endParaRPr lang="zh-CN" sz="900"/>
          </a:p>
        </p:txBody>
      </p:sp>
      <p:sp>
        <p:nvSpPr>
          <p:cNvPr id="20" name="rect 20"/>
          <p:cNvSpPr/>
          <p:nvPr/>
        </p:nvSpPr>
        <p:spPr>
          <a:xfrm>
            <a:off x="7223760" y="1417320"/>
            <a:ext cx="1463040" cy="53035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7223760" y="1417320"/>
            <a:ext cx="73152" cy="53035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7296912" y="1417320"/>
            <a:ext cx="1389888" cy="53035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z2</a:t>
            </a:r>
            <a:endParaRPr lang="zh-CN" sz="900"/>
          </a:p>
        </p:txBody>
      </p:sp>
      <p:sp>
        <p:nvSpPr>
          <p:cNvPr id="23" name="rect 23"/>
          <p:cNvSpPr/>
          <p:nvPr/>
        </p:nvSpPr>
        <p:spPr>
          <a:xfrm>
            <a:off x="7223760" y="2057400"/>
            <a:ext cx="1463040" cy="53035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7223760" y="2057400"/>
            <a:ext cx="73152" cy="53035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5" name="node text 25"/>
          <p:cNvSpPr txBox="1"/>
          <p:nvPr/>
        </p:nvSpPr>
        <p:spPr>
          <a:xfrm>
            <a:off x="7296912" y="2057400"/>
            <a:ext cx="1389888" cy="53035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z3 ... zk</a:t>
            </a:r>
            <a:endParaRPr lang="zh-CN" sz="900"/>
          </a:p>
        </p:txBody>
      </p:sp>
      <p:sp>
        <p:nvSpPr>
          <p:cNvPr id="26" name="rect 26"/>
          <p:cNvSpPr/>
          <p:nvPr/>
        </p:nvSpPr>
        <p:spPr>
          <a:xfrm>
            <a:off x="9144000" y="1280160"/>
            <a:ext cx="173736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9144000" y="128016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8" name="node text 28"/>
          <p:cNvSpPr txBox="1"/>
          <p:nvPr/>
        </p:nvSpPr>
        <p:spPr>
          <a:xfrm>
            <a:off x="9217152" y="1280160"/>
            <a:ext cx="1664207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8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BART 生成器</a:t>
            </a:r>
            <a:endParaRPr lang="zh-CN" sz="800"/>
          </a:p>
          <a:p>
            <a:pPr algn="ctr"/>
            <a:r>
              <a:rPr lang="zh-CN" sz="8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pθ(y|x,z)</a:t>
            </a:r>
            <a:endParaRPr lang="zh-CN" sz="800"/>
          </a:p>
        </p:txBody>
      </p:sp>
      <p:sp>
        <p:nvSpPr>
          <p:cNvPr id="29" name="rect 29"/>
          <p:cNvSpPr/>
          <p:nvPr/>
        </p:nvSpPr>
        <p:spPr>
          <a:xfrm>
            <a:off x="9144000" y="2788920"/>
            <a:ext cx="173736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9144000" y="2788920"/>
            <a:ext cx="73152" cy="6858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1" name="node text 31"/>
          <p:cNvSpPr txBox="1"/>
          <p:nvPr/>
        </p:nvSpPr>
        <p:spPr>
          <a:xfrm>
            <a:off x="9217152" y="2788920"/>
            <a:ext cx="1664207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边缘化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加权综合</a:t>
            </a:r>
            <a:endParaRPr lang="zh-CN" sz="1200"/>
          </a:p>
        </p:txBody>
      </p:sp>
      <p:sp>
        <p:nvSpPr>
          <p:cNvPr id="32" name="rect 32"/>
          <p:cNvSpPr/>
          <p:nvPr/>
        </p:nvSpPr>
        <p:spPr>
          <a:xfrm>
            <a:off x="6629400" y="3611880"/>
            <a:ext cx="205740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3" name="rect 33"/>
          <p:cNvSpPr/>
          <p:nvPr/>
        </p:nvSpPr>
        <p:spPr>
          <a:xfrm>
            <a:off x="6629400" y="361188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4" name="node text 34"/>
          <p:cNvSpPr txBox="1"/>
          <p:nvPr/>
        </p:nvSpPr>
        <p:spPr>
          <a:xfrm>
            <a:off x="6702552" y="361188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输出答案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“但丁创作了《神曲》”</a:t>
            </a:r>
            <a:endParaRPr lang="zh-CN" sz="1100"/>
          </a:p>
        </p:txBody>
      </p:sp>
      <p:cxnSp>
        <p:nvCxnSpPr>
          <p:cNvPr id="35" name="arrow 35"/>
          <p:cNvCxnSpPr/>
          <p:nvPr/>
        </p:nvCxnSpPr>
        <p:spPr>
          <a:xfrm>
            <a:off x="2194560" y="1627632"/>
            <a:ext cx="54864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36" name="arrow 36"/>
          <p:cNvCxnSpPr/>
          <p:nvPr/>
        </p:nvCxnSpPr>
        <p:spPr>
          <a:xfrm>
            <a:off x="4343400" y="1627632"/>
            <a:ext cx="5029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37" name="arrow 37"/>
          <p:cNvCxnSpPr/>
          <p:nvPr/>
        </p:nvCxnSpPr>
        <p:spPr>
          <a:xfrm flipV="1">
            <a:off x="6583680" y="1042415"/>
            <a:ext cx="640080" cy="585216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38" name="arrow 38"/>
          <p:cNvCxnSpPr/>
          <p:nvPr/>
        </p:nvCxnSpPr>
        <p:spPr>
          <a:xfrm>
            <a:off x="6583680" y="1627632"/>
            <a:ext cx="640080" cy="54864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39" name="arrow 39"/>
          <p:cNvCxnSpPr/>
          <p:nvPr/>
        </p:nvCxnSpPr>
        <p:spPr>
          <a:xfrm>
            <a:off x="6583680" y="1627632"/>
            <a:ext cx="640080" cy="694944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>
            <a:off x="8686800" y="1042415"/>
            <a:ext cx="457200" cy="585216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cxnSp>
        <p:nvCxnSpPr>
          <p:cNvPr id="41" name="arrow 41"/>
          <p:cNvCxnSpPr/>
          <p:nvPr/>
        </p:nvCxnSpPr>
        <p:spPr>
          <a:xfrm flipV="1">
            <a:off x="8686800" y="1627632"/>
            <a:ext cx="457200" cy="54864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cxnSp>
        <p:nvCxnSpPr>
          <p:cNvPr id="42" name="arrow 42"/>
          <p:cNvCxnSpPr/>
          <p:nvPr/>
        </p:nvCxnSpPr>
        <p:spPr>
          <a:xfrm flipV="1">
            <a:off x="8686800" y="1627632"/>
            <a:ext cx="457200" cy="694944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cxnSp>
        <p:nvCxnSpPr>
          <p:cNvPr id="43" name="arrow 43"/>
          <p:cNvCxnSpPr/>
          <p:nvPr/>
        </p:nvCxnSpPr>
        <p:spPr>
          <a:xfrm>
            <a:off x="10012680" y="1965960"/>
            <a:ext cx="1" cy="822959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cxnSp>
        <p:nvCxnSpPr>
          <p:cNvPr id="44" name="arrow 44"/>
          <p:cNvCxnSpPr/>
          <p:nvPr/>
        </p:nvCxnSpPr>
        <p:spPr>
          <a:xfrm flipH="1">
            <a:off x="8686800" y="3127248"/>
            <a:ext cx="457200" cy="822960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45" name="rect 45"/>
          <p:cNvSpPr/>
          <p:nvPr/>
        </p:nvSpPr>
        <p:spPr>
          <a:xfrm>
            <a:off x="731520" y="4069080"/>
            <a:ext cx="5166360" cy="11430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46" name="rect 46"/>
          <p:cNvSpPr/>
          <p:nvPr/>
        </p:nvSpPr>
        <p:spPr>
          <a:xfrm>
            <a:off x="731520" y="4069080"/>
            <a:ext cx="73152" cy="11430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47" name="card 47"/>
          <p:cNvSpPr txBox="1"/>
          <p:nvPr/>
        </p:nvSpPr>
        <p:spPr>
          <a:xfrm>
            <a:off x="822960" y="4069080"/>
            <a:ext cx="5056632" cy="1143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两类记忆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参数化记忆：BART 的预训练参数，负责语言生成和通用知识。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非参数化记忆：Wikipedia 稠密向量索引，负责动态外部知识。</a:t>
            </a:r>
            <a:endParaRPr lang="zh-CN" sz="1200"/>
          </a:p>
        </p:txBody>
      </p:sp>
      <p:sp>
        <p:nvSpPr>
          <p:cNvPr id="48" name="text 48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4. RAG-Sequence：整段答案共享同一文档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模型 1</a:t>
            </a:r>
            <a:endParaRPr lang="zh-CN" sz="1000"/>
          </a:p>
        </p:txBody>
      </p:sp>
      <p:sp>
        <p:nvSpPr>
          <p:cNvPr id="8" name="text 8"/>
          <p:cNvSpPr txBox="1"/>
          <p:nvPr/>
        </p:nvSpPr>
        <p:spPr>
          <a:xfrm>
            <a:off x="640080" y="1051560"/>
            <a:ext cx="10789920" cy="640080"/>
          </a:xfrm>
          <a:prstGeom prst="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22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p_RAG-Seq(y|x) ≈ Σ_{z∈topK} pη(z|x) · pθ(y|x,z)</a:t>
            </a:r>
            <a:endParaRPr lang="zh-CN" sz="2200"/>
          </a:p>
        </p:txBody>
      </p:sp>
      <p:sp>
        <p:nvSpPr>
          <p:cNvPr id="9" name="rect 9"/>
          <p:cNvSpPr/>
          <p:nvPr/>
        </p:nvSpPr>
        <p:spPr>
          <a:xfrm>
            <a:off x="868680" y="2148840"/>
            <a:ext cx="1828800" cy="65836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0" name="rect 10"/>
          <p:cNvSpPr/>
          <p:nvPr/>
        </p:nvSpPr>
        <p:spPr>
          <a:xfrm>
            <a:off x="868680" y="214884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1" name="node text 11"/>
          <p:cNvSpPr txBox="1"/>
          <p:nvPr/>
        </p:nvSpPr>
        <p:spPr>
          <a:xfrm>
            <a:off x="941832" y="21488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 top-K 文档</a:t>
            </a:r>
            <a:endParaRPr lang="zh-CN" sz="1300"/>
          </a:p>
        </p:txBody>
      </p:sp>
      <p:cxnSp>
        <p:nvCxnSpPr>
          <p:cNvPr id="12" name="arrow 12"/>
          <p:cNvCxnSpPr/>
          <p:nvPr/>
        </p:nvCxnSpPr>
        <p:spPr>
          <a:xfrm>
            <a:off x="2697480" y="2487168"/>
            <a:ext cx="54863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13" name="rect 13"/>
          <p:cNvSpPr/>
          <p:nvPr/>
        </p:nvSpPr>
        <p:spPr>
          <a:xfrm>
            <a:off x="3246120" y="2148840"/>
            <a:ext cx="2057400" cy="658368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4" name="rect 14"/>
          <p:cNvSpPr/>
          <p:nvPr/>
        </p:nvSpPr>
        <p:spPr>
          <a:xfrm>
            <a:off x="3246120" y="2148840"/>
            <a:ext cx="73152" cy="65836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5" name="node text 15"/>
          <p:cNvSpPr txBox="1"/>
          <p:nvPr/>
        </p:nvSpPr>
        <p:spPr>
          <a:xfrm>
            <a:off x="3319272" y="2148840"/>
            <a:ext cx="19842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每个文档生成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一条完整答案</a:t>
            </a:r>
            <a:endParaRPr lang="zh-CN" sz="1300"/>
          </a:p>
        </p:txBody>
      </p:sp>
      <p:cxnSp>
        <p:nvCxnSpPr>
          <p:cNvPr id="16" name="arrow 16"/>
          <p:cNvCxnSpPr/>
          <p:nvPr/>
        </p:nvCxnSpPr>
        <p:spPr>
          <a:xfrm>
            <a:off x="5303520" y="2487168"/>
            <a:ext cx="548640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17" name="rect 17"/>
          <p:cNvSpPr/>
          <p:nvPr/>
        </p:nvSpPr>
        <p:spPr>
          <a:xfrm>
            <a:off x="5852160" y="2148840"/>
            <a:ext cx="2057400" cy="65836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5852160" y="2148840"/>
            <a:ext cx="73152" cy="65836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5925312" y="2148840"/>
            <a:ext cx="19842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按检索概率加权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做边缘化</a:t>
            </a:r>
            <a:endParaRPr lang="zh-CN" sz="1300"/>
          </a:p>
        </p:txBody>
      </p:sp>
      <p:cxnSp>
        <p:nvCxnSpPr>
          <p:cNvPr id="20" name="arrow 20"/>
          <p:cNvCxnSpPr/>
          <p:nvPr/>
        </p:nvCxnSpPr>
        <p:spPr>
          <a:xfrm>
            <a:off x="7909560" y="2487168"/>
            <a:ext cx="548639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21" name="rect 21"/>
          <p:cNvSpPr/>
          <p:nvPr/>
        </p:nvSpPr>
        <p:spPr>
          <a:xfrm>
            <a:off x="8458200" y="2148840"/>
            <a:ext cx="201168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2" name="rect 22"/>
          <p:cNvSpPr/>
          <p:nvPr/>
        </p:nvSpPr>
        <p:spPr>
          <a:xfrm>
            <a:off x="8458200" y="214884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3" name="node text 23"/>
          <p:cNvSpPr txBox="1"/>
          <p:nvPr/>
        </p:nvSpPr>
        <p:spPr>
          <a:xfrm>
            <a:off x="8531352" y="2148840"/>
            <a:ext cx="193852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得到最终序列 y</a:t>
            </a:r>
            <a:endParaRPr lang="zh-CN" sz="1300"/>
          </a:p>
        </p:txBody>
      </p:sp>
      <p:sp>
        <p:nvSpPr>
          <p:cNvPr id="24" name="rect 24"/>
          <p:cNvSpPr/>
          <p:nvPr/>
        </p:nvSpPr>
        <p:spPr>
          <a:xfrm>
            <a:off x="777240" y="3703320"/>
            <a:ext cx="4892040" cy="150876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5" name="rect 25"/>
          <p:cNvSpPr/>
          <p:nvPr/>
        </p:nvSpPr>
        <p:spPr>
          <a:xfrm>
            <a:off x="777240" y="3703320"/>
            <a:ext cx="73152" cy="15087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6" name="card 26"/>
          <p:cNvSpPr txBox="1"/>
          <p:nvPr/>
        </p:nvSpPr>
        <p:spPr>
          <a:xfrm>
            <a:off x="868680" y="3703320"/>
            <a:ext cx="4782312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直觉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像从图书馆挑几本书，各自写一版完整答案，再按可信度汇总。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优势是整段答案上下文一致；代价是解码更复杂。</a:t>
            </a:r>
            <a:endParaRPr lang="zh-CN" sz="1200"/>
          </a:p>
        </p:txBody>
      </p:sp>
      <p:sp>
        <p:nvSpPr>
          <p:cNvPr id="27" name="rect 27"/>
          <p:cNvSpPr/>
          <p:nvPr/>
        </p:nvSpPr>
        <p:spPr>
          <a:xfrm>
            <a:off x="6172200" y="3703320"/>
            <a:ext cx="4892040" cy="15087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6172200" y="3703320"/>
            <a:ext cx="73152" cy="15087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9" name="card 29"/>
          <p:cNvSpPr txBox="1"/>
          <p:nvPr/>
        </p:nvSpPr>
        <p:spPr>
          <a:xfrm>
            <a:off x="6263640" y="3703320"/>
            <a:ext cx="4782312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文章中的对比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RAG-Sequence 在多个开放域问答数据集上表现稳定。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它更偏向“整段答案绑定同一证据源”的生成方式。</a:t>
            </a:r>
            <a:endParaRPr lang="zh-CN" sz="1200"/>
          </a:p>
        </p:txBody>
      </p:sp>
      <p:sp>
        <p:nvSpPr>
          <p:cNvPr id="30" name="text 30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5. RAG-Token：每个 token 可参考不同文档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模型 2</a:t>
            </a:r>
            <a:endParaRPr lang="zh-CN" sz="1000"/>
          </a:p>
        </p:txBody>
      </p:sp>
      <p:sp>
        <p:nvSpPr>
          <p:cNvPr id="8" name="text 8"/>
          <p:cNvSpPr txBox="1"/>
          <p:nvPr/>
        </p:nvSpPr>
        <p:spPr>
          <a:xfrm>
            <a:off x="566928" y="960120"/>
            <a:ext cx="11018520" cy="658368"/>
          </a:xfrm>
          <a:prstGeom prst="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2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p_RAG-Tok(y|x) ≈ Π_i Σ_{z∈topK} pη(z|x) · pθ(y_i|x,z,y_&lt;i)</a:t>
            </a:r>
            <a:endParaRPr lang="zh-CN" sz="2000"/>
          </a:p>
        </p:txBody>
      </p:sp>
      <p:sp>
        <p:nvSpPr>
          <p:cNvPr id="9" name="rect 9"/>
          <p:cNvSpPr/>
          <p:nvPr/>
        </p:nvSpPr>
        <p:spPr>
          <a:xfrm>
            <a:off x="777240" y="2011680"/>
            <a:ext cx="1554480" cy="5943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0" name="rect 10"/>
          <p:cNvSpPr/>
          <p:nvPr/>
        </p:nvSpPr>
        <p:spPr>
          <a:xfrm>
            <a:off x="777240" y="2011680"/>
            <a:ext cx="73152" cy="5943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1" name="node text 11"/>
          <p:cNvSpPr txBox="1"/>
          <p:nvPr/>
        </p:nvSpPr>
        <p:spPr>
          <a:xfrm>
            <a:off x="850392" y="2011680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生成 y1</a:t>
            </a:r>
            <a:endParaRPr lang="zh-CN" sz="900"/>
          </a:p>
        </p:txBody>
      </p:sp>
      <p:sp>
        <p:nvSpPr>
          <p:cNvPr id="12" name="rect 12"/>
          <p:cNvSpPr/>
          <p:nvPr/>
        </p:nvSpPr>
        <p:spPr>
          <a:xfrm>
            <a:off x="2834640" y="2011680"/>
            <a:ext cx="1554480" cy="5943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3" name="rect 13"/>
          <p:cNvSpPr/>
          <p:nvPr/>
        </p:nvSpPr>
        <p:spPr>
          <a:xfrm>
            <a:off x="2834640" y="2011680"/>
            <a:ext cx="73152" cy="5943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4" name="node text 14"/>
          <p:cNvSpPr txBox="1"/>
          <p:nvPr/>
        </p:nvSpPr>
        <p:spPr>
          <a:xfrm>
            <a:off x="2907792" y="2011680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选择文档 z2</a:t>
            </a:r>
            <a:endParaRPr lang="zh-CN" sz="900"/>
          </a:p>
        </p:txBody>
      </p:sp>
      <p:sp>
        <p:nvSpPr>
          <p:cNvPr id="15" name="rect 15"/>
          <p:cNvSpPr/>
          <p:nvPr/>
        </p:nvSpPr>
        <p:spPr>
          <a:xfrm>
            <a:off x="4892040" y="2011680"/>
            <a:ext cx="1554480" cy="5943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6" name="rect 16"/>
          <p:cNvSpPr/>
          <p:nvPr/>
        </p:nvSpPr>
        <p:spPr>
          <a:xfrm>
            <a:off x="4892040" y="2011680"/>
            <a:ext cx="73152" cy="5943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7" name="node text 17"/>
          <p:cNvSpPr txBox="1"/>
          <p:nvPr/>
        </p:nvSpPr>
        <p:spPr>
          <a:xfrm>
            <a:off x="4965192" y="2011680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生成 y2</a:t>
            </a:r>
            <a:endParaRPr lang="zh-CN" sz="900"/>
          </a:p>
        </p:txBody>
      </p:sp>
      <p:sp>
        <p:nvSpPr>
          <p:cNvPr id="18" name="rect 18"/>
          <p:cNvSpPr/>
          <p:nvPr/>
        </p:nvSpPr>
        <p:spPr>
          <a:xfrm>
            <a:off x="6949440" y="2011680"/>
            <a:ext cx="1554480" cy="5943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9" name="rect 19"/>
          <p:cNvSpPr/>
          <p:nvPr/>
        </p:nvSpPr>
        <p:spPr>
          <a:xfrm>
            <a:off x="6949440" y="2011680"/>
            <a:ext cx="73152" cy="5943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0" name="node text 20"/>
          <p:cNvSpPr txBox="1"/>
          <p:nvPr/>
        </p:nvSpPr>
        <p:spPr>
          <a:xfrm>
            <a:off x="7022592" y="2011680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选择文档 z1</a:t>
            </a:r>
            <a:endParaRPr lang="zh-CN" sz="900"/>
          </a:p>
        </p:txBody>
      </p:sp>
      <p:sp>
        <p:nvSpPr>
          <p:cNvPr id="21" name="rect 21"/>
          <p:cNvSpPr/>
          <p:nvPr/>
        </p:nvSpPr>
        <p:spPr>
          <a:xfrm>
            <a:off x="9006840" y="2011680"/>
            <a:ext cx="1554480" cy="5943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2" name="rect 22"/>
          <p:cNvSpPr/>
          <p:nvPr/>
        </p:nvSpPr>
        <p:spPr>
          <a:xfrm>
            <a:off x="9006840" y="2011680"/>
            <a:ext cx="73152" cy="5943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3" name="node text 23"/>
          <p:cNvSpPr txBox="1"/>
          <p:nvPr/>
        </p:nvSpPr>
        <p:spPr>
          <a:xfrm>
            <a:off x="9079992" y="2011680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生成 y3...</a:t>
            </a:r>
            <a:endParaRPr lang="zh-CN" sz="900"/>
          </a:p>
        </p:txBody>
      </p:sp>
      <p:cxnSp>
        <p:nvCxnSpPr>
          <p:cNvPr id="24" name="arrow 24"/>
          <p:cNvCxnSpPr/>
          <p:nvPr/>
        </p:nvCxnSpPr>
        <p:spPr>
          <a:xfrm>
            <a:off x="2331720" y="2304288"/>
            <a:ext cx="502920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4389120" y="2304288"/>
            <a:ext cx="5029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26" name="arrow 26"/>
          <p:cNvCxnSpPr/>
          <p:nvPr/>
        </p:nvCxnSpPr>
        <p:spPr>
          <a:xfrm>
            <a:off x="6446520" y="2304288"/>
            <a:ext cx="5029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27" name="arrow 27"/>
          <p:cNvCxnSpPr/>
          <p:nvPr/>
        </p:nvCxnSpPr>
        <p:spPr>
          <a:xfrm>
            <a:off x="8503920" y="2304288"/>
            <a:ext cx="5029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28" name="rect 28"/>
          <p:cNvSpPr/>
          <p:nvPr/>
        </p:nvSpPr>
        <p:spPr>
          <a:xfrm>
            <a:off x="777240" y="3611880"/>
            <a:ext cx="3337560" cy="15087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9" name="rect 29"/>
          <p:cNvSpPr/>
          <p:nvPr/>
        </p:nvSpPr>
        <p:spPr>
          <a:xfrm>
            <a:off x="777240" y="3611880"/>
            <a:ext cx="73152" cy="15087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0" name="card 30"/>
          <p:cNvSpPr txBox="1"/>
          <p:nvPr/>
        </p:nvSpPr>
        <p:spPr>
          <a:xfrm>
            <a:off x="868680" y="3611880"/>
            <a:ext cx="3227832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直觉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每生成一个词，都可以重新综合 top-K 文档。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适合需要组合多个来源的复杂生成。</a:t>
            </a:r>
            <a:endParaRPr lang="zh-CN" sz="1200"/>
          </a:p>
        </p:txBody>
      </p:sp>
      <p:sp>
        <p:nvSpPr>
          <p:cNvPr id="31" name="rect 31"/>
          <p:cNvSpPr/>
          <p:nvPr/>
        </p:nvSpPr>
        <p:spPr>
          <a:xfrm>
            <a:off x="4434840" y="3611880"/>
            <a:ext cx="3337560" cy="15087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2" name="rect 32"/>
          <p:cNvSpPr/>
          <p:nvPr/>
        </p:nvSpPr>
        <p:spPr>
          <a:xfrm>
            <a:off x="4434840" y="3611880"/>
            <a:ext cx="73152" cy="15087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3" name="card 33"/>
          <p:cNvSpPr txBox="1"/>
          <p:nvPr/>
        </p:nvSpPr>
        <p:spPr>
          <a:xfrm>
            <a:off x="4526279" y="3611880"/>
            <a:ext cx="3227832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实验现象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在 Jeopardy 风格问题生成中表现突出。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后验分布热图显示，不同词会依赖不同文档。</a:t>
            </a:r>
            <a:endParaRPr lang="zh-CN" sz="1200"/>
          </a:p>
        </p:txBody>
      </p:sp>
      <p:sp>
        <p:nvSpPr>
          <p:cNvPr id="34" name="rect 34"/>
          <p:cNvSpPr/>
          <p:nvPr/>
        </p:nvSpPr>
        <p:spPr>
          <a:xfrm>
            <a:off x="8092440" y="3611880"/>
            <a:ext cx="2880360" cy="150876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5" name="rect 35"/>
          <p:cNvSpPr/>
          <p:nvPr/>
        </p:nvSpPr>
        <p:spPr>
          <a:xfrm>
            <a:off x="8092440" y="3611880"/>
            <a:ext cx="73152" cy="15087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6" name="card 36"/>
          <p:cNvSpPr txBox="1"/>
          <p:nvPr/>
        </p:nvSpPr>
        <p:spPr>
          <a:xfrm>
            <a:off x="8183879" y="3611880"/>
            <a:ext cx="2770632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工程启示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更灵活，但推理和概率计算更细粒度。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现代 RAG 多在应用层近似这种“逐步选证据”。</a:t>
            </a:r>
            <a:endParaRPr lang="zh-CN" sz="1200"/>
          </a:p>
        </p:txBody>
      </p:sp>
      <p:sp>
        <p:nvSpPr>
          <p:cNvPr id="37" name="text 37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6. DPR 检索器：非参数化记忆的入口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Retriever</a:t>
            </a:r>
            <a:endParaRPr lang="zh-CN" sz="1000"/>
          </a:p>
        </p:txBody>
      </p:sp>
      <p:sp>
        <p:nvSpPr>
          <p:cNvPr id="8" name="text 8"/>
          <p:cNvSpPr txBox="1"/>
          <p:nvPr/>
        </p:nvSpPr>
        <p:spPr>
          <a:xfrm>
            <a:off x="685800" y="960120"/>
            <a:ext cx="10789920" cy="502920"/>
          </a:xfrm>
          <a:prstGeom prst="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24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pη(z|x) ∝ exp(d(z)^T q(x))</a:t>
            </a:r>
            <a:endParaRPr lang="zh-CN" sz="2400"/>
          </a:p>
        </p:txBody>
      </p:sp>
      <p:sp>
        <p:nvSpPr>
          <p:cNvPr id="9" name="rect 9"/>
          <p:cNvSpPr/>
          <p:nvPr/>
        </p:nvSpPr>
        <p:spPr>
          <a:xfrm>
            <a:off x="777240" y="2011680"/>
            <a:ext cx="1920240" cy="73152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0" name="rect 10"/>
          <p:cNvSpPr/>
          <p:nvPr/>
        </p:nvSpPr>
        <p:spPr>
          <a:xfrm>
            <a:off x="777240" y="2011680"/>
            <a:ext cx="73152" cy="7315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1" name="node text 11"/>
          <p:cNvSpPr txBox="1"/>
          <p:nvPr/>
        </p:nvSpPr>
        <p:spPr>
          <a:xfrm>
            <a:off x="850392" y="2011680"/>
            <a:ext cx="1847088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查询编码器</a:t>
            </a:r>
            <a:endParaRPr lang="zh-CN" sz="900"/>
          </a:p>
          <a:p>
            <a:pPr algn="ctr"/>
            <a:r>
              <a:rPr lang="zh-CN" sz="9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BERT_q → q(x)</a:t>
            </a:r>
            <a:endParaRPr lang="zh-CN" sz="900"/>
          </a:p>
        </p:txBody>
      </p:sp>
      <p:sp>
        <p:nvSpPr>
          <p:cNvPr id="12" name="rect 12"/>
          <p:cNvSpPr/>
          <p:nvPr/>
        </p:nvSpPr>
        <p:spPr>
          <a:xfrm>
            <a:off x="777240" y="3246120"/>
            <a:ext cx="1920240" cy="73152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3" name="rect 13"/>
          <p:cNvSpPr/>
          <p:nvPr/>
        </p:nvSpPr>
        <p:spPr>
          <a:xfrm>
            <a:off x="777240" y="3246120"/>
            <a:ext cx="73152" cy="7315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4" name="node text 14"/>
          <p:cNvSpPr txBox="1"/>
          <p:nvPr/>
        </p:nvSpPr>
        <p:spPr>
          <a:xfrm>
            <a:off x="850392" y="3246120"/>
            <a:ext cx="1847088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文档编码器</a:t>
            </a:r>
            <a:endParaRPr lang="zh-CN" sz="900"/>
          </a:p>
          <a:p>
            <a:pPr algn="ctr"/>
            <a:r>
              <a:rPr lang="zh-CN" sz="9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BERT_d → d(z)</a:t>
            </a:r>
            <a:endParaRPr lang="zh-CN" sz="900"/>
          </a:p>
        </p:txBody>
      </p:sp>
      <p:cxnSp>
        <p:nvCxnSpPr>
          <p:cNvPr id="15" name="arrow 15"/>
          <p:cNvCxnSpPr/>
          <p:nvPr/>
        </p:nvCxnSpPr>
        <p:spPr>
          <a:xfrm>
            <a:off x="2697480" y="2377440"/>
            <a:ext cx="960119" cy="34747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16" name="arrow 16"/>
          <p:cNvCxnSpPr/>
          <p:nvPr/>
        </p:nvCxnSpPr>
        <p:spPr>
          <a:xfrm flipV="1">
            <a:off x="2697480" y="2907792"/>
            <a:ext cx="960119" cy="704088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17" name="rect 17"/>
          <p:cNvSpPr/>
          <p:nvPr/>
        </p:nvSpPr>
        <p:spPr>
          <a:xfrm>
            <a:off x="3657600" y="2423160"/>
            <a:ext cx="2011680" cy="7315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3657600" y="2423160"/>
            <a:ext cx="73152" cy="73152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3730752" y="2423160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向量内积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相关性得分</a:t>
            </a:r>
            <a:endParaRPr lang="zh-CN" sz="1200"/>
          </a:p>
        </p:txBody>
      </p:sp>
      <p:cxnSp>
        <p:nvCxnSpPr>
          <p:cNvPr id="20" name="arrow 20"/>
          <p:cNvCxnSpPr/>
          <p:nvPr/>
        </p:nvCxnSpPr>
        <p:spPr>
          <a:xfrm>
            <a:off x="5669280" y="2788920"/>
            <a:ext cx="777239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21" name="rect 21"/>
          <p:cNvSpPr/>
          <p:nvPr/>
        </p:nvSpPr>
        <p:spPr>
          <a:xfrm>
            <a:off x="6446520" y="2423160"/>
            <a:ext cx="1965960" cy="73152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2" name="rect 22"/>
          <p:cNvSpPr/>
          <p:nvPr/>
        </p:nvSpPr>
        <p:spPr>
          <a:xfrm>
            <a:off x="6446520" y="2423160"/>
            <a:ext cx="73152" cy="73152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3" name="node text 23"/>
          <p:cNvSpPr txBox="1"/>
          <p:nvPr/>
        </p:nvSpPr>
        <p:spPr>
          <a:xfrm>
            <a:off x="6519672" y="2423160"/>
            <a:ext cx="1892807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MIPS / FAISS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快速 top-K</a:t>
            </a:r>
            <a:endParaRPr lang="zh-CN" sz="1200"/>
          </a:p>
        </p:txBody>
      </p:sp>
      <p:cxnSp>
        <p:nvCxnSpPr>
          <p:cNvPr id="24" name="arrow 24"/>
          <p:cNvCxnSpPr/>
          <p:nvPr/>
        </p:nvCxnSpPr>
        <p:spPr>
          <a:xfrm>
            <a:off x="8412480" y="2788920"/>
            <a:ext cx="777240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5" name="rect 25"/>
          <p:cNvSpPr/>
          <p:nvPr/>
        </p:nvSpPr>
        <p:spPr>
          <a:xfrm>
            <a:off x="9189720" y="2423160"/>
            <a:ext cx="1828800" cy="7315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6" name="rect 26"/>
          <p:cNvSpPr/>
          <p:nvPr/>
        </p:nvSpPr>
        <p:spPr>
          <a:xfrm>
            <a:off x="9189720" y="2423160"/>
            <a:ext cx="73152" cy="7315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7" name="node text 27"/>
          <p:cNvSpPr txBox="1"/>
          <p:nvPr/>
        </p:nvSpPr>
        <p:spPr>
          <a:xfrm>
            <a:off x="9262872" y="2423160"/>
            <a:ext cx="1755648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返回证据文档</a:t>
            </a:r>
            <a:endParaRPr lang="zh-CN" sz="900"/>
          </a:p>
          <a:p>
            <a:pPr algn="ctr"/>
            <a:r>
              <a:rPr lang="zh-CN" sz="9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z1...zk</a:t>
            </a:r>
            <a:endParaRPr lang="zh-CN" sz="900"/>
          </a:p>
        </p:txBody>
      </p:sp>
      <p:sp>
        <p:nvSpPr>
          <p:cNvPr id="28" name="rect 28"/>
          <p:cNvSpPr/>
          <p:nvPr/>
        </p:nvSpPr>
        <p:spPr>
          <a:xfrm>
            <a:off x="868680" y="4617720"/>
            <a:ext cx="987552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9" name="rect 29"/>
          <p:cNvSpPr/>
          <p:nvPr/>
        </p:nvSpPr>
        <p:spPr>
          <a:xfrm>
            <a:off x="868680" y="461772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0" name="card 30"/>
          <p:cNvSpPr txBox="1"/>
          <p:nvPr/>
        </p:nvSpPr>
        <p:spPr>
          <a:xfrm>
            <a:off x="960120" y="4617720"/>
            <a:ext cx="9765792" cy="685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文章重点：DPR 把“问题”和“文档”都编码成稠密向量，用最大内积搜索从大规模文档库中找到最相关证据。</a:t>
            </a:r>
            <a:endParaRPr lang="zh-CN" sz="1700"/>
          </a:p>
        </p:txBody>
      </p:sp>
      <p:sp>
        <p:nvSpPr>
          <p:cNvPr id="31" name="text 31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7. BART 生成器：参数化记忆负责语言生成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Generator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731520" y="1325880"/>
            <a:ext cx="1965960" cy="7315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731520" y="1325880"/>
            <a:ext cx="73152" cy="7315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804672" y="1325880"/>
            <a:ext cx="1892807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问题 x</a:t>
            </a:r>
            <a:endParaRPr lang="zh-CN" sz="1400"/>
          </a:p>
        </p:txBody>
      </p:sp>
      <p:sp>
        <p:nvSpPr>
          <p:cNvPr id="11" name="rect 11"/>
          <p:cNvSpPr/>
          <p:nvPr/>
        </p:nvSpPr>
        <p:spPr>
          <a:xfrm>
            <a:off x="731520" y="2514600"/>
            <a:ext cx="1965960" cy="73152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731520" y="2514600"/>
            <a:ext cx="73152" cy="7315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804672" y="2514600"/>
            <a:ext cx="1892807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检索文档 z</a:t>
            </a:r>
            <a:endParaRPr lang="zh-CN" sz="1400"/>
          </a:p>
        </p:txBody>
      </p:sp>
      <p:cxnSp>
        <p:nvCxnSpPr>
          <p:cNvPr id="14" name="arrow 14"/>
          <p:cNvCxnSpPr/>
          <p:nvPr/>
        </p:nvCxnSpPr>
        <p:spPr>
          <a:xfrm>
            <a:off x="2697480" y="1691640"/>
            <a:ext cx="1005839" cy="365759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15" name="arrow 15"/>
          <p:cNvCxnSpPr/>
          <p:nvPr/>
        </p:nvCxnSpPr>
        <p:spPr>
          <a:xfrm flipV="1">
            <a:off x="2697480" y="2331720"/>
            <a:ext cx="1005839" cy="548640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16" name="rect 16"/>
          <p:cNvSpPr/>
          <p:nvPr/>
        </p:nvSpPr>
        <p:spPr>
          <a:xfrm>
            <a:off x="3703320" y="1783080"/>
            <a:ext cx="219456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7" name="rect 17"/>
          <p:cNvSpPr/>
          <p:nvPr/>
        </p:nvSpPr>
        <p:spPr>
          <a:xfrm>
            <a:off x="3703320" y="1783080"/>
            <a:ext cx="73152" cy="82296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8" name="node text 18"/>
          <p:cNvSpPr txBox="1"/>
          <p:nvPr/>
        </p:nvSpPr>
        <p:spPr>
          <a:xfrm>
            <a:off x="3776472" y="1783080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拼接输入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[x; z]</a:t>
            </a:r>
            <a:endParaRPr lang="zh-CN" sz="1200"/>
          </a:p>
        </p:txBody>
      </p:sp>
      <p:cxnSp>
        <p:nvCxnSpPr>
          <p:cNvPr id="19" name="arrow 19"/>
          <p:cNvCxnSpPr/>
          <p:nvPr/>
        </p:nvCxnSpPr>
        <p:spPr>
          <a:xfrm>
            <a:off x="5897880" y="2194560"/>
            <a:ext cx="594359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0" name="rect 20"/>
          <p:cNvSpPr/>
          <p:nvPr/>
        </p:nvSpPr>
        <p:spPr>
          <a:xfrm>
            <a:off x="6492240" y="1783080"/>
            <a:ext cx="2194560" cy="8229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6492240" y="1783080"/>
            <a:ext cx="73152" cy="8229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6565392" y="1783080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BART-large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seq2seq 去噪预训练</a:t>
            </a:r>
            <a:endParaRPr lang="zh-CN" sz="1300"/>
          </a:p>
        </p:txBody>
      </p:sp>
      <p:cxnSp>
        <p:nvCxnSpPr>
          <p:cNvPr id="23" name="arrow 23"/>
          <p:cNvCxnSpPr/>
          <p:nvPr/>
        </p:nvCxnSpPr>
        <p:spPr>
          <a:xfrm>
            <a:off x="8686800" y="2194560"/>
            <a:ext cx="594360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4" name="rect 24"/>
          <p:cNvSpPr/>
          <p:nvPr/>
        </p:nvSpPr>
        <p:spPr>
          <a:xfrm>
            <a:off x="9281160" y="1783080"/>
            <a:ext cx="182880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5" name="rect 25"/>
          <p:cNvSpPr/>
          <p:nvPr/>
        </p:nvSpPr>
        <p:spPr>
          <a:xfrm>
            <a:off x="9281160" y="1783080"/>
            <a:ext cx="73152" cy="8229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6" name="node text 26"/>
          <p:cNvSpPr txBox="1"/>
          <p:nvPr/>
        </p:nvSpPr>
        <p:spPr>
          <a:xfrm>
            <a:off x="9354312" y="1783080"/>
            <a:ext cx="1755648" cy="8229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生成答案 y</a:t>
            </a:r>
            <a:endParaRPr lang="zh-CN" sz="1500"/>
          </a:p>
        </p:txBody>
      </p:sp>
      <p:sp>
        <p:nvSpPr>
          <p:cNvPr id="27" name="rect 27"/>
          <p:cNvSpPr/>
          <p:nvPr/>
        </p:nvSpPr>
        <p:spPr>
          <a:xfrm>
            <a:off x="868680" y="4069080"/>
            <a:ext cx="4846320" cy="123444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868680" y="4069080"/>
            <a:ext cx="73152" cy="123444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9" name="card 29"/>
          <p:cNvSpPr txBox="1"/>
          <p:nvPr/>
        </p:nvSpPr>
        <p:spPr>
          <a:xfrm>
            <a:off x="960120" y="4069080"/>
            <a:ext cx="4736592" cy="123444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为什么是 BART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它是 encoder-decoder 结构，适合把问题与证据文档作为条件生成答案。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预训练的语言能力就是论文中的“参数化记忆”。</a:t>
            </a:r>
            <a:endParaRPr lang="zh-CN" sz="1200"/>
          </a:p>
        </p:txBody>
      </p:sp>
      <p:sp>
        <p:nvSpPr>
          <p:cNvPr id="30" name="rect 30"/>
          <p:cNvSpPr/>
          <p:nvPr/>
        </p:nvSpPr>
        <p:spPr>
          <a:xfrm>
            <a:off x="6172200" y="4069080"/>
            <a:ext cx="4846320" cy="123444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1" name="rect 31"/>
          <p:cNvSpPr/>
          <p:nvPr/>
        </p:nvSpPr>
        <p:spPr>
          <a:xfrm>
            <a:off x="6172200" y="4069080"/>
            <a:ext cx="73152" cy="123444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2" name="card 32"/>
          <p:cNvSpPr txBox="1"/>
          <p:nvPr/>
        </p:nvSpPr>
        <p:spPr>
          <a:xfrm>
            <a:off x="6263640" y="4069080"/>
            <a:ext cx="4736592" cy="123444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和检索器的分工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检索器决定看哪些证据；生成器决定如何组织答案。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的强点来自二者联合微调，而不是单独替换一个模块。</a:t>
            </a:r>
            <a:endParaRPr lang="zh-CN" sz="1200"/>
          </a:p>
        </p:txBody>
      </p:sp>
      <p:sp>
        <p:nvSpPr>
          <p:cNvPr id="33" name="text 33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8. 训练流程：联合优化检索与生成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Training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325880"/>
            <a:ext cx="182880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32588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758952" y="1325880"/>
            <a:ext cx="17556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输入 x / 输出 y</a:t>
            </a:r>
            <a:endParaRPr lang="zh-CN" sz="1200"/>
          </a:p>
        </p:txBody>
      </p:sp>
      <p:cxnSp>
        <p:nvCxnSpPr>
          <p:cNvPr id="11" name="arrow 11"/>
          <p:cNvCxnSpPr/>
          <p:nvPr/>
        </p:nvCxnSpPr>
        <p:spPr>
          <a:xfrm>
            <a:off x="2514600" y="1664208"/>
            <a:ext cx="59435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12" name="rect 12"/>
          <p:cNvSpPr/>
          <p:nvPr/>
        </p:nvSpPr>
        <p:spPr>
          <a:xfrm>
            <a:off x="3108960" y="1325880"/>
            <a:ext cx="1874519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3" name="rect 13"/>
          <p:cNvSpPr/>
          <p:nvPr/>
        </p:nvSpPr>
        <p:spPr>
          <a:xfrm>
            <a:off x="3108960" y="132588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4" name="node text 14"/>
          <p:cNvSpPr txBox="1"/>
          <p:nvPr/>
        </p:nvSpPr>
        <p:spPr>
          <a:xfrm>
            <a:off x="3182112" y="1325880"/>
            <a:ext cx="1801367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 top-K 文档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潜变量 z</a:t>
            </a:r>
            <a:endParaRPr lang="zh-CN" sz="1200"/>
          </a:p>
        </p:txBody>
      </p:sp>
      <p:cxnSp>
        <p:nvCxnSpPr>
          <p:cNvPr id="15" name="arrow 15"/>
          <p:cNvCxnSpPr/>
          <p:nvPr/>
        </p:nvCxnSpPr>
        <p:spPr>
          <a:xfrm>
            <a:off x="4983480" y="1664208"/>
            <a:ext cx="59435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16" name="rect 16"/>
          <p:cNvSpPr/>
          <p:nvPr/>
        </p:nvSpPr>
        <p:spPr>
          <a:xfrm>
            <a:off x="5577840" y="1325880"/>
            <a:ext cx="1874519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7" name="rect 17"/>
          <p:cNvSpPr/>
          <p:nvPr/>
        </p:nvSpPr>
        <p:spPr>
          <a:xfrm>
            <a:off x="5577840" y="132588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8" name="node text 18"/>
          <p:cNvSpPr txBox="1"/>
          <p:nvPr/>
        </p:nvSpPr>
        <p:spPr>
          <a:xfrm>
            <a:off x="5650992" y="1325880"/>
            <a:ext cx="1801367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8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生成答案概率</a:t>
            </a:r>
            <a:endParaRPr lang="zh-CN" sz="800"/>
          </a:p>
          <a:p>
            <a:pPr algn="ctr"/>
            <a:r>
              <a:rPr lang="zh-CN" sz="8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pθ(y|x,z)</a:t>
            </a:r>
            <a:endParaRPr lang="zh-CN" sz="800"/>
          </a:p>
        </p:txBody>
      </p:sp>
      <p:cxnSp>
        <p:nvCxnSpPr>
          <p:cNvPr id="19" name="arrow 19"/>
          <p:cNvCxnSpPr/>
          <p:nvPr/>
        </p:nvCxnSpPr>
        <p:spPr>
          <a:xfrm>
            <a:off x="7452360" y="1664208"/>
            <a:ext cx="594360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0" name="rect 20"/>
          <p:cNvSpPr/>
          <p:nvPr/>
        </p:nvSpPr>
        <p:spPr>
          <a:xfrm>
            <a:off x="8046720" y="1325880"/>
            <a:ext cx="192024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8046720" y="1325880"/>
            <a:ext cx="73152" cy="6858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8119872" y="1325880"/>
            <a:ext cx="184708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边缘化</a:t>
            </a:r>
            <a:endParaRPr lang="zh-CN" sz="900"/>
          </a:p>
          <a:p>
            <a:pPr algn="ctr"/>
            <a:r>
              <a:rPr lang="zh-CN" sz="9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Σ 或 ΠΣ</a:t>
            </a:r>
            <a:endParaRPr lang="zh-CN" sz="900"/>
          </a:p>
        </p:txBody>
      </p:sp>
      <p:cxnSp>
        <p:nvCxnSpPr>
          <p:cNvPr id="23" name="arrow 23"/>
          <p:cNvCxnSpPr/>
          <p:nvPr/>
        </p:nvCxnSpPr>
        <p:spPr>
          <a:xfrm>
            <a:off x="9966960" y="1664208"/>
            <a:ext cx="502919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24" name="rect 24"/>
          <p:cNvSpPr/>
          <p:nvPr/>
        </p:nvSpPr>
        <p:spPr>
          <a:xfrm>
            <a:off x="10469880" y="1325880"/>
            <a:ext cx="123444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5" name="rect 25"/>
          <p:cNvSpPr/>
          <p:nvPr/>
        </p:nvSpPr>
        <p:spPr>
          <a:xfrm>
            <a:off x="10469880" y="1325880"/>
            <a:ext cx="73152" cy="685800"/>
          </a:xfrm>
          <a:prstGeom prst="rect">
            <a:avLst/>
          </a:prstGeom>
          <a:solidFill>
            <a:srgbClr val="B85C5C"/>
          </a:solidFill>
          <a:ln>
            <a:noFill/>
          </a:ln>
        </p:spPr>
      </p:sp>
      <p:sp>
        <p:nvSpPr>
          <p:cNvPr id="26" name="node text 26"/>
          <p:cNvSpPr txBox="1"/>
          <p:nvPr/>
        </p:nvSpPr>
        <p:spPr>
          <a:xfrm>
            <a:off x="10543032" y="1325880"/>
            <a:ext cx="116128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NLL</a:t>
            </a:r>
            <a:endParaRPr lang="zh-CN" sz="900"/>
          </a:p>
          <a:p>
            <a:pPr algn="ctr"/>
            <a:r>
              <a:rPr lang="zh-CN" sz="9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损失</a:t>
            </a:r>
            <a:endParaRPr lang="zh-CN" sz="900"/>
          </a:p>
        </p:txBody>
      </p:sp>
      <p:sp>
        <p:nvSpPr>
          <p:cNvPr id="27" name="rect 27"/>
          <p:cNvSpPr/>
          <p:nvPr/>
        </p:nvSpPr>
        <p:spPr>
          <a:xfrm>
            <a:off x="777240" y="3154680"/>
            <a:ext cx="3246120" cy="15087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777240" y="3154680"/>
            <a:ext cx="73152" cy="15087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9" name="card 29"/>
          <p:cNvSpPr txBox="1"/>
          <p:nvPr/>
        </p:nvSpPr>
        <p:spPr>
          <a:xfrm>
            <a:off x="868680" y="3154680"/>
            <a:ext cx="3136391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训练信号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不需要显式标注哪个文档最相关。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通过最终输出 y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的负对数似然，让检索器和生成器共同学习。</a:t>
            </a:r>
            <a:endParaRPr lang="zh-CN" sz="1200"/>
          </a:p>
        </p:txBody>
      </p:sp>
      <p:sp>
        <p:nvSpPr>
          <p:cNvPr id="30" name="rect 30"/>
          <p:cNvSpPr/>
          <p:nvPr/>
        </p:nvSpPr>
        <p:spPr>
          <a:xfrm>
            <a:off x="4434840" y="3154680"/>
            <a:ext cx="3246120" cy="15087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1" name="rect 31"/>
          <p:cNvSpPr/>
          <p:nvPr/>
        </p:nvSpPr>
        <p:spPr>
          <a:xfrm>
            <a:off x="4434840" y="3154680"/>
            <a:ext cx="73152" cy="15087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2" name="card 32"/>
          <p:cNvSpPr txBox="1"/>
          <p:nvPr/>
        </p:nvSpPr>
        <p:spPr>
          <a:xfrm>
            <a:off x="4526279" y="3154680"/>
            <a:ext cx="3136391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更新哪些部分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文档编码器 BERT_d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通常保持不变，避免重建大规模索引。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主要微调查询编码器 BERT_q 和 BART 生成器。</a:t>
            </a:r>
            <a:endParaRPr lang="zh-CN" sz="1200"/>
          </a:p>
        </p:txBody>
      </p:sp>
      <p:sp>
        <p:nvSpPr>
          <p:cNvPr id="33" name="rect 33"/>
          <p:cNvSpPr/>
          <p:nvPr/>
        </p:nvSpPr>
        <p:spPr>
          <a:xfrm>
            <a:off x="8092440" y="3154680"/>
            <a:ext cx="3246120" cy="15087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4" name="rect 34"/>
          <p:cNvSpPr/>
          <p:nvPr/>
        </p:nvSpPr>
        <p:spPr>
          <a:xfrm>
            <a:off x="8092440" y="3154680"/>
            <a:ext cx="73152" cy="15087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5" name="card 35"/>
          <p:cNvSpPr txBox="1"/>
          <p:nvPr/>
        </p:nvSpPr>
        <p:spPr>
          <a:xfrm>
            <a:off x="8183879" y="3154680"/>
            <a:ext cx="3136391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工程原因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更新文档编码器意味着所有文档向量都要重新计算。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固定文档侧索引能让训练与部署成本更可控。</a:t>
            </a:r>
            <a:endParaRPr lang="zh-CN" sz="1200"/>
          </a:p>
        </p:txBody>
      </p:sp>
      <p:sp>
        <p:nvSpPr>
          <p:cNvPr id="36" name="text 36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9. 解码：RAG-Token 简单，RAG-Sequence 更麻烦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Inference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097280"/>
            <a:ext cx="5074920" cy="42519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097280"/>
            <a:ext cx="73152" cy="42519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777240" y="1097280"/>
            <a:ext cx="4965192" cy="4251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RAG-Token 解码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可以看作普通自回归 seq2seq 模型。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每一步把 top-K 文档的 token 分布加权求和。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可直接插入标准 beam search。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6172200" y="1097280"/>
            <a:ext cx="5074920" cy="425196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6172200" y="1097280"/>
            <a:ext cx="73152" cy="42519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6263640" y="1097280"/>
            <a:ext cx="4965192" cy="4251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RAG-Sequence 解码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整段序列概率不能简单按 token 分解。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需要对每个文档分别 beam search，再对候选答案重打分。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彻底解码更准确但慢；快速解码近似忽略未生成候选的文档。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3566160" y="5413248"/>
            <a:ext cx="5120640" cy="41148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3566160" y="5413248"/>
            <a:ext cx="73152" cy="41148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3639312" y="5413248"/>
            <a:ext cx="5047488" cy="41148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关键词：Thorough Decoding vs. Fast Decoding</a:t>
            </a:r>
            <a:endParaRPr lang="zh-CN" sz="900"/>
          </a:p>
        </p:txBody>
      </p:sp>
      <p:sp>
        <p:nvSpPr>
          <p:cNvPr id="17" name="text 17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10. 实验设置：知识库、任务与评估面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Experiments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051560"/>
            <a:ext cx="2148840" cy="74980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051560"/>
            <a:ext cx="73152" cy="74980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758952" y="1051560"/>
            <a:ext cx="2075688" cy="74980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知识源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2018-12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Wikipedia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3337560" y="1051560"/>
            <a:ext cx="2148840" cy="749808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3337560" y="1051560"/>
            <a:ext cx="73152" cy="74980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3410712" y="1051560"/>
            <a:ext cx="2075688" cy="74980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切块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约 100 words /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passage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5989320" y="1051560"/>
            <a:ext cx="2148840" cy="74980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5989320" y="1051560"/>
            <a:ext cx="73152" cy="74980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6062472" y="1051560"/>
            <a:ext cx="2075688" cy="74980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规模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约 2100 万文档块</a:t>
            </a:r>
            <a:endParaRPr lang="zh-CN" sz="1200"/>
          </a:p>
        </p:txBody>
      </p:sp>
      <p:sp>
        <p:nvSpPr>
          <p:cNvPr id="17" name="rect 17"/>
          <p:cNvSpPr/>
          <p:nvPr/>
        </p:nvSpPr>
        <p:spPr>
          <a:xfrm>
            <a:off x="8641080" y="1051560"/>
            <a:ext cx="2148840" cy="74980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8641080" y="1051560"/>
            <a:ext cx="73152" cy="74980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8714232" y="1051560"/>
            <a:ext cx="2075688" cy="74980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MIPS + FAISS</a:t>
            </a:r>
            <a:endParaRPr lang="zh-CN" sz="1200"/>
          </a:p>
        </p:txBody>
      </p:sp>
      <p:cxnSp>
        <p:nvCxnSpPr>
          <p:cNvPr id="20" name="arrow 20"/>
          <p:cNvCxnSpPr/>
          <p:nvPr/>
        </p:nvCxnSpPr>
        <p:spPr>
          <a:xfrm>
            <a:off x="2834640" y="1426464"/>
            <a:ext cx="5029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5486400" y="1426464"/>
            <a:ext cx="502919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8138160" y="1426464"/>
            <a:ext cx="50291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23" name="rect 23"/>
          <p:cNvSpPr/>
          <p:nvPr/>
        </p:nvSpPr>
        <p:spPr>
          <a:xfrm>
            <a:off x="685800" y="2514600"/>
            <a:ext cx="2514600" cy="22860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685800" y="2514600"/>
            <a:ext cx="73152" cy="22860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5" name="card 25"/>
          <p:cNvSpPr txBox="1"/>
          <p:nvPr/>
        </p:nvSpPr>
        <p:spPr>
          <a:xfrm>
            <a:off x="777240" y="2514600"/>
            <a:ext cx="2404872" cy="2286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开放域 QA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Natural Questions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TriviaQA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WebQuestions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CuratedTrec</a:t>
            </a:r>
            <a:endParaRPr lang="zh-CN" sz="1200"/>
          </a:p>
        </p:txBody>
      </p:sp>
      <p:sp>
        <p:nvSpPr>
          <p:cNvPr id="26" name="rect 26"/>
          <p:cNvSpPr/>
          <p:nvPr/>
        </p:nvSpPr>
        <p:spPr>
          <a:xfrm>
            <a:off x="3520440" y="2514600"/>
            <a:ext cx="2514600" cy="22860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3520440" y="2514600"/>
            <a:ext cx="73152" cy="22860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8" name="card 28"/>
          <p:cNvSpPr txBox="1"/>
          <p:nvPr/>
        </p:nvSpPr>
        <p:spPr>
          <a:xfrm>
            <a:off x="3611880" y="2514600"/>
            <a:ext cx="2404872" cy="2286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抽象问答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MS-MARCO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不依赖给定参考段落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看生成式回答能力</a:t>
            </a:r>
            <a:endParaRPr lang="zh-CN" sz="1200"/>
          </a:p>
        </p:txBody>
      </p:sp>
      <p:sp>
        <p:nvSpPr>
          <p:cNvPr id="29" name="rect 29"/>
          <p:cNvSpPr/>
          <p:nvPr/>
        </p:nvSpPr>
        <p:spPr>
          <a:xfrm>
            <a:off x="6355080" y="2514600"/>
            <a:ext cx="2514600" cy="22860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6355080" y="2514600"/>
            <a:ext cx="73152" cy="22860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1" name="card 31"/>
          <p:cNvSpPr txBox="1"/>
          <p:nvPr/>
        </p:nvSpPr>
        <p:spPr>
          <a:xfrm>
            <a:off x="6446520" y="2514600"/>
            <a:ext cx="2404872" cy="2286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问题生成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SearchQA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Jeopardy 风格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关注事实性与具体性</a:t>
            </a:r>
            <a:endParaRPr lang="zh-CN" sz="1200"/>
          </a:p>
        </p:txBody>
      </p:sp>
      <p:sp>
        <p:nvSpPr>
          <p:cNvPr id="32" name="rect 32"/>
          <p:cNvSpPr/>
          <p:nvPr/>
        </p:nvSpPr>
        <p:spPr>
          <a:xfrm>
            <a:off x="9189720" y="2514600"/>
            <a:ext cx="2057400" cy="22860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3" name="rect 33"/>
          <p:cNvSpPr/>
          <p:nvPr/>
        </p:nvSpPr>
        <p:spPr>
          <a:xfrm>
            <a:off x="9189720" y="2514600"/>
            <a:ext cx="73152" cy="22860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4" name="card 34"/>
          <p:cNvSpPr txBox="1"/>
          <p:nvPr/>
        </p:nvSpPr>
        <p:spPr>
          <a:xfrm>
            <a:off x="9281160" y="2514600"/>
            <a:ext cx="1947672" cy="2286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A84F35"/>
                </a:solidFill>
                <a:latin typeface="Microsoft YaHei"/>
                <a:ea typeface="Microsoft YaHei"/>
                <a:cs typeface="Microsoft YaHei"/>
              </a:rPr>
              <a:t>事实校验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FEVER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基于证据分类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无需金证据监督</a:t>
            </a:r>
            <a:endParaRPr lang="zh-CN" sz="1200"/>
          </a:p>
        </p:txBody>
      </p:sp>
      <p:sp>
        <p:nvSpPr>
          <p:cNvPr id="35" name="text 35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11. 结果主线：RAG 为什么有效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Results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143000"/>
            <a:ext cx="2286000" cy="73152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143000"/>
            <a:ext cx="73152" cy="7315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758952" y="1143000"/>
            <a:ext cx="2212848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开放域 QA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RAG-Seq 多任务表现强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3520440" y="1143000"/>
            <a:ext cx="2286000" cy="73152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3520440" y="1143000"/>
            <a:ext cx="73152" cy="7315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3593592" y="1143000"/>
            <a:ext cx="2212848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生成任务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比 BART 更准确具体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6355080" y="1143000"/>
            <a:ext cx="2286000" cy="73152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6355080" y="1143000"/>
            <a:ext cx="73152" cy="73152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6428232" y="1143000"/>
            <a:ext cx="2212848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FEVER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接近复杂 SOTA 流水线</a:t>
            </a:r>
            <a:endParaRPr lang="zh-CN" sz="1200"/>
          </a:p>
        </p:txBody>
      </p:sp>
      <p:sp>
        <p:nvSpPr>
          <p:cNvPr id="17" name="rect 17"/>
          <p:cNvSpPr/>
          <p:nvPr/>
        </p:nvSpPr>
        <p:spPr>
          <a:xfrm>
            <a:off x="9189720" y="1143000"/>
            <a:ext cx="2057400" cy="7315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9189720" y="1143000"/>
            <a:ext cx="73152" cy="73152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9262872" y="1143000"/>
            <a:ext cx="1984248" cy="7315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多样性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RAG &gt; BART</a:t>
            </a:r>
            <a:endParaRPr lang="zh-CN" sz="1200"/>
          </a:p>
        </p:txBody>
      </p:sp>
      <p:cxnSp>
        <p:nvCxnSpPr>
          <p:cNvPr id="20" name="arrow 20"/>
          <p:cNvCxnSpPr/>
          <p:nvPr/>
        </p:nvCxnSpPr>
        <p:spPr>
          <a:xfrm>
            <a:off x="2331720" y="1874519"/>
            <a:ext cx="1965960" cy="960120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4663440" y="1874519"/>
            <a:ext cx="182880" cy="960120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22" name="arrow 22"/>
          <p:cNvCxnSpPr/>
          <p:nvPr/>
        </p:nvCxnSpPr>
        <p:spPr>
          <a:xfrm flipH="1">
            <a:off x="5394960" y="1874519"/>
            <a:ext cx="2103119" cy="960120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cxnSp>
        <p:nvCxnSpPr>
          <p:cNvPr id="23" name="arrow 23"/>
          <p:cNvCxnSpPr/>
          <p:nvPr/>
        </p:nvCxnSpPr>
        <p:spPr>
          <a:xfrm flipH="1">
            <a:off x="5943600" y="1874519"/>
            <a:ext cx="4251960" cy="960120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24" name="rect 24"/>
          <p:cNvSpPr/>
          <p:nvPr/>
        </p:nvSpPr>
        <p:spPr>
          <a:xfrm>
            <a:off x="3886200" y="2834640"/>
            <a:ext cx="251460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5" name="rect 25"/>
          <p:cNvSpPr/>
          <p:nvPr/>
        </p:nvSpPr>
        <p:spPr>
          <a:xfrm>
            <a:off x="3886200" y="2834640"/>
            <a:ext cx="73152" cy="8229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6" name="node text 26"/>
          <p:cNvSpPr txBox="1"/>
          <p:nvPr/>
        </p:nvSpPr>
        <p:spPr>
          <a:xfrm>
            <a:off x="3959352" y="2834640"/>
            <a:ext cx="2441448" cy="8229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核心原因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外部证据降低幻觉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生成器保持表达能力</a:t>
            </a:r>
            <a:endParaRPr lang="zh-CN" sz="1300"/>
          </a:p>
        </p:txBody>
      </p:sp>
      <p:sp>
        <p:nvSpPr>
          <p:cNvPr id="27" name="rect 27"/>
          <p:cNvSpPr/>
          <p:nvPr/>
        </p:nvSpPr>
        <p:spPr>
          <a:xfrm>
            <a:off x="868680" y="4251960"/>
            <a:ext cx="4754880" cy="10515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868680" y="4251960"/>
            <a:ext cx="73152" cy="10515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9" name="card 29"/>
          <p:cNvSpPr txBox="1"/>
          <p:nvPr/>
        </p:nvSpPr>
        <p:spPr>
          <a:xfrm>
            <a:off x="960120" y="4251960"/>
            <a:ext cx="4645152" cy="10515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关键数值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FEVER：top-1 检索文档 71% 情况命中黄金证据的一部分；top-10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至少一个命中为 90%。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人类评估：事实性上 42.7% 认为 RAG 更好，只有 7.1% 认为 BART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更好。</a:t>
            </a:r>
            <a:endParaRPr lang="zh-CN" sz="1200"/>
          </a:p>
        </p:txBody>
      </p:sp>
      <p:sp>
        <p:nvSpPr>
          <p:cNvPr id="30" name="rect 30"/>
          <p:cNvSpPr/>
          <p:nvPr/>
        </p:nvSpPr>
        <p:spPr>
          <a:xfrm>
            <a:off x="6172200" y="4251960"/>
            <a:ext cx="4754880" cy="10515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1" name="rect 31"/>
          <p:cNvSpPr/>
          <p:nvPr/>
        </p:nvSpPr>
        <p:spPr>
          <a:xfrm>
            <a:off x="6172200" y="4251960"/>
            <a:ext cx="73152" cy="10515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2" name="card 32"/>
          <p:cNvSpPr txBox="1"/>
          <p:nvPr/>
        </p:nvSpPr>
        <p:spPr>
          <a:xfrm>
            <a:off x="6263640" y="4251960"/>
            <a:ext cx="4645152" cy="10515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阅读结论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的提升不只来自“更多知识”，也来自把证据选择放入训练目标。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任务不同，RAG-Seq 与 RAG-Tok 的优势点不同。</a:t>
            </a:r>
            <a:endParaRPr lang="zh-CN" sz="1200"/>
          </a:p>
        </p:txBody>
      </p:sp>
      <p:sp>
        <p:nvSpPr>
          <p:cNvPr id="33" name="text 33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12. 消融实验：检索器是不是关键？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Ablation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234440"/>
            <a:ext cx="201168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23444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758952" y="1234440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完整 RAG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可学习 DPR 检索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3383280" y="1234440"/>
            <a:ext cx="201168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3383280" y="1234440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3456432" y="1234440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Frozen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Retriever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冻结检索器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6080760" y="1234440"/>
            <a:ext cx="201168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6080760" y="123444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6153912" y="1234440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BM25 替代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词面匹配</a:t>
            </a:r>
            <a:endParaRPr lang="zh-CN" sz="1200"/>
          </a:p>
        </p:txBody>
      </p:sp>
      <p:sp>
        <p:nvSpPr>
          <p:cNvPr id="17" name="rect 17"/>
          <p:cNvSpPr/>
          <p:nvPr/>
        </p:nvSpPr>
        <p:spPr>
          <a:xfrm>
            <a:off x="8778240" y="1234440"/>
            <a:ext cx="201168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8778240" y="123444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8851392" y="1234440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比较结果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看任务差异</a:t>
            </a:r>
            <a:endParaRPr lang="zh-CN" sz="1200"/>
          </a:p>
        </p:txBody>
      </p:sp>
      <p:cxnSp>
        <p:nvCxnSpPr>
          <p:cNvPr id="20" name="arrow 20"/>
          <p:cNvCxnSpPr/>
          <p:nvPr/>
        </p:nvCxnSpPr>
        <p:spPr>
          <a:xfrm>
            <a:off x="2697480" y="1572768"/>
            <a:ext cx="685800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5394960" y="1572768"/>
            <a:ext cx="685800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8092440" y="1572768"/>
            <a:ext cx="685800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23" name="rect 23"/>
          <p:cNvSpPr/>
          <p:nvPr/>
        </p:nvSpPr>
        <p:spPr>
          <a:xfrm>
            <a:off x="777240" y="2834640"/>
            <a:ext cx="3246120" cy="196596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777240" y="2834640"/>
            <a:ext cx="73152" cy="19659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5" name="card 25"/>
          <p:cNvSpPr txBox="1"/>
          <p:nvPr/>
        </p:nvSpPr>
        <p:spPr>
          <a:xfrm>
            <a:off x="868680" y="2834640"/>
            <a:ext cx="3136391" cy="1965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结论 1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冻结检索器会明显损害性能。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说明检索器需要根据下游任务学习“检什么”。</a:t>
            </a:r>
            <a:endParaRPr lang="zh-CN" sz="1200"/>
          </a:p>
        </p:txBody>
      </p:sp>
      <p:sp>
        <p:nvSpPr>
          <p:cNvPr id="26" name="rect 26"/>
          <p:cNvSpPr/>
          <p:nvPr/>
        </p:nvSpPr>
        <p:spPr>
          <a:xfrm>
            <a:off x="4434840" y="2834640"/>
            <a:ext cx="3246120" cy="19659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4434840" y="2834640"/>
            <a:ext cx="73152" cy="19659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8" name="card 28"/>
          <p:cNvSpPr txBox="1"/>
          <p:nvPr/>
        </p:nvSpPr>
        <p:spPr>
          <a:xfrm>
            <a:off x="4526279" y="2834640"/>
            <a:ext cx="3136391" cy="1965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结论 2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稠密检索在开放域 QA 更强。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它能捕获语义相关，而不是只看关键词重合。</a:t>
            </a:r>
            <a:endParaRPr lang="zh-CN" sz="1200"/>
          </a:p>
        </p:txBody>
      </p:sp>
      <p:sp>
        <p:nvSpPr>
          <p:cNvPr id="29" name="rect 29"/>
          <p:cNvSpPr/>
          <p:nvPr/>
        </p:nvSpPr>
        <p:spPr>
          <a:xfrm>
            <a:off x="8092440" y="2834640"/>
            <a:ext cx="3246120" cy="19659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8092440" y="2834640"/>
            <a:ext cx="73152" cy="19659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1" name="card 31"/>
          <p:cNvSpPr txBox="1"/>
          <p:nvPr/>
        </p:nvSpPr>
        <p:spPr>
          <a:xfrm>
            <a:off x="8183879" y="2834640"/>
            <a:ext cx="3136391" cy="1965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例外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FEVER 中 BM25 有时表现好。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原因是声明常由实体驱动，词面重叠足够强。</a:t>
            </a:r>
            <a:endParaRPr lang="zh-CN" sz="1200"/>
          </a:p>
        </p:txBody>
      </p:sp>
      <p:sp>
        <p:nvSpPr>
          <p:cNvPr id="32" name="text 32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13. K 值与索引热交换：RAG 的工程价值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Index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097280"/>
            <a:ext cx="5074920" cy="1874519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097280"/>
            <a:ext cx="73152" cy="1874519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777240" y="1097280"/>
            <a:ext cx="4965192" cy="1874519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检索更多文档 K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NQ 上，RAG-Sequence 随 K 增加通常提升，接近 K=30 后趋于平稳。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RAG-Token 在 NQ 上约 K=10 达到较好点。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MS-MARCO 中 K 增加可提升 Rouge-L，但可能牺牲 BLEU-1。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6172200" y="1097280"/>
            <a:ext cx="5074920" cy="1874519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6172200" y="1097280"/>
            <a:ext cx="73152" cy="1874519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6263640" y="1097280"/>
            <a:ext cx="4965192" cy="1874519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索引热交换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非参数记忆可在测试时替换，不必重新训练模型。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论文用 2016 / 2018 Wikipedia 索引测试世界领导人问题。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索引匹配年份时正确率约 70% / 68%，不匹配会明显下降。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1234440" y="3977639"/>
            <a:ext cx="201168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1234440" y="3977639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1307592" y="3977639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旧知识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参数模型</a:t>
            </a:r>
            <a:endParaRPr lang="zh-CN" sz="1300"/>
          </a:p>
        </p:txBody>
      </p:sp>
      <p:cxnSp>
        <p:nvCxnSpPr>
          <p:cNvPr id="17" name="arrow 17"/>
          <p:cNvCxnSpPr/>
          <p:nvPr/>
        </p:nvCxnSpPr>
        <p:spPr>
          <a:xfrm>
            <a:off x="3246120" y="4315968"/>
            <a:ext cx="594360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18" name="rect 18"/>
          <p:cNvSpPr/>
          <p:nvPr/>
        </p:nvSpPr>
        <p:spPr>
          <a:xfrm>
            <a:off x="3840480" y="3977639"/>
            <a:ext cx="201168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9" name="rect 19"/>
          <p:cNvSpPr/>
          <p:nvPr/>
        </p:nvSpPr>
        <p:spPr>
          <a:xfrm>
            <a:off x="3840480" y="3977639"/>
            <a:ext cx="73152" cy="685800"/>
          </a:xfrm>
          <a:prstGeom prst="rect">
            <a:avLst/>
          </a:prstGeom>
          <a:solidFill>
            <a:srgbClr val="B85C5C"/>
          </a:solidFill>
          <a:ln>
            <a:noFill/>
          </a:ln>
        </p:spPr>
      </p:sp>
      <p:sp>
        <p:nvSpPr>
          <p:cNvPr id="20" name="node text 20"/>
          <p:cNvSpPr txBox="1"/>
          <p:nvPr/>
        </p:nvSpPr>
        <p:spPr>
          <a:xfrm>
            <a:off x="3913632" y="3977639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重训练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成本高</a:t>
            </a:r>
            <a:endParaRPr lang="zh-CN" sz="1300"/>
          </a:p>
        </p:txBody>
      </p:sp>
      <p:sp>
        <p:nvSpPr>
          <p:cNvPr id="21" name="rect 21"/>
          <p:cNvSpPr/>
          <p:nvPr/>
        </p:nvSpPr>
        <p:spPr>
          <a:xfrm>
            <a:off x="6446520" y="3977639"/>
            <a:ext cx="201168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2" name="rect 22"/>
          <p:cNvSpPr/>
          <p:nvPr/>
        </p:nvSpPr>
        <p:spPr>
          <a:xfrm>
            <a:off x="6446520" y="3977639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3" name="node text 23"/>
          <p:cNvSpPr txBox="1"/>
          <p:nvPr/>
        </p:nvSpPr>
        <p:spPr>
          <a:xfrm>
            <a:off x="6519672" y="3977639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新知识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更新索引</a:t>
            </a:r>
            <a:endParaRPr lang="zh-CN" sz="1300"/>
          </a:p>
        </p:txBody>
      </p:sp>
      <p:cxnSp>
        <p:nvCxnSpPr>
          <p:cNvPr id="24" name="arrow 24"/>
          <p:cNvCxnSpPr/>
          <p:nvPr/>
        </p:nvCxnSpPr>
        <p:spPr>
          <a:xfrm>
            <a:off x="8458200" y="4315968"/>
            <a:ext cx="594360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5" name="rect 25"/>
          <p:cNvSpPr/>
          <p:nvPr/>
        </p:nvSpPr>
        <p:spPr>
          <a:xfrm>
            <a:off x="9052560" y="3977639"/>
            <a:ext cx="201168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6" name="rect 26"/>
          <p:cNvSpPr/>
          <p:nvPr/>
        </p:nvSpPr>
        <p:spPr>
          <a:xfrm>
            <a:off x="9052560" y="3977639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7" name="node text 27"/>
          <p:cNvSpPr txBox="1"/>
          <p:nvPr/>
        </p:nvSpPr>
        <p:spPr>
          <a:xfrm>
            <a:off x="9125712" y="3977639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RAG 直接检索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成本低</a:t>
            </a:r>
            <a:endParaRPr lang="zh-CN" sz="1300"/>
          </a:p>
        </p:txBody>
      </p:sp>
      <p:sp>
        <p:nvSpPr>
          <p:cNvPr id="28" name="text 28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14. 相关工作与创新点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Positioning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097280"/>
            <a:ext cx="3246120" cy="4251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097280"/>
            <a:ext cx="73152" cy="42519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777240" y="1097280"/>
            <a:ext cx="3136391" cy="4251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之前的检索增强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很多任务已有单任务检索架构。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常见做法针对 QA、事实核查、对话等分别设计系统。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目标是用一个通用架构覆盖多类任务。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4434840" y="1097280"/>
            <a:ext cx="3246120" cy="42519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4434840" y="1097280"/>
            <a:ext cx="73152" cy="42519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4526279" y="1097280"/>
            <a:ext cx="3136391" cy="4251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和记忆网络的关系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外部文档索引可以看作大型外部记忆。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使用原始文本作为记忆，而不只是不可读向量。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好处是人类可读、可写、可替换。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8092440" y="1097280"/>
            <a:ext cx="3246120" cy="42519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092440" y="1097280"/>
            <a:ext cx="73152" cy="42519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6" name="card 16"/>
          <p:cNvSpPr txBox="1"/>
          <p:nvPr/>
        </p:nvSpPr>
        <p:spPr>
          <a:xfrm>
            <a:off x="8183879" y="1097280"/>
            <a:ext cx="3136391" cy="4251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和检索编辑的差异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检索编辑通常找相似训练样本再改写。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检索的是支持输入的证据文档。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它学习潜在检索，并对多个证据做生成式融合。</a:t>
            </a:r>
            <a:endParaRPr lang="zh-CN" sz="1200"/>
          </a:p>
        </p:txBody>
      </p:sp>
      <p:sp>
        <p:nvSpPr>
          <p:cNvPr id="17" name="text 17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15. 影响、风险与现代 RAG 启示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Discussion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1097280"/>
            <a:ext cx="3246120" cy="42519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1097280"/>
            <a:ext cx="73152" cy="42519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777240" y="1097280"/>
            <a:ext cx="3136391" cy="4251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贡献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提出参数化记忆 + 非参数化记忆的混合生成模型。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开放域 QA 达到强结果。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生成更具体、多样、事实性更强。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4434840" y="1097280"/>
            <a:ext cx="3246120" cy="425196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4434840" y="1097280"/>
            <a:ext cx="73152" cy="4251960"/>
          </a:xfrm>
          <a:prstGeom prst="rect">
            <a:avLst/>
          </a:prstGeom>
          <a:solidFill>
            <a:srgbClr val="B85C5C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4526279" y="1097280"/>
            <a:ext cx="3136391" cy="4251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风险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外部知识库本身可能有偏见或错误。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检索到证据不代表模型一定正确使用证据。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生成能力也可能被滥用于误导性内容。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8092440" y="1097280"/>
            <a:ext cx="3246120" cy="42519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092440" y="1097280"/>
            <a:ext cx="73152" cy="42519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card 16"/>
          <p:cNvSpPr txBox="1"/>
          <p:nvPr/>
        </p:nvSpPr>
        <p:spPr>
          <a:xfrm>
            <a:off x="8183879" y="1097280"/>
            <a:ext cx="3136391" cy="4251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 anchor="t"/>
          <a:lstStyle/>
          <a:p>
            <a:pPr algn="l">
              <a:spcAft>
                <a:spcPts val="350"/>
              </a:spcAft>
            </a:pPr>
            <a:r>
              <a:rPr lang="zh-CN" sz="17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现代启示</a:t>
            </a:r>
            <a:endParaRPr lang="zh-CN" sz="17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系统质量取决于检索、切块、排序、生成、引用追踪的整体链路。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索引可更新是核心工程优势。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仅拼接 top-K</a:t>
            </a:r>
            <a:endParaRPr lang="zh-CN" sz="1200"/>
          </a:p>
          <a:p>
            <a:pPr algn="l">
              <a:spcAft>
                <a:spcPts val="180"/>
              </a:spcAft>
            </a:pPr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不是终点，证据选择与生成策略同样关键。</a:t>
            </a:r>
            <a:endParaRPr lang="zh-CN" sz="1200"/>
          </a:p>
        </p:txBody>
      </p:sp>
      <p:sp>
        <p:nvSpPr>
          <p:cNvPr id="17" name="text 17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46304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16. 精读路线图：怎么复盘这篇论文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713232"/>
            <a:ext cx="109728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372600" y="146304"/>
            <a:ext cx="233172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372600" y="146304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445752" y="146304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Review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731520" y="1143000"/>
            <a:ext cx="306324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731520" y="1143000"/>
            <a:ext cx="73152" cy="960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804672" y="11430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1. 先抓住动机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纯参数模型难更新/难解释</a:t>
            </a:r>
            <a:endParaRPr lang="zh-CN" sz="1300"/>
          </a:p>
        </p:txBody>
      </p:sp>
      <p:sp>
        <p:nvSpPr>
          <p:cNvPr id="11" name="rect 11"/>
          <p:cNvSpPr/>
          <p:nvPr/>
        </p:nvSpPr>
        <p:spPr>
          <a:xfrm>
            <a:off x="4434840" y="1143000"/>
            <a:ext cx="3063240" cy="96012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4434840" y="1143000"/>
            <a:ext cx="73152" cy="9601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4507992" y="11430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2. 理解总架构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Retriever + Generator +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Marginalization</a:t>
            </a:r>
            <a:endParaRPr lang="zh-CN" sz="1300"/>
          </a:p>
        </p:txBody>
      </p:sp>
      <p:sp>
        <p:nvSpPr>
          <p:cNvPr id="14" name="rect 14"/>
          <p:cNvSpPr/>
          <p:nvPr/>
        </p:nvSpPr>
        <p:spPr>
          <a:xfrm>
            <a:off x="8138160" y="1143000"/>
            <a:ext cx="306324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138160" y="1143000"/>
            <a:ext cx="73152" cy="96012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8211312" y="11430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3. 分清两种模型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RAG-Sequence vs RAG-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Token</a:t>
            </a:r>
            <a:endParaRPr lang="zh-CN" sz="1300"/>
          </a:p>
        </p:txBody>
      </p:sp>
      <p:sp>
        <p:nvSpPr>
          <p:cNvPr id="17" name="rect 17"/>
          <p:cNvSpPr/>
          <p:nvPr/>
        </p:nvSpPr>
        <p:spPr>
          <a:xfrm>
            <a:off x="731520" y="3108960"/>
            <a:ext cx="3063240" cy="96012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731520" y="3108960"/>
            <a:ext cx="73152" cy="96012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804672" y="310896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4. 看训练细节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无显式证据监督的联合微调</a:t>
            </a:r>
            <a:endParaRPr lang="zh-CN" sz="1300"/>
          </a:p>
        </p:txBody>
      </p:sp>
      <p:sp>
        <p:nvSpPr>
          <p:cNvPr id="20" name="rect 20"/>
          <p:cNvSpPr/>
          <p:nvPr/>
        </p:nvSpPr>
        <p:spPr>
          <a:xfrm>
            <a:off x="4434840" y="3108960"/>
            <a:ext cx="306324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4434840" y="3108960"/>
            <a:ext cx="73152" cy="9601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4507992" y="310896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5. 看实验结论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QA、生成、FEVER、消融、K 值</a:t>
            </a:r>
            <a:endParaRPr lang="zh-CN" sz="1300"/>
          </a:p>
        </p:txBody>
      </p:sp>
      <p:sp>
        <p:nvSpPr>
          <p:cNvPr id="23" name="rect 23"/>
          <p:cNvSpPr/>
          <p:nvPr/>
        </p:nvSpPr>
        <p:spPr>
          <a:xfrm>
            <a:off x="8138160" y="3108960"/>
            <a:ext cx="3063240" cy="96012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8138160" y="3108960"/>
            <a:ext cx="73152" cy="96012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5" name="node text 25"/>
          <p:cNvSpPr txBox="1"/>
          <p:nvPr/>
        </p:nvSpPr>
        <p:spPr>
          <a:xfrm>
            <a:off x="8211312" y="310896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6. 落到工程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索引热交换、证据追踪、知识更新</a:t>
            </a:r>
            <a:endParaRPr lang="zh-CN" sz="1300"/>
          </a:p>
        </p:txBody>
      </p:sp>
      <p:sp>
        <p:nvSpPr>
          <p:cNvPr id="26" name="rect 26"/>
          <p:cNvSpPr/>
          <p:nvPr/>
        </p:nvSpPr>
        <p:spPr>
          <a:xfrm>
            <a:off x="960120" y="5532120"/>
            <a:ext cx="10149840" cy="38404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960120" y="5532120"/>
            <a:ext cx="73152" cy="38404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8" name="node text 28"/>
          <p:cNvSpPr txBox="1"/>
          <p:nvPr/>
        </p:nvSpPr>
        <p:spPr>
          <a:xfrm>
            <a:off x="1033272" y="5532120"/>
            <a:ext cx="10076688" cy="38404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一句话收束：RAG 的论文价值在于把“外部知识检索”纳入生成模型的概率框架，而不是只做检索后拼接。</a:t>
            </a:r>
            <a:endParaRPr lang="zh-CN" sz="1100"/>
          </a:p>
        </p:txBody>
      </p:sp>
      <p:sp>
        <p:nvSpPr>
          <p:cNvPr id="29" name="text 29"/>
          <p:cNvSpPr txBox="1"/>
          <p:nvPr/>
        </p:nvSpPr>
        <p:spPr>
          <a:xfrm>
            <a:off x="502920" y="6236208"/>
            <a:ext cx="11201400" cy="29260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60000" tIns="60000" rIns="60000" bIns="60000" anchor="ctr"/>
          <a:lstStyle/>
          <a:p>
            <a:pPr algn="l"/>
            <a:r>
              <a:rPr lang="zh-CN" sz="8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主要参考：CSDN《RAG原始论文-针对知识密集型NLP任务的检索增强生成》；校对：Lewis et al., NeurIPS 2020 / arXiv:2005.11401</a:t>
            </a:r>
            <a:endParaRPr lang="zh-CN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 Deep Dive Theme">
  <a:themeElements>
    <a:clrScheme name="RAG">
      <a:dk1>
        <a:srgbClr val="231F20"/>
      </a:dk1>
      <a:lt1>
        <a:srgbClr val="FAF7F2"/>
      </a:lt1>
      <a:dk2>
        <a:srgbClr val="6F6761"/>
      </a:dk2>
      <a:lt2>
        <a:srgbClr val="FFFDF8"/>
      </a:lt2>
      <a:accent1>
        <a:srgbClr val="D77757"/>
      </a:accent1>
      <a:accent2>
        <a:srgbClr val="5769F7"/>
      </a:accent2>
      <a:accent3>
        <a:srgbClr val="4E8F6F"/>
      </a:accent3>
      <a:accent4>
        <a:srgbClr val="A84F35"/>
      </a:accent4>
      <a:accent5>
        <a:srgbClr val="E7DED6"/>
      </a:accent5>
      <a:accent6>
        <a:srgbClr val="F1ECE6"/>
      </a:accent6>
      <a:hlink>
        <a:srgbClr val="5769F7"/>
      </a:hlink>
      <a:folHlink>
        <a:srgbClr val="A84F35"/>
      </a:folHlink>
    </a:clrScheme>
    <a:fontScheme name="RAG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RAG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RAG 原始论文精读</dc:title>
  <dc:creator>Codex</dc:creator>
  <dcterms:created xsi:type="dcterms:W3CDTF">2026-05-02T18:16:42Z</dcterms:created>
  <dcterms:modified xsi:type="dcterms:W3CDTF">2026-05-02T18:16:42Z</dcterms:modified>
</cp:coreProperties>
</file>