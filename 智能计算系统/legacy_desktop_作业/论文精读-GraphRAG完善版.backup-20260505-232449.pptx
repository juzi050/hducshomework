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</p:sldIdLst>
  <p:sldSz cx="12191365" cy="6858000"/>
  <p:notesSz cx="6858000" cy="1219136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8" Type="http://schemas.openxmlformats.org/officeDocument/2006/relationships/tableStyles" Target="tableStyles.xml"/><Relationship Id="rId17" Type="http://schemas.openxmlformats.org/officeDocument/2006/relationships/viewProps" Target="viewProps.xml"/><Relationship Id="rId16" Type="http://schemas.openxmlformats.org/officeDocument/2006/relationships/presProps" Target="presProps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">
    <p:bg>
      <p:bgPr>
        <a:solidFill>
          <a:srgbClr val="FBF8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565392"/>
            <a:ext cx="12191695" cy="0"/>
          </a:xfrm>
          <a:prstGeom prst="line">
            <a:avLst/>
          </a:prstGeom>
          <a:noFill/>
          <a:ln w="12700">
            <a:solidFill>
              <a:srgbClr val="E9DED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6611112"/>
            <a:ext cx="3840480" cy="16459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8A7B7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GraphRAG Survey | 中文论文精读</a:t>
            </a:r>
            <a:endParaRPr lang="en-US" sz="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601968"/>
            <a:ext cx="800000" cy="300000"/>
          </a:xfrm>
          <a:prstGeom prst="rect">
            <a:avLst/>
          </a:prstGeom>
        </p:spPr>
        <p:txBody>
          <a:bodyPr/>
          <a:lstStyle>
            <a:lvl1pPr>
              <a:defRPr sz="700">
                <a:solidFill>
                  <a:srgbClr val="8A7B7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</a:lstStyle>
          <a:p>
            <a:pPr algn="l"/>
            <a:fld id="{F7021451-1387-4CA6-816F-3879F97B5CBC}" type="slidenum">
              <a:rPr lang="en-US" b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601968"/>
            <a:ext cx="800000" cy="300000"/>
          </a:xfrm>
          <a:prstGeom prst="rect">
            <a:avLst/>
          </a:prstGeom>
        </p:spPr>
        <p:txBody>
          <a:bodyPr/>
          <a:lstStyle>
            <a:lvl1pPr>
              <a:defRPr sz="700">
                <a:solidFill>
                  <a:srgbClr val="8A7B7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</a:lstStyle>
          <a:p>
            <a:pPr algn="l"/>
            <a:fld id="{F7021451-1387-4CA6-816F-3879F97B5CBC}" type="slidenum">
              <a:rPr lang="en-US" b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4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8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2"/>
          </a:solidFill>
          <a:ln w="12700">
            <a:solidFill>
              <a:srgbClr val="FBF8F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D77757"/>
          </a:solidFill>
          <a:ln w="12700">
            <a:solidFill>
              <a:srgbClr val="D77757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13232" y="658368"/>
            <a:ext cx="2011680" cy="320040"/>
          </a:xfrm>
          <a:prstGeom prst="roundRect">
            <a:avLst>
              <a:gd name="adj" fmla="val 17143"/>
            </a:avLst>
          </a:prstGeom>
          <a:solidFill>
            <a:srgbClr val="F6E1D9"/>
          </a:solidFill>
          <a:ln w="12700">
            <a:solidFill>
              <a:srgbClr val="F6E1D9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86384" y="731520"/>
            <a:ext cx="1865376" cy="12801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60" b="1" dirty="0">
                <a:solidFill>
                  <a:srgbClr val="D777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arXiv:2408.08921 | Survey</a:t>
            </a:r>
            <a:endParaRPr lang="en-US" sz="860" dirty="0"/>
          </a:p>
        </p:txBody>
      </p:sp>
      <p:sp>
        <p:nvSpPr>
          <p:cNvPr id="6" name="Text 4"/>
          <p:cNvSpPr/>
          <p:nvPr/>
        </p:nvSpPr>
        <p:spPr>
          <a:xfrm>
            <a:off x="685800" y="1133856"/>
            <a:ext cx="4389120" cy="62179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300" b="1" dirty="0">
                <a:solidFill>
                  <a:srgbClr val="2A241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论文精读</a:t>
            </a:r>
            <a:endParaRPr lang="en-US" sz="3300" dirty="0"/>
          </a:p>
        </p:txBody>
      </p:sp>
      <p:sp>
        <p:nvSpPr>
          <p:cNvPr id="7" name="Text 5"/>
          <p:cNvSpPr/>
          <p:nvPr/>
        </p:nvSpPr>
        <p:spPr>
          <a:xfrm>
            <a:off x="713232" y="1956816"/>
            <a:ext cx="5577840" cy="64008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800" b="1" dirty="0">
                <a:solidFill>
                  <a:srgbClr val="D7775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Graph Retrieval-Augmented Generation: A Survey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731520" y="2788920"/>
            <a:ext cx="5212080" cy="96012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450" dirty="0">
                <a:solidFill>
                  <a:srgbClr val="6F625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一篇系统梳理 GraphRAG 方法论的综述：从图索引、图检索到图增强生成，并讨论训练、评估、工业应用与未来方向。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731520" y="5321808"/>
            <a:ext cx="4754880" cy="43891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8A7B7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Boci Peng, Yun Zhu, Yongchao Liu 等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8A7B7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J. ACM, September 2024 / arXiv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6446520" y="1024128"/>
            <a:ext cx="5074920" cy="3840480"/>
          </a:xfrm>
          <a:prstGeom prst="roundRect">
            <a:avLst>
              <a:gd name="adj" fmla="val 1429"/>
            </a:avLst>
          </a:prstGeom>
          <a:solidFill>
            <a:srgbClr val="FFFFFF"/>
          </a:solidFill>
          <a:ln w="11430">
            <a:solidFill>
              <a:srgbClr val="E5D9CD"/>
            </a:solidFill>
            <a:prstDash val="solid"/>
          </a:ln>
        </p:spPr>
      </p:sp>
      <p:pic>
        <p:nvPicPr>
          <p:cNvPr id="11" name="Image 0" descr="C:\Users\86136\AppData\Local\Temp\graphrag_crops_v2\fig2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56248" y="1133856"/>
            <a:ext cx="4855464" cy="3456432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6611112" y="4636008"/>
            <a:ext cx="4745736" cy="12801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20" dirty="0">
                <a:solidFill>
                  <a:srgbClr val="8A7B7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原文 Fig.2：GraphRAG 总体框架</a:t>
            </a:r>
            <a:endParaRPr lang="en-US" sz="720" dirty="0"/>
          </a:p>
        </p:txBody>
      </p:sp>
      <p:sp>
        <p:nvSpPr>
          <p:cNvPr id="13" name="Text 10"/>
          <p:cNvSpPr/>
          <p:nvPr/>
        </p:nvSpPr>
        <p:spPr>
          <a:xfrm>
            <a:off x="6537960" y="5102352"/>
            <a:ext cx="4892040" cy="29260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80" dirty="0">
                <a:solidFill>
                  <a:srgbClr val="6F625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关键词：RAG、知识图谱、图神经网络、检索增强生成、结构化知识</a:t>
            </a:r>
            <a:endParaRPr lang="en-US" sz="98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8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01752"/>
            <a:ext cx="475488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D777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01 背景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548640" y="530352"/>
            <a:ext cx="10881360" cy="50292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300" b="1" dirty="0">
                <a:solidFill>
                  <a:srgbClr val="2A241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研究背景：RAG 解决了什么，又留下了什么</a:t>
            </a:r>
            <a:endParaRPr lang="en-US" sz="2300" dirty="0"/>
          </a:p>
        </p:txBody>
      </p:sp>
      <p:sp>
        <p:nvSpPr>
          <p:cNvPr id="4" name="Shape 2"/>
          <p:cNvSpPr/>
          <p:nvPr/>
        </p:nvSpPr>
        <p:spPr>
          <a:xfrm>
            <a:off x="548640" y="1133856"/>
            <a:ext cx="11064240" cy="0"/>
          </a:xfrm>
          <a:prstGeom prst="line">
            <a:avLst/>
          </a:prstGeom>
          <a:noFill/>
          <a:ln w="12700">
            <a:solidFill>
              <a:srgbClr val="E5D9CD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58368" y="1508760"/>
            <a:ext cx="3337560" cy="118872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0160">
            <a:solidFill>
              <a:srgbClr val="E5D9CD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58368" y="1508760"/>
            <a:ext cx="73152" cy="1188720"/>
          </a:xfrm>
          <a:prstGeom prst="rect">
            <a:avLst/>
          </a:prstGeom>
          <a:solidFill>
            <a:srgbClr val="D77757"/>
          </a:solidFill>
          <a:ln w="12700">
            <a:solidFill>
              <a:srgbClr val="D77757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59536" y="1673352"/>
            <a:ext cx="3017520" cy="22860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20" b="1" dirty="0">
                <a:solidFill>
                  <a:srgbClr val="2A241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LLM 的三类短板</a:t>
            </a:r>
            <a:endParaRPr lang="en-US" sz="1120" dirty="0"/>
          </a:p>
        </p:txBody>
      </p:sp>
      <p:sp>
        <p:nvSpPr>
          <p:cNvPr id="8" name="Text 6"/>
          <p:cNvSpPr/>
          <p:nvPr/>
        </p:nvSpPr>
        <p:spPr>
          <a:xfrm>
            <a:off x="859536" y="2039112"/>
            <a:ext cx="3017520" cy="548640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960" dirty="0">
                <a:solidFill>
                  <a:srgbClr val="6F625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领域知识缺失、知识过时、容易生成看似合理但不准确的内容。RAG 通过外部知识库补充上下文，降低幻觉风险。</a:t>
            </a:r>
            <a:endParaRPr lang="en-US" sz="960" dirty="0"/>
          </a:p>
        </p:txBody>
      </p:sp>
      <p:sp>
        <p:nvSpPr>
          <p:cNvPr id="9" name="Shape 7"/>
          <p:cNvSpPr/>
          <p:nvPr/>
        </p:nvSpPr>
        <p:spPr>
          <a:xfrm>
            <a:off x="4407408" y="1508760"/>
            <a:ext cx="3337560" cy="118872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0160">
            <a:solidFill>
              <a:srgbClr val="E5D9CD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407408" y="1508760"/>
            <a:ext cx="73152" cy="1188720"/>
          </a:xfrm>
          <a:prstGeom prst="rect">
            <a:avLst/>
          </a:prstGeom>
          <a:solidFill>
            <a:srgbClr val="5769F7"/>
          </a:solidFill>
          <a:ln w="12700">
            <a:solidFill>
              <a:srgbClr val="5769F7">
                <a:alpha val="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608576" y="1673352"/>
            <a:ext cx="3017520" cy="22860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20" b="1" dirty="0">
                <a:solidFill>
                  <a:srgbClr val="2A241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传统 RAG 的基本假设</a:t>
            </a:r>
            <a:endParaRPr lang="en-US" sz="1120" dirty="0"/>
          </a:p>
        </p:txBody>
      </p:sp>
      <p:sp>
        <p:nvSpPr>
          <p:cNvPr id="12" name="Text 10"/>
          <p:cNvSpPr/>
          <p:nvPr/>
        </p:nvSpPr>
        <p:spPr>
          <a:xfrm>
            <a:off x="4608576" y="2039112"/>
            <a:ext cx="3017520" cy="548640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960" dirty="0">
                <a:solidFill>
                  <a:srgbClr val="6F625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把知识切成文本块，查询时做向量/关键词检索，再把相关文本塞回提示词。这个流程擅长找“相似文本”。</a:t>
            </a:r>
            <a:endParaRPr lang="en-US" sz="960" dirty="0"/>
          </a:p>
        </p:txBody>
      </p:sp>
      <p:sp>
        <p:nvSpPr>
          <p:cNvPr id="13" name="Shape 11"/>
          <p:cNvSpPr/>
          <p:nvPr/>
        </p:nvSpPr>
        <p:spPr>
          <a:xfrm>
            <a:off x="8156448" y="1508760"/>
            <a:ext cx="3337560" cy="118872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0160">
            <a:solidFill>
              <a:srgbClr val="E5D9CD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156448" y="1508760"/>
            <a:ext cx="73152" cy="1188720"/>
          </a:xfrm>
          <a:prstGeom prst="rect">
            <a:avLst/>
          </a:prstGeom>
          <a:solidFill>
            <a:srgbClr val="4F8C6B"/>
          </a:solidFill>
          <a:ln w="12700">
            <a:solidFill>
              <a:srgbClr val="4F8C6B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357616" y="1673352"/>
            <a:ext cx="3017520" cy="22860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20" b="1" dirty="0">
                <a:solidFill>
                  <a:srgbClr val="2A241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GraphRAG 的切入点</a:t>
            </a:r>
            <a:endParaRPr lang="en-US" sz="1120" dirty="0"/>
          </a:p>
        </p:txBody>
      </p:sp>
      <p:sp>
        <p:nvSpPr>
          <p:cNvPr id="16" name="Text 14"/>
          <p:cNvSpPr/>
          <p:nvPr/>
        </p:nvSpPr>
        <p:spPr>
          <a:xfrm>
            <a:off x="8357616" y="2039112"/>
            <a:ext cx="3017520" cy="548640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960" dirty="0">
                <a:solidFill>
                  <a:srgbClr val="6F625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现实知识常常由实体和关系组成。只有文本相似度不够，需要显式利用节点、边、路径和子图。</a:t>
            </a:r>
            <a:endParaRPr lang="en-US" sz="960" dirty="0"/>
          </a:p>
        </p:txBody>
      </p:sp>
      <p:sp>
        <p:nvSpPr>
          <p:cNvPr id="17" name="Text 15"/>
          <p:cNvSpPr/>
          <p:nvPr/>
        </p:nvSpPr>
        <p:spPr>
          <a:xfrm>
            <a:off x="685800" y="3273552"/>
            <a:ext cx="283464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2A241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论文的核心判断</a:t>
            </a:r>
            <a:endParaRPr lang="en-US" sz="1550" dirty="0"/>
          </a:p>
        </p:txBody>
      </p:sp>
      <p:sp>
        <p:nvSpPr>
          <p:cNvPr id="18" name="Text 16"/>
          <p:cNvSpPr/>
          <p:nvPr/>
        </p:nvSpPr>
        <p:spPr>
          <a:xfrm>
            <a:off x="777240" y="3703320"/>
            <a:ext cx="5577840" cy="1554480"/>
          </a:xfrm>
          <a:prstGeom prst="rect">
            <a:avLst/>
          </a:prstGeom>
          <a:noFill/>
        </p:spPr>
        <p:txBody>
          <a:bodyPr wrap="square" lIns="762" tIns="762" rIns="762" bIns="762" rtlCol="0" anchor="t">
            <a:normAutofit/>
          </a:bodyPr>
          <a:lstStyle/>
          <a:p>
            <a:pPr marL="127000" indent="-127000">
              <a:buSzPct val="100000"/>
              <a:buChar char="•"/>
            </a:pPr>
            <a:r>
              <a:rPr lang="en-US" sz="1300" dirty="0">
                <a:solidFill>
                  <a:srgbClr val="2A241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GraphRAG 不是简单把知识图谱塞给 LLM，而是把“结构化检索”纳入 RAG 流程。</a:t>
            </a:r>
            <a:endParaRPr lang="en-US" sz="1300" dirty="0"/>
          </a:p>
          <a:p>
            <a:pPr marL="127000" indent="-127000">
              <a:buSzPct val="100000"/>
              <a:buChar char="•"/>
            </a:pPr>
            <a:r>
              <a:rPr lang="en-US" sz="1300" dirty="0">
                <a:solidFill>
                  <a:srgbClr val="2A241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它的关键收益来自关系建模：实体之间的路径、邻域和子图能够表达普通文本块难以稳定捕捉的依赖。</a:t>
            </a:r>
            <a:endParaRPr lang="en-US" sz="1300" dirty="0"/>
          </a:p>
          <a:p>
            <a:pPr marL="127000" indent="-127000">
              <a:buSzPct val="100000"/>
              <a:buChar char="•"/>
            </a:pPr>
            <a:r>
              <a:rPr lang="en-US" sz="1300" dirty="0">
                <a:solidFill>
                  <a:srgbClr val="2A241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综述贡献在于首次给出统一工作流，并按索引、检索、生成三个阶段整理已有方法。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6903720" y="3246120"/>
            <a:ext cx="4480560" cy="1755648"/>
          </a:xfrm>
          <a:prstGeom prst="roundRect">
            <a:avLst>
              <a:gd name="adj" fmla="val 4167"/>
            </a:avLst>
          </a:prstGeom>
          <a:solidFill>
            <a:srgbClr val="F6E1D9"/>
          </a:solidFill>
          <a:ln w="10160">
            <a:solidFill>
              <a:srgbClr val="E6C8B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205472" y="3493008"/>
            <a:ext cx="38862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20" b="1" dirty="0">
                <a:solidFill>
                  <a:srgbClr val="D777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一句话精读</a:t>
            </a:r>
            <a:endParaRPr lang="en-US" sz="1420" dirty="0"/>
          </a:p>
        </p:txBody>
      </p:sp>
      <p:sp>
        <p:nvSpPr>
          <p:cNvPr id="21" name="Text 19"/>
          <p:cNvSpPr/>
          <p:nvPr/>
        </p:nvSpPr>
        <p:spPr>
          <a:xfrm>
            <a:off x="7205472" y="3913632"/>
            <a:ext cx="3886200" cy="68580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30" dirty="0">
                <a:solidFill>
                  <a:srgbClr val="2A241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当问题依赖“谁和谁有什么关系、经过什么路径产生影响”时，GraphRAG 比文本块 RAG 更容易给出可解释、可定位的答案。</a:t>
            </a:r>
            <a:endParaRPr lang="en-US" sz="123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601968"/>
            <a:ext cx="800000" cy="300000"/>
          </a:xfrm>
          <a:prstGeom prst="rect">
            <a:avLst/>
          </a:prstGeom>
        </p:spPr>
        <p:txBody>
          <a:bodyPr/>
          <a:lstStyle>
            <a:lvl1pPr>
              <a:defRPr sz="700">
                <a:solidFill>
                  <a:srgbClr val="8A7B7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</a:lstStyle>
          <a:p>
            <a:pPr algn="l"/>
            <a:fld id="{F7021451-1387-4CA6-816F-3879F97B5CBC}" type="slidenum">
              <a:rPr lang="en-US" b="0"/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8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01752"/>
            <a:ext cx="475488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D777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02 动机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548640" y="530352"/>
            <a:ext cx="10881360" cy="50292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300" b="1" dirty="0">
                <a:solidFill>
                  <a:srgbClr val="2A241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为什么需要 GraphRAG：关系是答案的一部分</a:t>
            </a:r>
            <a:endParaRPr lang="en-US" sz="2300" dirty="0"/>
          </a:p>
        </p:txBody>
      </p:sp>
      <p:sp>
        <p:nvSpPr>
          <p:cNvPr id="4" name="Shape 2"/>
          <p:cNvSpPr/>
          <p:nvPr/>
        </p:nvSpPr>
        <p:spPr>
          <a:xfrm>
            <a:off x="548640" y="1133856"/>
            <a:ext cx="11064240" cy="0"/>
          </a:xfrm>
          <a:prstGeom prst="line">
            <a:avLst/>
          </a:prstGeom>
          <a:noFill/>
          <a:ln w="12700">
            <a:solidFill>
              <a:srgbClr val="E5D9CD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94360" y="1389888"/>
            <a:ext cx="5806440" cy="3886200"/>
          </a:xfrm>
          <a:prstGeom prst="roundRect">
            <a:avLst>
              <a:gd name="adj" fmla="val 1412"/>
            </a:avLst>
          </a:prstGeom>
          <a:solidFill>
            <a:srgbClr val="FFFFFF"/>
          </a:solidFill>
          <a:ln w="11430">
            <a:solidFill>
              <a:srgbClr val="E5D9CD"/>
            </a:solidFill>
            <a:prstDash val="solid"/>
          </a:ln>
        </p:spPr>
      </p:sp>
      <p:pic>
        <p:nvPicPr>
          <p:cNvPr id="6" name="Image 0" descr="C:\Users\86136\AppData\Local\Temp\graphrag_crops_v2\fig1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4088" y="1499616"/>
            <a:ext cx="5586984" cy="350215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58952" y="5047488"/>
            <a:ext cx="5477256" cy="12801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20" dirty="0">
                <a:solidFill>
                  <a:srgbClr val="8A7B7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原文 Fig.1：Direct LLM / RAG / GraphRAG 对比</a:t>
            </a:r>
            <a:endParaRPr lang="en-US" sz="720" dirty="0"/>
          </a:p>
        </p:txBody>
      </p:sp>
      <p:sp>
        <p:nvSpPr>
          <p:cNvPr id="8" name="Text 5"/>
          <p:cNvSpPr/>
          <p:nvPr/>
        </p:nvSpPr>
        <p:spPr>
          <a:xfrm>
            <a:off x="6784848" y="1371600"/>
            <a:ext cx="429768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2A241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图中案例的重点</a:t>
            </a:r>
            <a:endParaRPr lang="en-US" sz="1550" dirty="0"/>
          </a:p>
        </p:txBody>
      </p:sp>
      <p:sp>
        <p:nvSpPr>
          <p:cNvPr id="9" name="Text 6"/>
          <p:cNvSpPr/>
          <p:nvPr/>
        </p:nvSpPr>
        <p:spPr>
          <a:xfrm>
            <a:off x="6812280" y="1828800"/>
            <a:ext cx="4663440" cy="2377440"/>
          </a:xfrm>
          <a:prstGeom prst="rect">
            <a:avLst/>
          </a:prstGeom>
          <a:noFill/>
        </p:spPr>
        <p:txBody>
          <a:bodyPr wrap="square" lIns="762" tIns="762" rIns="762" bIns="762" rtlCol="0" anchor="t">
            <a:normAutofit/>
          </a:bodyPr>
          <a:lstStyle/>
          <a:p>
            <a:pPr marL="127000" indent="-127000">
              <a:buSzPct val="100000"/>
              <a:buChar char="•"/>
            </a:pPr>
            <a:r>
              <a:rPr lang="en-US" sz="1220" dirty="0">
                <a:solidFill>
                  <a:srgbClr val="2A241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直接 LLM：能回答大方向，但容易浅层、泛化。</a:t>
            </a:r>
            <a:endParaRPr lang="en-US" sz="1220" dirty="0"/>
          </a:p>
          <a:p>
            <a:pPr marL="127000" indent="-127000">
              <a:buSzPct val="100000"/>
              <a:buChar char="•"/>
            </a:pPr>
            <a:r>
              <a:rPr lang="en-US" sz="1220" dirty="0">
                <a:solidFill>
                  <a:srgbClr val="2A241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文本 RAG：能补充相关段落，却可能被长文本和表达差异稀释关键关系。</a:t>
            </a:r>
            <a:endParaRPr lang="en-US" sz="1220" dirty="0"/>
          </a:p>
          <a:p>
            <a:pPr marL="127000" indent="-127000">
              <a:buSzPct val="100000"/>
              <a:buChar char="•"/>
            </a:pPr>
            <a:r>
              <a:rPr lang="en-US" sz="1220" dirty="0">
                <a:solidFill>
                  <a:srgbClr val="2A241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GraphRAG：把“Monet -&gt; 技法 -&gt; 影响 -&gt; Picasso/Cubism”显式表示为可检索关系链。</a:t>
            </a:r>
            <a:endParaRPr lang="en-US" sz="1220" dirty="0"/>
          </a:p>
          <a:p>
            <a:pPr marL="127000" indent="-127000">
              <a:buSzPct val="100000"/>
              <a:buChar char="•"/>
            </a:pPr>
            <a:r>
              <a:rPr lang="en-US" sz="1220" dirty="0">
                <a:solidFill>
                  <a:srgbClr val="2A241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结论：GraphRAG 的优势不是更多上下文，而是更可控的结构化上下文。</a:t>
            </a:r>
            <a:endParaRPr lang="en-US" sz="1220" dirty="0"/>
          </a:p>
        </p:txBody>
      </p:sp>
      <p:sp>
        <p:nvSpPr>
          <p:cNvPr id="10" name="Shape 7"/>
          <p:cNvSpPr/>
          <p:nvPr/>
        </p:nvSpPr>
        <p:spPr>
          <a:xfrm>
            <a:off x="6812280" y="4617720"/>
            <a:ext cx="4526280" cy="658368"/>
          </a:xfrm>
          <a:prstGeom prst="roundRect">
            <a:avLst>
              <a:gd name="adj" fmla="val 11111"/>
            </a:avLst>
          </a:prstGeom>
          <a:solidFill>
            <a:srgbClr val="E6EAFD"/>
          </a:solidFill>
          <a:ln w="10160">
            <a:solidFill>
              <a:srgbClr val="C6D0FA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7040880" y="4800600"/>
            <a:ext cx="4114800" cy="219456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930" b="1" dirty="0">
                <a:solidFill>
                  <a:srgbClr val="2A241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阅读时要抓住的问题：GraphRAG 如何把“关系”转化为可索引、可检索、可生成的中间表示？</a:t>
            </a:r>
            <a:endParaRPr lang="en-US" sz="930" b="1" dirty="0">
              <a:solidFill>
                <a:srgbClr val="2A241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pitchFamily="34" charset="-120"/>
            </a:endParaRP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601968"/>
            <a:ext cx="800000" cy="300000"/>
          </a:xfrm>
          <a:prstGeom prst="rect">
            <a:avLst/>
          </a:prstGeom>
        </p:spPr>
        <p:txBody>
          <a:bodyPr/>
          <a:lstStyle>
            <a:lvl1pPr>
              <a:defRPr sz="700">
                <a:solidFill>
                  <a:srgbClr val="8A7B7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</a:lstStyle>
          <a:p>
            <a:pPr algn="l"/>
            <a:fld id="{F7021451-1387-4CA6-816F-3879F97B5CBC}" type="slidenum">
              <a:rPr lang="en-US" b="0"/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8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01752"/>
            <a:ext cx="475488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D777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03 框架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548640" y="530352"/>
            <a:ext cx="10881360" cy="50292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300" b="1" dirty="0">
                <a:solidFill>
                  <a:srgbClr val="2A241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GraphRAG 总体框架：三个阶段串起端到端流程</a:t>
            </a:r>
            <a:endParaRPr lang="en-US" sz="2300" dirty="0"/>
          </a:p>
        </p:txBody>
      </p:sp>
      <p:sp>
        <p:nvSpPr>
          <p:cNvPr id="4" name="Shape 2"/>
          <p:cNvSpPr/>
          <p:nvPr/>
        </p:nvSpPr>
        <p:spPr>
          <a:xfrm>
            <a:off x="548640" y="1133856"/>
            <a:ext cx="11064240" cy="0"/>
          </a:xfrm>
          <a:prstGeom prst="line">
            <a:avLst/>
          </a:prstGeom>
          <a:noFill/>
          <a:ln w="12700">
            <a:solidFill>
              <a:srgbClr val="E5D9CD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94360" y="1316736"/>
            <a:ext cx="5852160" cy="3749040"/>
          </a:xfrm>
          <a:prstGeom prst="roundRect">
            <a:avLst>
              <a:gd name="adj" fmla="val 1463"/>
            </a:avLst>
          </a:prstGeom>
          <a:solidFill>
            <a:srgbClr val="FFFFFF"/>
          </a:solidFill>
          <a:ln w="11430">
            <a:solidFill>
              <a:srgbClr val="E5D9CD"/>
            </a:solidFill>
            <a:prstDash val="solid"/>
          </a:ln>
        </p:spPr>
      </p:sp>
      <p:pic>
        <p:nvPicPr>
          <p:cNvPr id="6" name="Image 0" descr="C:\Users\86136\AppData\Local\Temp\graphrag_crops_v2\fig2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4088" y="1426464"/>
            <a:ext cx="5632704" cy="336499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58952" y="4837176"/>
            <a:ext cx="5522976" cy="12801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20" dirty="0">
                <a:solidFill>
                  <a:srgbClr val="8A7B7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原文 Fig.2：GraphRAG QA 工作流</a:t>
            </a:r>
            <a:endParaRPr lang="en-US" sz="720" dirty="0"/>
          </a:p>
        </p:txBody>
      </p:sp>
      <p:sp>
        <p:nvSpPr>
          <p:cNvPr id="8" name="Shape 5"/>
          <p:cNvSpPr/>
          <p:nvPr/>
        </p:nvSpPr>
        <p:spPr>
          <a:xfrm>
            <a:off x="6903720" y="1508760"/>
            <a:ext cx="1417320" cy="1143000"/>
          </a:xfrm>
          <a:prstGeom prst="roundRect">
            <a:avLst>
              <a:gd name="adj" fmla="val 6400"/>
            </a:avLst>
          </a:prstGeom>
          <a:solidFill>
            <a:srgbClr val="E4F1EA"/>
          </a:solidFill>
          <a:ln w="10160">
            <a:solidFill>
              <a:srgbClr val="E5D9CD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6903720" y="1508760"/>
            <a:ext cx="73152" cy="1143000"/>
          </a:xfrm>
          <a:prstGeom prst="rect">
            <a:avLst/>
          </a:prstGeom>
          <a:solidFill>
            <a:srgbClr val="4F8C6B"/>
          </a:solidFill>
          <a:ln w="12700">
            <a:solidFill>
              <a:srgbClr val="4F8C6B">
                <a:alpha val="0"/>
              </a:srgbClr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7104888" y="1673352"/>
            <a:ext cx="1097280" cy="22860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20" b="1" dirty="0">
                <a:solidFill>
                  <a:srgbClr val="2A241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G-Indexing</a:t>
            </a:r>
            <a:endParaRPr lang="en-US" sz="1120" dirty="0"/>
          </a:p>
        </p:txBody>
      </p:sp>
      <p:sp>
        <p:nvSpPr>
          <p:cNvPr id="11" name="Text 8"/>
          <p:cNvSpPr/>
          <p:nvPr/>
        </p:nvSpPr>
        <p:spPr>
          <a:xfrm>
            <a:off x="7104888" y="2039112"/>
            <a:ext cx="1097280" cy="502920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Autofit/>
          </a:bodyPr>
          <a:lstStyle/>
          <a:p>
            <a:pPr marL="0" indent="0">
              <a:buNone/>
            </a:pPr>
            <a:r>
              <a:rPr lang="en-US" sz="910" dirty="0">
                <a:solidFill>
                  <a:srgbClr val="6F625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选择或构建图数据库，并为节点、边、文本描述或图嵌入建立索引。</a:t>
            </a:r>
            <a:endParaRPr lang="en-US" sz="910" dirty="0">
              <a:solidFill>
                <a:srgbClr val="6F625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pitchFamily="34" charset="-120"/>
            </a:endParaRPr>
          </a:p>
        </p:txBody>
      </p:sp>
      <p:sp>
        <p:nvSpPr>
          <p:cNvPr id="13" name="Shape 10"/>
          <p:cNvSpPr/>
          <p:nvPr/>
        </p:nvSpPr>
        <p:spPr>
          <a:xfrm>
            <a:off x="8961120" y="1508760"/>
            <a:ext cx="1417320" cy="1143000"/>
          </a:xfrm>
          <a:prstGeom prst="roundRect">
            <a:avLst>
              <a:gd name="adj" fmla="val 6400"/>
            </a:avLst>
          </a:prstGeom>
          <a:solidFill>
            <a:srgbClr val="F7EBCB"/>
          </a:solidFill>
          <a:ln w="10160">
            <a:solidFill>
              <a:srgbClr val="E5D9CD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8961120" y="1508760"/>
            <a:ext cx="73152" cy="1143000"/>
          </a:xfrm>
          <a:prstGeom prst="rect">
            <a:avLst/>
          </a:prstGeom>
          <a:solidFill>
            <a:srgbClr val="E8BC5A"/>
          </a:solidFill>
          <a:ln w="12700">
            <a:solidFill>
              <a:srgbClr val="E8BC5A">
                <a:alpha val="0"/>
              </a:srgbClr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9162288" y="1673352"/>
            <a:ext cx="1097280" cy="22860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20" b="1" dirty="0">
                <a:solidFill>
                  <a:srgbClr val="2A241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G-Retrieval</a:t>
            </a:r>
            <a:endParaRPr lang="en-US" sz="1120" dirty="0"/>
          </a:p>
        </p:txBody>
      </p:sp>
      <p:sp>
        <p:nvSpPr>
          <p:cNvPr id="16" name="Text 13"/>
          <p:cNvSpPr/>
          <p:nvPr/>
        </p:nvSpPr>
        <p:spPr>
          <a:xfrm>
            <a:off x="9162288" y="2039112"/>
            <a:ext cx="1097280" cy="502920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960" dirty="0">
                <a:solidFill>
                  <a:srgbClr val="6F625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根据查询召回相关节点、三元组、路径、子图或混合结构。</a:t>
            </a:r>
            <a:endParaRPr lang="en-US" sz="960" dirty="0"/>
          </a:p>
        </p:txBody>
      </p:sp>
      <p:sp>
        <p:nvSpPr>
          <p:cNvPr id="18" name="Shape 15"/>
          <p:cNvSpPr/>
          <p:nvPr/>
        </p:nvSpPr>
        <p:spPr>
          <a:xfrm>
            <a:off x="10652760" y="1508760"/>
            <a:ext cx="1417320" cy="1143000"/>
          </a:xfrm>
          <a:prstGeom prst="roundRect">
            <a:avLst>
              <a:gd name="adj" fmla="val 6400"/>
            </a:avLst>
          </a:prstGeom>
          <a:solidFill>
            <a:srgbClr val="F6E1D9"/>
          </a:solidFill>
          <a:ln w="10160">
            <a:solidFill>
              <a:srgbClr val="E5D9CD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10652760" y="1508760"/>
            <a:ext cx="73152" cy="1143000"/>
          </a:xfrm>
          <a:prstGeom prst="rect">
            <a:avLst/>
          </a:prstGeom>
          <a:solidFill>
            <a:srgbClr val="D77757"/>
          </a:solidFill>
          <a:ln w="12700">
            <a:solidFill>
              <a:srgbClr val="D77757">
                <a:alpha val="0"/>
              </a:srgbClr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10853928" y="1673352"/>
            <a:ext cx="1097280" cy="22860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20" b="1" dirty="0">
                <a:solidFill>
                  <a:srgbClr val="2A241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G-Generation</a:t>
            </a:r>
            <a:endParaRPr lang="en-US" sz="1120" dirty="0"/>
          </a:p>
        </p:txBody>
      </p:sp>
      <p:sp>
        <p:nvSpPr>
          <p:cNvPr id="21" name="Text 18"/>
          <p:cNvSpPr/>
          <p:nvPr/>
        </p:nvSpPr>
        <p:spPr>
          <a:xfrm>
            <a:off x="10853928" y="2039112"/>
            <a:ext cx="1097280" cy="502920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960" dirty="0">
                <a:solidFill>
                  <a:srgbClr val="6F625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把图结构转成模型可消费的格式，并生成最终答案。</a:t>
            </a:r>
            <a:endParaRPr lang="en-US" sz="960" dirty="0"/>
          </a:p>
        </p:txBody>
      </p:sp>
      <p:sp>
        <p:nvSpPr>
          <p:cNvPr id="22" name="Text 19"/>
          <p:cNvSpPr/>
          <p:nvPr/>
        </p:nvSpPr>
        <p:spPr>
          <a:xfrm>
            <a:off x="6876288" y="3063240"/>
            <a:ext cx="41148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20" b="1" dirty="0">
                <a:solidFill>
                  <a:srgbClr val="2A241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形式化理解</a:t>
            </a:r>
            <a:endParaRPr lang="en-US" sz="1520" dirty="0"/>
          </a:p>
        </p:txBody>
      </p:sp>
      <p:sp>
        <p:nvSpPr>
          <p:cNvPr id="23" name="Text 20"/>
          <p:cNvSpPr/>
          <p:nvPr/>
        </p:nvSpPr>
        <p:spPr>
          <a:xfrm>
            <a:off x="6903720" y="3493008"/>
            <a:ext cx="4572000" cy="1261872"/>
          </a:xfrm>
          <a:prstGeom prst="rect">
            <a:avLst/>
          </a:prstGeom>
          <a:noFill/>
        </p:spPr>
        <p:txBody>
          <a:bodyPr wrap="square" lIns="762" tIns="762" rIns="762" bIns="762" rtlCol="0" anchor="t">
            <a:normAutofit/>
          </a:bodyPr>
          <a:lstStyle/>
          <a:p>
            <a:pPr marL="127000" indent="-127000">
              <a:buSzPct val="100000"/>
              <a:buChar char="•"/>
            </a:pPr>
            <a:r>
              <a:rPr lang="en-US" sz="1210" dirty="0">
                <a:solidFill>
                  <a:srgbClr val="2A241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目标：在查询 q 和图数据库 G 条件下，生成最优答案 a。</a:t>
            </a:r>
            <a:endParaRPr lang="en-US" sz="1210" dirty="0"/>
          </a:p>
          <a:p>
            <a:pPr marL="127000" indent="-127000">
              <a:buSzPct val="100000"/>
              <a:buChar char="•"/>
            </a:pPr>
            <a:r>
              <a:rPr lang="en-US" sz="1210" dirty="0">
                <a:solidFill>
                  <a:srgbClr val="2A241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由于候选子图数量会随图规模爆炸，实际系统通常先近似检索最优子图 G*。</a:t>
            </a:r>
            <a:endParaRPr lang="en-US" sz="1210" dirty="0"/>
          </a:p>
          <a:p>
            <a:pPr marL="127000" indent="-127000">
              <a:buSzPct val="100000"/>
              <a:buChar char="•"/>
            </a:pPr>
            <a:r>
              <a:rPr lang="en-US" sz="1210" dirty="0">
                <a:solidFill>
                  <a:srgbClr val="2A241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生成器基于 q 与 G* 生成答案；检索质量直接决定生成上限。</a:t>
            </a:r>
            <a:endParaRPr lang="en-US" sz="1210" dirty="0"/>
          </a:p>
        </p:txBody>
      </p:sp>
      <p:sp>
        <p:nvSpPr>
          <p:cNvPr id="24" name="Text 21"/>
          <p:cNvSpPr/>
          <p:nvPr/>
        </p:nvSpPr>
        <p:spPr>
          <a:xfrm>
            <a:off x="6903720" y="4983480"/>
            <a:ext cx="4572000" cy="38404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20" dirty="0">
                <a:solidFill>
                  <a:srgbClr val="6F625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这也是本文后续章节的组织主线：第 5 章索引，第 6 章检索，第 7 章生成，第 8-10 章训练、评估与展望。</a:t>
            </a:r>
            <a:endParaRPr lang="en-US" sz="102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601968"/>
            <a:ext cx="800000" cy="300000"/>
          </a:xfrm>
          <a:prstGeom prst="rect">
            <a:avLst/>
          </a:prstGeom>
        </p:spPr>
        <p:txBody>
          <a:bodyPr/>
          <a:lstStyle>
            <a:lvl1pPr>
              <a:defRPr sz="700">
                <a:solidFill>
                  <a:srgbClr val="8A7B7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</a:lstStyle>
          <a:p>
            <a:pPr algn="l"/>
            <a:fld id="{F7021451-1387-4CA6-816F-3879F97B5CBC}" type="slidenum">
              <a:rPr lang="en-US" b="0"/>
            </a:fld>
            <a:endParaRPr lang="en-US"/>
          </a:p>
        </p:txBody>
      </p:sp>
      <p:cxnSp>
        <p:nvCxnSpPr>
          <p:cNvPr id="26" name="FixedArrow_Index_to_Retrieval"/>
          <p:cNvCxnSpPr/>
          <p:nvPr/>
        </p:nvCxnSpPr>
        <p:spPr>
          <a:xfrm>
            <a:off x="8321040" y="2080260"/>
            <a:ext cx="640080" cy="635"/>
          </a:xfrm>
          <a:prstGeom prst="line">
            <a:avLst/>
          </a:prstGeom>
          <a:ln w="19050">
            <a:solidFill>
              <a:srgbClr val="5A6576"/>
            </a:solidFill>
            <a:headEnd type="none"/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7" name="FixedArrow_Retrieval_to_Generation"/>
          <p:cNvCxnSpPr/>
          <p:nvPr/>
        </p:nvCxnSpPr>
        <p:spPr>
          <a:xfrm>
            <a:off x="10378440" y="2080260"/>
            <a:ext cx="274320" cy="635"/>
          </a:xfrm>
          <a:prstGeom prst="line">
            <a:avLst/>
          </a:prstGeom>
          <a:ln w="19050">
            <a:solidFill>
              <a:srgbClr val="5A6576"/>
            </a:solidFill>
            <a:headEnd type="none"/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8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01752"/>
            <a:ext cx="475488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D777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04 G-Indexing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548640" y="530352"/>
            <a:ext cx="10881360" cy="50292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300" b="1" dirty="0">
                <a:solidFill>
                  <a:srgbClr val="2A241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图索引：先决定图从哪里来、怎么被找到</a:t>
            </a:r>
            <a:endParaRPr lang="en-US" sz="2300" dirty="0"/>
          </a:p>
        </p:txBody>
      </p:sp>
      <p:sp>
        <p:nvSpPr>
          <p:cNvPr id="4" name="Shape 2"/>
          <p:cNvSpPr/>
          <p:nvPr/>
        </p:nvSpPr>
        <p:spPr>
          <a:xfrm>
            <a:off x="548640" y="1133856"/>
            <a:ext cx="11064240" cy="0"/>
          </a:xfrm>
          <a:prstGeom prst="line">
            <a:avLst/>
          </a:prstGeom>
          <a:noFill/>
          <a:ln w="12700">
            <a:solidFill>
              <a:srgbClr val="E5D9C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85800" y="1353312"/>
            <a:ext cx="27432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2A241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图数据来源</a:t>
            </a:r>
            <a:endParaRPr lang="en-US" sz="1550" dirty="0"/>
          </a:p>
        </p:txBody>
      </p:sp>
      <p:sp>
        <p:nvSpPr>
          <p:cNvPr id="6" name="Shape 4"/>
          <p:cNvSpPr/>
          <p:nvPr/>
        </p:nvSpPr>
        <p:spPr>
          <a:xfrm>
            <a:off x="731520" y="1783080"/>
            <a:ext cx="3246120" cy="1508760"/>
          </a:xfrm>
          <a:prstGeom prst="roundRect">
            <a:avLst>
              <a:gd name="adj" fmla="val 4848"/>
            </a:avLst>
          </a:prstGeom>
          <a:solidFill>
            <a:srgbClr val="FFFFFF"/>
          </a:solidFill>
          <a:ln w="10160">
            <a:solidFill>
              <a:srgbClr val="E5D9CD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31520" y="1783080"/>
            <a:ext cx="73152" cy="1508760"/>
          </a:xfrm>
          <a:prstGeom prst="rect">
            <a:avLst/>
          </a:prstGeom>
          <a:solidFill>
            <a:srgbClr val="4F8C6B"/>
          </a:solidFill>
          <a:ln w="12700">
            <a:solidFill>
              <a:srgbClr val="4F8C6B">
                <a:alpha val="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32688" y="1947672"/>
            <a:ext cx="2926080" cy="22860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20" b="1" dirty="0">
                <a:solidFill>
                  <a:srgbClr val="2A241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开放知识图谱</a:t>
            </a:r>
            <a:endParaRPr lang="en-US" sz="1120" dirty="0"/>
          </a:p>
        </p:txBody>
      </p:sp>
      <p:sp>
        <p:nvSpPr>
          <p:cNvPr id="9" name="Text 7"/>
          <p:cNvSpPr/>
          <p:nvPr/>
        </p:nvSpPr>
        <p:spPr>
          <a:xfrm>
            <a:off x="932688" y="2313432"/>
            <a:ext cx="2926080" cy="868680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960" dirty="0">
                <a:solidFill>
                  <a:srgbClr val="6F625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Wikidata、DBpedia、Freebase、领域知识图谱等。优势是构建成本低、覆盖面广；问题是任务适配和更新粒度不可完全控制。</a:t>
            </a:r>
            <a:endParaRPr lang="en-US" sz="960" dirty="0"/>
          </a:p>
        </p:txBody>
      </p:sp>
      <p:sp>
        <p:nvSpPr>
          <p:cNvPr id="10" name="Shape 8"/>
          <p:cNvSpPr/>
          <p:nvPr/>
        </p:nvSpPr>
        <p:spPr>
          <a:xfrm>
            <a:off x="4343400" y="1783080"/>
            <a:ext cx="3246120" cy="1508760"/>
          </a:xfrm>
          <a:prstGeom prst="roundRect">
            <a:avLst>
              <a:gd name="adj" fmla="val 4848"/>
            </a:avLst>
          </a:prstGeom>
          <a:solidFill>
            <a:srgbClr val="FFFFFF"/>
          </a:solidFill>
          <a:ln w="10160">
            <a:solidFill>
              <a:srgbClr val="E5D9CD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343400" y="1783080"/>
            <a:ext cx="73152" cy="1508760"/>
          </a:xfrm>
          <a:prstGeom prst="rect">
            <a:avLst/>
          </a:prstGeom>
          <a:solidFill>
            <a:srgbClr val="D77757"/>
          </a:solidFill>
          <a:ln w="12700">
            <a:solidFill>
              <a:srgbClr val="D77757">
                <a:alpha val="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44568" y="1947672"/>
            <a:ext cx="2926080" cy="22860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20" b="1" dirty="0">
                <a:solidFill>
                  <a:srgbClr val="2A241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自构建图数据</a:t>
            </a:r>
            <a:endParaRPr lang="en-US" sz="1120" dirty="0"/>
          </a:p>
        </p:txBody>
      </p:sp>
      <p:sp>
        <p:nvSpPr>
          <p:cNvPr id="13" name="Text 11"/>
          <p:cNvSpPr/>
          <p:nvPr/>
        </p:nvSpPr>
        <p:spPr>
          <a:xfrm>
            <a:off x="4544568" y="2313432"/>
            <a:ext cx="2926080" cy="868680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960" dirty="0">
                <a:solidFill>
                  <a:srgbClr val="6F625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从文档、数据库、日志或业务系统中抽取实体与关系。优势是贴近任务；难点是抽取质量、实体对齐和维护成本。</a:t>
            </a:r>
            <a:endParaRPr lang="en-US" sz="960" dirty="0"/>
          </a:p>
        </p:txBody>
      </p:sp>
      <p:sp>
        <p:nvSpPr>
          <p:cNvPr id="14" name="Shape 12"/>
          <p:cNvSpPr/>
          <p:nvPr/>
        </p:nvSpPr>
        <p:spPr>
          <a:xfrm>
            <a:off x="7955280" y="1783080"/>
            <a:ext cx="3246120" cy="1508760"/>
          </a:xfrm>
          <a:prstGeom prst="roundRect">
            <a:avLst>
              <a:gd name="adj" fmla="val 4848"/>
            </a:avLst>
          </a:prstGeom>
          <a:solidFill>
            <a:srgbClr val="FFFFFF"/>
          </a:solidFill>
          <a:ln w="10160">
            <a:solidFill>
              <a:srgbClr val="E5D9CD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955280" y="1783080"/>
            <a:ext cx="73152" cy="1508760"/>
          </a:xfrm>
          <a:prstGeom prst="rect">
            <a:avLst/>
          </a:prstGeom>
          <a:solidFill>
            <a:srgbClr val="5769F7"/>
          </a:solidFill>
          <a:ln w="12700">
            <a:solidFill>
              <a:srgbClr val="5769F7">
                <a:alpha val="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156448" y="1947672"/>
            <a:ext cx="2926080" cy="22860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20" b="1" dirty="0">
                <a:solidFill>
                  <a:srgbClr val="2A241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混合图</a:t>
            </a:r>
            <a:endParaRPr lang="en-US" sz="1120" dirty="0"/>
          </a:p>
        </p:txBody>
      </p:sp>
      <p:sp>
        <p:nvSpPr>
          <p:cNvPr id="17" name="Text 15"/>
          <p:cNvSpPr/>
          <p:nvPr/>
        </p:nvSpPr>
        <p:spPr>
          <a:xfrm>
            <a:off x="8156448" y="2313432"/>
            <a:ext cx="2926080" cy="868680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910" dirty="0">
                <a:solidFill>
                  <a:srgbClr val="6F625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把公开图谱与私有知识合并，兼顾通用知识和业务知识，但需要解决冲突、去重和权限边界。</a:t>
            </a:r>
            <a:endParaRPr lang="en-US" sz="910" dirty="0">
              <a:solidFill>
                <a:srgbClr val="6F625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pitchFamily="34" charset="-120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685800" y="3794760"/>
            <a:ext cx="27432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2A241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索引方式</a:t>
            </a:r>
            <a:endParaRPr lang="en-US" sz="1550" dirty="0"/>
          </a:p>
        </p:txBody>
      </p:sp>
      <p:sp>
        <p:nvSpPr>
          <p:cNvPr id="19" name="Shape 17"/>
          <p:cNvSpPr/>
          <p:nvPr/>
        </p:nvSpPr>
        <p:spPr>
          <a:xfrm>
            <a:off x="804672" y="4315968"/>
            <a:ext cx="1627632" cy="1051560"/>
          </a:xfrm>
          <a:prstGeom prst="roundRect">
            <a:avLst>
              <a:gd name="adj" fmla="val 6957"/>
            </a:avLst>
          </a:prstGeom>
          <a:solidFill>
            <a:srgbClr val="E4F1EA"/>
          </a:solidFill>
          <a:ln w="7620">
            <a:solidFill>
              <a:srgbClr val="E5D9CD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77824" y="4526280"/>
            <a:ext cx="1481328" cy="18288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A241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图结构索引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896112" y="4864608"/>
            <a:ext cx="1444752" cy="16459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20" dirty="0">
                <a:solidFill>
                  <a:srgbClr val="6F625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邻接表、路径搜索</a:t>
            </a:r>
            <a:endParaRPr lang="en-US" sz="820" dirty="0"/>
          </a:p>
        </p:txBody>
      </p:sp>
      <p:sp>
        <p:nvSpPr>
          <p:cNvPr id="22" name="Shape 20"/>
          <p:cNvSpPr/>
          <p:nvPr/>
        </p:nvSpPr>
        <p:spPr>
          <a:xfrm>
            <a:off x="2788920" y="4315968"/>
            <a:ext cx="1627632" cy="1051560"/>
          </a:xfrm>
          <a:prstGeom prst="roundRect">
            <a:avLst>
              <a:gd name="adj" fmla="val 6957"/>
            </a:avLst>
          </a:prstGeom>
          <a:solidFill>
            <a:srgbClr val="F6E1D9"/>
          </a:solidFill>
          <a:ln w="7620">
            <a:solidFill>
              <a:srgbClr val="E5D9CD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862072" y="4526280"/>
            <a:ext cx="1481328" cy="18288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A241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文本索引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2880360" y="4864608"/>
            <a:ext cx="1444752" cy="16459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20" dirty="0">
                <a:solidFill>
                  <a:srgbClr val="6F625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三元组转自然语言</a:t>
            </a:r>
            <a:endParaRPr lang="en-US" sz="820" dirty="0"/>
          </a:p>
        </p:txBody>
      </p:sp>
      <p:sp>
        <p:nvSpPr>
          <p:cNvPr id="25" name="Shape 23"/>
          <p:cNvSpPr/>
          <p:nvPr/>
        </p:nvSpPr>
        <p:spPr>
          <a:xfrm>
            <a:off x="4773168" y="4315968"/>
            <a:ext cx="1627632" cy="1051560"/>
          </a:xfrm>
          <a:prstGeom prst="roundRect">
            <a:avLst>
              <a:gd name="adj" fmla="val 6957"/>
            </a:avLst>
          </a:prstGeom>
          <a:solidFill>
            <a:srgbClr val="E6EAFD"/>
          </a:solidFill>
          <a:ln w="7620">
            <a:solidFill>
              <a:srgbClr val="E5D9CD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846320" y="4526280"/>
            <a:ext cx="1481328" cy="18288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A241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向量索引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4864608" y="4864608"/>
            <a:ext cx="1444752" cy="16459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20" dirty="0">
                <a:solidFill>
                  <a:srgbClr val="6F625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语义相似度检索</a:t>
            </a:r>
            <a:endParaRPr lang="en-US" sz="820" dirty="0"/>
          </a:p>
        </p:txBody>
      </p:sp>
      <p:sp>
        <p:nvSpPr>
          <p:cNvPr id="28" name="Shape 26"/>
          <p:cNvSpPr/>
          <p:nvPr/>
        </p:nvSpPr>
        <p:spPr>
          <a:xfrm>
            <a:off x="6757416" y="4315968"/>
            <a:ext cx="1627632" cy="1051560"/>
          </a:xfrm>
          <a:prstGeom prst="roundRect">
            <a:avLst>
              <a:gd name="adj" fmla="val 6957"/>
            </a:avLst>
          </a:prstGeom>
          <a:solidFill>
            <a:srgbClr val="F7EBCB"/>
          </a:solidFill>
          <a:ln w="7620">
            <a:solidFill>
              <a:srgbClr val="E5D9CD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830568" y="4526280"/>
            <a:ext cx="1481328" cy="18288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A241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图嵌入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6848856" y="4864608"/>
            <a:ext cx="1444752" cy="16459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20" dirty="0">
                <a:solidFill>
                  <a:srgbClr val="6F625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结构表示学习</a:t>
            </a:r>
            <a:endParaRPr lang="en-US" sz="820" dirty="0"/>
          </a:p>
        </p:txBody>
      </p:sp>
      <p:sp>
        <p:nvSpPr>
          <p:cNvPr id="31" name="Shape 29"/>
          <p:cNvSpPr/>
          <p:nvPr/>
        </p:nvSpPr>
        <p:spPr>
          <a:xfrm>
            <a:off x="8741664" y="4315968"/>
            <a:ext cx="1627632" cy="1051560"/>
          </a:xfrm>
          <a:prstGeom prst="roundRect">
            <a:avLst>
              <a:gd name="adj" fmla="val 6957"/>
            </a:avLst>
          </a:prstGeom>
          <a:solidFill>
            <a:srgbClr val="EFE7DD"/>
          </a:solidFill>
          <a:ln w="7620">
            <a:solidFill>
              <a:srgbClr val="E5D9CD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8814816" y="4526280"/>
            <a:ext cx="1481328" cy="18288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A241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混合索引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8833104" y="4864608"/>
            <a:ext cx="1444752" cy="16459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20" dirty="0">
                <a:solidFill>
                  <a:srgbClr val="6F625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结构+语义组合</a:t>
            </a:r>
            <a:endParaRPr lang="en-US" sz="820" dirty="0"/>
          </a:p>
        </p:txBody>
      </p:sp>
      <p:sp>
        <p:nvSpPr>
          <p:cNvPr id="34" name="Text 32"/>
          <p:cNvSpPr/>
          <p:nvPr/>
        </p:nvSpPr>
        <p:spPr>
          <a:xfrm>
            <a:off x="822960" y="5715000"/>
            <a:ext cx="10241280" cy="25603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20" b="1" dirty="0">
                <a:solidFill>
                  <a:srgbClr val="D777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精读提示：索引不是工程细节，而是决定 GraphRAG 能召回什么“结构证据”的第一道关。</a:t>
            </a:r>
            <a:endParaRPr lang="en-US" sz="1120" dirty="0"/>
          </a:p>
        </p:txBody>
      </p:sp>
      <p:sp>
        <p:nvSpPr>
          <p:cNvPr id="3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601968"/>
            <a:ext cx="800000" cy="300000"/>
          </a:xfrm>
          <a:prstGeom prst="rect">
            <a:avLst/>
          </a:prstGeom>
        </p:spPr>
        <p:txBody>
          <a:bodyPr/>
          <a:lstStyle>
            <a:lvl1pPr>
              <a:defRPr sz="700">
                <a:solidFill>
                  <a:srgbClr val="8A7B7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</a:lstStyle>
          <a:p>
            <a:pPr algn="l"/>
            <a:fld id="{F7021451-1387-4CA6-816F-3879F97B5CBC}" type="slidenum">
              <a:rPr lang="en-US" b="0"/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8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01752"/>
            <a:ext cx="475488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D777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05 G-Retrieval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548640" y="530352"/>
            <a:ext cx="10881360" cy="50292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300" b="1" dirty="0">
                <a:solidFill>
                  <a:srgbClr val="2A241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图检索：在指数级候选子图中找有用证据</a:t>
            </a:r>
            <a:endParaRPr lang="en-US" sz="2300" dirty="0"/>
          </a:p>
        </p:txBody>
      </p:sp>
      <p:sp>
        <p:nvSpPr>
          <p:cNvPr id="4" name="Shape 2"/>
          <p:cNvSpPr/>
          <p:nvPr/>
        </p:nvSpPr>
        <p:spPr>
          <a:xfrm>
            <a:off x="548640" y="1133856"/>
            <a:ext cx="11064240" cy="0"/>
          </a:xfrm>
          <a:prstGeom prst="line">
            <a:avLst/>
          </a:prstGeom>
          <a:noFill/>
          <a:ln w="12700">
            <a:solidFill>
              <a:srgbClr val="E5D9CD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21792" y="1353312"/>
            <a:ext cx="5806440" cy="2423160"/>
          </a:xfrm>
          <a:prstGeom prst="roundRect">
            <a:avLst>
              <a:gd name="adj" fmla="val 2264"/>
            </a:avLst>
          </a:prstGeom>
          <a:solidFill>
            <a:srgbClr val="FFFFFF"/>
          </a:solidFill>
          <a:ln w="11430">
            <a:solidFill>
              <a:srgbClr val="E5D9CD"/>
            </a:solidFill>
            <a:prstDash val="solid"/>
          </a:ln>
        </p:spPr>
      </p:sp>
      <p:pic>
        <p:nvPicPr>
          <p:cNvPr id="6" name="Image 0" descr="C:\Users\86136\AppData\Local\Temp\graphrag_crops_v2\fig4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1463040"/>
            <a:ext cx="5586984" cy="203911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86384" y="3547872"/>
            <a:ext cx="5477256" cy="12801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20" dirty="0">
                <a:solidFill>
                  <a:srgbClr val="8A7B7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原文 Fig.4：图检索一般架构</a:t>
            </a:r>
            <a:endParaRPr lang="en-US" sz="720" dirty="0"/>
          </a:p>
        </p:txBody>
      </p:sp>
      <p:sp>
        <p:nvSpPr>
          <p:cNvPr id="8" name="Text 5"/>
          <p:cNvSpPr/>
          <p:nvPr/>
        </p:nvSpPr>
        <p:spPr>
          <a:xfrm>
            <a:off x="6812280" y="1371600"/>
            <a:ext cx="301752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30" b="1" dirty="0">
                <a:solidFill>
                  <a:srgbClr val="2A241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两类核心挑战</a:t>
            </a:r>
            <a:endParaRPr lang="en-US" sz="1530" dirty="0"/>
          </a:p>
        </p:txBody>
      </p:sp>
      <p:sp>
        <p:nvSpPr>
          <p:cNvPr id="9" name="Shape 6"/>
          <p:cNvSpPr/>
          <p:nvPr/>
        </p:nvSpPr>
        <p:spPr>
          <a:xfrm>
            <a:off x="6812280" y="1783080"/>
            <a:ext cx="4434840" cy="109728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0160">
            <a:solidFill>
              <a:srgbClr val="E5D9CD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6812280" y="1783080"/>
            <a:ext cx="73152" cy="1097280"/>
          </a:xfrm>
          <a:prstGeom prst="rect">
            <a:avLst/>
          </a:prstGeom>
          <a:solidFill>
            <a:srgbClr val="D77757"/>
          </a:solidFill>
          <a:ln w="12700">
            <a:solidFill>
              <a:srgbClr val="D77757">
                <a:alpha val="0"/>
              </a:srgbClr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7013448" y="1947672"/>
            <a:ext cx="4114800" cy="22860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20" b="1" dirty="0">
                <a:solidFill>
                  <a:srgbClr val="2A241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候选子图爆炸</a:t>
            </a:r>
            <a:endParaRPr lang="en-US" sz="1120" dirty="0"/>
          </a:p>
        </p:txBody>
      </p:sp>
      <p:sp>
        <p:nvSpPr>
          <p:cNvPr id="12" name="Text 9"/>
          <p:cNvSpPr/>
          <p:nvPr/>
        </p:nvSpPr>
        <p:spPr>
          <a:xfrm>
            <a:off x="7013448" y="2313432"/>
            <a:ext cx="4114800" cy="457200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960" dirty="0">
                <a:solidFill>
                  <a:srgbClr val="6F625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图越大，可能的子图组合越多。系统必须用启发式搜索、分阶段检索或迭代检索缩小搜索空间。</a:t>
            </a:r>
            <a:endParaRPr lang="en-US" sz="960" dirty="0"/>
          </a:p>
        </p:txBody>
      </p:sp>
      <p:sp>
        <p:nvSpPr>
          <p:cNvPr id="13" name="Shape 10"/>
          <p:cNvSpPr/>
          <p:nvPr/>
        </p:nvSpPr>
        <p:spPr>
          <a:xfrm>
            <a:off x="6812280" y="3154680"/>
            <a:ext cx="4434840" cy="109728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0160">
            <a:solidFill>
              <a:srgbClr val="E5D9CD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6812280" y="3154680"/>
            <a:ext cx="73152" cy="1097280"/>
          </a:xfrm>
          <a:prstGeom prst="rect">
            <a:avLst/>
          </a:prstGeom>
          <a:solidFill>
            <a:srgbClr val="5769F7"/>
          </a:solidFill>
          <a:ln w="12700">
            <a:solidFill>
              <a:srgbClr val="5769F7">
                <a:alpha val="0"/>
              </a:srgbClr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7013448" y="3319272"/>
            <a:ext cx="4114800" cy="22860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20" b="1" dirty="0">
                <a:solidFill>
                  <a:srgbClr val="2A241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相似度度量不足</a:t>
            </a:r>
            <a:endParaRPr lang="en-US" sz="1120" dirty="0"/>
          </a:p>
        </p:txBody>
      </p:sp>
      <p:sp>
        <p:nvSpPr>
          <p:cNvPr id="16" name="Text 13"/>
          <p:cNvSpPr/>
          <p:nvPr/>
        </p:nvSpPr>
        <p:spPr>
          <a:xfrm>
            <a:off x="7013448" y="3685032"/>
            <a:ext cx="4114800" cy="457200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960" dirty="0">
                <a:solidFill>
                  <a:srgbClr val="6F625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查询是文本，图是结构。只比较文本相似度会漏掉路径和关系，需要结合语义、结构和任务目标。</a:t>
            </a:r>
            <a:endParaRPr lang="en-US" sz="960" dirty="0"/>
          </a:p>
        </p:txBody>
      </p:sp>
      <p:sp>
        <p:nvSpPr>
          <p:cNvPr id="17" name="Text 14"/>
          <p:cNvSpPr/>
          <p:nvPr/>
        </p:nvSpPr>
        <p:spPr>
          <a:xfrm>
            <a:off x="713232" y="4370832"/>
            <a:ext cx="27432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30" b="1" dirty="0">
                <a:solidFill>
                  <a:srgbClr val="2A241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检索器类型</a:t>
            </a:r>
            <a:endParaRPr lang="en-US" sz="1530" dirty="0"/>
          </a:p>
        </p:txBody>
      </p:sp>
      <p:sp>
        <p:nvSpPr>
          <p:cNvPr id="18" name="Shape 15"/>
          <p:cNvSpPr/>
          <p:nvPr/>
        </p:nvSpPr>
        <p:spPr>
          <a:xfrm>
            <a:off x="749808" y="4736592"/>
            <a:ext cx="3246120" cy="868680"/>
          </a:xfrm>
          <a:prstGeom prst="roundRect">
            <a:avLst>
              <a:gd name="adj" fmla="val 8421"/>
            </a:avLst>
          </a:prstGeom>
          <a:solidFill>
            <a:srgbClr val="E4F1EA"/>
          </a:solidFill>
          <a:ln w="10160">
            <a:solidFill>
              <a:srgbClr val="E5D9CD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749808" y="4736592"/>
            <a:ext cx="73152" cy="868680"/>
          </a:xfrm>
          <a:prstGeom prst="rect">
            <a:avLst/>
          </a:prstGeom>
          <a:solidFill>
            <a:srgbClr val="4F8C6B"/>
          </a:solidFill>
          <a:ln w="12700">
            <a:solidFill>
              <a:srgbClr val="4F8C6B">
                <a:alpha val="0"/>
              </a:srgbClr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950976" y="4901184"/>
            <a:ext cx="2926080" cy="22860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20" b="1" dirty="0">
                <a:solidFill>
                  <a:srgbClr val="2A241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非参数检索器</a:t>
            </a:r>
            <a:endParaRPr lang="en-US" sz="1120" dirty="0"/>
          </a:p>
        </p:txBody>
      </p:sp>
      <p:sp>
        <p:nvSpPr>
          <p:cNvPr id="21" name="Text 18"/>
          <p:cNvSpPr/>
          <p:nvPr/>
        </p:nvSpPr>
        <p:spPr>
          <a:xfrm>
            <a:off x="950976" y="5266944"/>
            <a:ext cx="2926080" cy="228600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960" dirty="0">
                <a:solidFill>
                  <a:srgbClr val="6F625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规则、BFS、最短路、k-hop 等，效率高、可解释，但适配复杂语义有限。</a:t>
            </a:r>
            <a:endParaRPr lang="en-US" sz="960" dirty="0"/>
          </a:p>
        </p:txBody>
      </p:sp>
      <p:sp>
        <p:nvSpPr>
          <p:cNvPr id="22" name="Shape 19"/>
          <p:cNvSpPr/>
          <p:nvPr/>
        </p:nvSpPr>
        <p:spPr>
          <a:xfrm>
            <a:off x="4370832" y="4736592"/>
            <a:ext cx="3246120" cy="868680"/>
          </a:xfrm>
          <a:prstGeom prst="roundRect">
            <a:avLst>
              <a:gd name="adj" fmla="val 8421"/>
            </a:avLst>
          </a:prstGeom>
          <a:solidFill>
            <a:srgbClr val="E6EAFD"/>
          </a:solidFill>
          <a:ln w="10160">
            <a:solidFill>
              <a:srgbClr val="E5D9CD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4370832" y="4736592"/>
            <a:ext cx="73152" cy="868680"/>
          </a:xfrm>
          <a:prstGeom prst="rect">
            <a:avLst/>
          </a:prstGeom>
          <a:solidFill>
            <a:srgbClr val="5769F7"/>
          </a:solidFill>
          <a:ln w="12700">
            <a:solidFill>
              <a:srgbClr val="5769F7">
                <a:alpha val="0"/>
              </a:srgbClr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4572000" y="4901184"/>
            <a:ext cx="2926080" cy="22860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20" b="1" dirty="0">
                <a:solidFill>
                  <a:srgbClr val="2A241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LM-based 检索器</a:t>
            </a:r>
            <a:endParaRPr lang="en-US" sz="1120" dirty="0"/>
          </a:p>
        </p:txBody>
      </p:sp>
      <p:sp>
        <p:nvSpPr>
          <p:cNvPr id="25" name="Text 22"/>
          <p:cNvSpPr/>
          <p:nvPr/>
        </p:nvSpPr>
        <p:spPr>
          <a:xfrm>
            <a:off x="4572000" y="5266944"/>
            <a:ext cx="2926080" cy="228600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960" dirty="0">
                <a:solidFill>
                  <a:srgbClr val="6F625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用语言模型或嵌入模型理解查询，适合自然语言语义匹配。</a:t>
            </a:r>
            <a:endParaRPr lang="en-US" sz="960" dirty="0"/>
          </a:p>
        </p:txBody>
      </p:sp>
      <p:sp>
        <p:nvSpPr>
          <p:cNvPr id="26" name="Shape 23"/>
          <p:cNvSpPr/>
          <p:nvPr/>
        </p:nvSpPr>
        <p:spPr>
          <a:xfrm>
            <a:off x="7991856" y="4736592"/>
            <a:ext cx="3246120" cy="868680"/>
          </a:xfrm>
          <a:prstGeom prst="roundRect">
            <a:avLst>
              <a:gd name="adj" fmla="val 8421"/>
            </a:avLst>
          </a:prstGeom>
          <a:solidFill>
            <a:srgbClr val="F6E1D9"/>
          </a:solidFill>
          <a:ln w="10160">
            <a:solidFill>
              <a:srgbClr val="E5D9CD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7991856" y="4736592"/>
            <a:ext cx="73152" cy="868680"/>
          </a:xfrm>
          <a:prstGeom prst="rect">
            <a:avLst/>
          </a:prstGeom>
          <a:solidFill>
            <a:srgbClr val="D77757"/>
          </a:solidFill>
          <a:ln w="12700">
            <a:solidFill>
              <a:srgbClr val="D77757">
                <a:alpha val="0"/>
              </a:srgbClr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8193024" y="4901184"/>
            <a:ext cx="2926080" cy="22860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20" b="1" dirty="0">
                <a:solidFill>
                  <a:srgbClr val="2A241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GNN-based 检索器</a:t>
            </a:r>
            <a:endParaRPr lang="en-US" sz="1120" dirty="0"/>
          </a:p>
        </p:txBody>
      </p:sp>
      <p:sp>
        <p:nvSpPr>
          <p:cNvPr id="29" name="Text 26"/>
          <p:cNvSpPr/>
          <p:nvPr/>
        </p:nvSpPr>
        <p:spPr>
          <a:xfrm>
            <a:off x="8193024" y="5266944"/>
            <a:ext cx="2926080" cy="228600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960" dirty="0">
                <a:solidFill>
                  <a:srgbClr val="6F625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利用图神经网络编码结构信息，适合结构相关性更强的任务。</a:t>
            </a:r>
            <a:endParaRPr lang="en-US" sz="960" dirty="0"/>
          </a:p>
        </p:txBody>
      </p:sp>
      <p:sp>
        <p:nvSpPr>
          <p:cNvPr id="30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601968"/>
            <a:ext cx="800000" cy="300000"/>
          </a:xfrm>
          <a:prstGeom prst="rect">
            <a:avLst/>
          </a:prstGeom>
        </p:spPr>
        <p:txBody>
          <a:bodyPr/>
          <a:lstStyle>
            <a:lvl1pPr>
              <a:defRPr sz="700">
                <a:solidFill>
                  <a:srgbClr val="8A7B7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</a:lstStyle>
          <a:p>
            <a:pPr algn="l"/>
            <a:fld id="{F7021451-1387-4CA6-816F-3879F97B5CBC}" type="slidenum">
              <a:rPr lang="en-US" b="0"/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8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01752"/>
            <a:ext cx="475488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D777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06 粒度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548640" y="530352"/>
            <a:ext cx="10881360" cy="50292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300" b="1" dirty="0">
                <a:solidFill>
                  <a:srgbClr val="2A241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检索粒度：GraphRAG 召回的不一定是文本块</a:t>
            </a:r>
            <a:endParaRPr lang="en-US" sz="2300" dirty="0"/>
          </a:p>
        </p:txBody>
      </p:sp>
      <p:sp>
        <p:nvSpPr>
          <p:cNvPr id="4" name="Shape 2"/>
          <p:cNvSpPr/>
          <p:nvPr/>
        </p:nvSpPr>
        <p:spPr>
          <a:xfrm>
            <a:off x="548640" y="1133856"/>
            <a:ext cx="11064240" cy="0"/>
          </a:xfrm>
          <a:prstGeom prst="line">
            <a:avLst/>
          </a:prstGeom>
          <a:noFill/>
          <a:ln w="12700">
            <a:solidFill>
              <a:srgbClr val="E5D9CD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60120" y="1572768"/>
            <a:ext cx="1965960" cy="914400"/>
          </a:xfrm>
          <a:prstGeom prst="roundRect">
            <a:avLst>
              <a:gd name="adj" fmla="val 8000"/>
            </a:avLst>
          </a:prstGeom>
          <a:solidFill>
            <a:srgbClr val="E4F1EA"/>
          </a:solidFill>
          <a:ln w="7620">
            <a:solidFill>
              <a:srgbClr val="E5D9C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69848" y="1773936"/>
            <a:ext cx="1746504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4F8C6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节点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051560" y="2121408"/>
            <a:ext cx="1783080" cy="12801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40" dirty="0">
                <a:solidFill>
                  <a:srgbClr val="6F625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实体本身</a:t>
            </a:r>
            <a:endParaRPr lang="en-US" sz="840" dirty="0"/>
          </a:p>
        </p:txBody>
      </p:sp>
      <p:sp>
        <p:nvSpPr>
          <p:cNvPr id="8" name="Shape 6"/>
          <p:cNvSpPr/>
          <p:nvPr/>
        </p:nvSpPr>
        <p:spPr>
          <a:xfrm>
            <a:off x="3657600" y="1143000"/>
            <a:ext cx="1965960" cy="914400"/>
          </a:xfrm>
          <a:prstGeom prst="roundRect">
            <a:avLst>
              <a:gd name="adj" fmla="val 8000"/>
            </a:avLst>
          </a:prstGeom>
          <a:solidFill>
            <a:srgbClr val="F7EBCB"/>
          </a:solidFill>
          <a:ln w="7620">
            <a:solidFill>
              <a:srgbClr val="E5D9C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767328" y="1344168"/>
            <a:ext cx="1746504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E8BC5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三元组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3749040" y="1691640"/>
            <a:ext cx="1783080" cy="12801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40" dirty="0">
                <a:solidFill>
                  <a:srgbClr val="6F625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head-relation-tail</a:t>
            </a:r>
            <a:endParaRPr lang="en-US" sz="840" dirty="0"/>
          </a:p>
        </p:txBody>
      </p:sp>
      <p:sp>
        <p:nvSpPr>
          <p:cNvPr id="11" name="Shape 9"/>
          <p:cNvSpPr/>
          <p:nvPr/>
        </p:nvSpPr>
        <p:spPr>
          <a:xfrm>
            <a:off x="6446520" y="1143000"/>
            <a:ext cx="1965960" cy="914400"/>
          </a:xfrm>
          <a:prstGeom prst="roundRect">
            <a:avLst>
              <a:gd name="adj" fmla="val 8000"/>
            </a:avLst>
          </a:prstGeom>
          <a:solidFill>
            <a:srgbClr val="E6EAFD"/>
          </a:solidFill>
          <a:ln w="7620">
            <a:solidFill>
              <a:srgbClr val="E5D9C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556248" y="1344168"/>
            <a:ext cx="1746504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5769F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路径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6537960" y="1691640"/>
            <a:ext cx="1783080" cy="12801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40" dirty="0">
                <a:solidFill>
                  <a:srgbClr val="6F625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多跳推理链</a:t>
            </a:r>
            <a:endParaRPr lang="en-US" sz="840" dirty="0"/>
          </a:p>
        </p:txBody>
      </p:sp>
      <p:sp>
        <p:nvSpPr>
          <p:cNvPr id="14" name="Shape 12"/>
          <p:cNvSpPr/>
          <p:nvPr/>
        </p:nvSpPr>
        <p:spPr>
          <a:xfrm>
            <a:off x="9144000" y="1572768"/>
            <a:ext cx="1965960" cy="914400"/>
          </a:xfrm>
          <a:prstGeom prst="roundRect">
            <a:avLst>
              <a:gd name="adj" fmla="val 8000"/>
            </a:avLst>
          </a:prstGeom>
          <a:solidFill>
            <a:srgbClr val="F6E1D9"/>
          </a:solidFill>
          <a:ln w="7620">
            <a:solidFill>
              <a:srgbClr val="E5D9C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253728" y="1773936"/>
            <a:ext cx="1746504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D777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子图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9235440" y="2121408"/>
            <a:ext cx="1783080" cy="12801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40" dirty="0">
                <a:solidFill>
                  <a:srgbClr val="6F625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局部关系网络</a:t>
            </a:r>
            <a:endParaRPr lang="en-US" sz="840" dirty="0"/>
          </a:p>
        </p:txBody>
      </p:sp>
      <p:sp>
        <p:nvSpPr>
          <p:cNvPr id="17" name="Shape 15"/>
          <p:cNvSpPr/>
          <p:nvPr/>
        </p:nvSpPr>
        <p:spPr>
          <a:xfrm>
            <a:off x="4800600" y="4892040"/>
            <a:ext cx="1965960" cy="914400"/>
          </a:xfrm>
          <a:prstGeom prst="roundRect">
            <a:avLst>
              <a:gd name="adj" fmla="val 8000"/>
            </a:avLst>
          </a:prstGeom>
          <a:solidFill>
            <a:srgbClr val="EFE7DD"/>
          </a:solidFill>
          <a:ln w="7620">
            <a:solidFill>
              <a:srgbClr val="E5D9C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910328" y="5093208"/>
            <a:ext cx="1746504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8A7B7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混合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4892040" y="5440680"/>
            <a:ext cx="1783080" cy="12801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40" dirty="0">
                <a:solidFill>
                  <a:srgbClr val="6F625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节点+边+文本</a:t>
            </a:r>
            <a:endParaRPr lang="en-US" sz="840" dirty="0"/>
          </a:p>
        </p:txBody>
      </p:sp>
      <p:sp>
        <p:nvSpPr>
          <p:cNvPr id="20" name="Shape 18"/>
          <p:cNvSpPr/>
          <p:nvPr/>
        </p:nvSpPr>
        <p:spPr>
          <a:xfrm>
            <a:off x="5084064" y="2770632"/>
            <a:ext cx="2011680" cy="1325880"/>
          </a:xfrm>
          <a:prstGeom prst="ellipse">
            <a:avLst/>
          </a:prstGeom>
          <a:solidFill>
            <a:srgbClr val="FFFFFF"/>
          </a:solidFill>
          <a:ln w="15240">
            <a:solidFill>
              <a:srgbClr val="D77757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449824" y="3264408"/>
            <a:ext cx="128016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50" b="1" dirty="0">
                <a:solidFill>
                  <a:srgbClr val="2A241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查询 q</a:t>
            </a:r>
            <a:endParaRPr lang="en-US" sz="1650" dirty="0"/>
          </a:p>
        </p:txBody>
      </p:sp>
      <p:sp>
        <p:nvSpPr>
          <p:cNvPr id="27" name="Text 25"/>
          <p:cNvSpPr/>
          <p:nvPr/>
        </p:nvSpPr>
        <p:spPr>
          <a:xfrm>
            <a:off x="841248" y="4645152"/>
            <a:ext cx="310896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A241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选择粒度时的 trade-off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868680" y="5010912"/>
            <a:ext cx="10332720" cy="731520"/>
          </a:xfrm>
          <a:prstGeom prst="rect">
            <a:avLst/>
          </a:prstGeom>
          <a:noFill/>
        </p:spPr>
        <p:txBody>
          <a:bodyPr wrap="square" lIns="762" tIns="762" rIns="762" bIns="762" rtlCol="0" anchor="t">
            <a:normAutofit/>
          </a:bodyPr>
          <a:lstStyle/>
          <a:p>
            <a:pPr marL="127000" indent="-127000">
              <a:buSzPct val="100000"/>
              <a:buChar char="•"/>
            </a:pPr>
            <a:r>
              <a:rPr lang="en-US" sz="1130" dirty="0">
                <a:solidFill>
                  <a:srgbClr val="2A241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粒度越小，召回更精确，但上下文可能不完整。</a:t>
            </a:r>
            <a:endParaRPr lang="en-US" sz="1130" dirty="0"/>
          </a:p>
          <a:p>
            <a:pPr marL="127000" indent="-127000">
              <a:buSzPct val="100000"/>
              <a:buChar char="•"/>
            </a:pPr>
            <a:r>
              <a:rPr lang="en-US" sz="1130" dirty="0">
                <a:solidFill>
                  <a:srgbClr val="2A241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粒度越大，信息更丰富，但噪声和 token 成本更高。</a:t>
            </a:r>
            <a:endParaRPr lang="en-US" sz="1130" dirty="0"/>
          </a:p>
          <a:p>
            <a:pPr marL="127000" indent="-127000">
              <a:buSzPct val="100000"/>
              <a:buChar char="•"/>
            </a:pPr>
            <a:r>
              <a:rPr lang="en-US" sz="1130" dirty="0">
                <a:solidFill>
                  <a:srgbClr val="2A241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实际系统常用混合策略：先粗召回，再扩展/剪枝。</a:t>
            </a:r>
            <a:endParaRPr lang="en-US" sz="1130" dirty="0"/>
          </a:p>
        </p:txBody>
      </p:sp>
      <p:sp>
        <p:nvSpPr>
          <p:cNvPr id="29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601968"/>
            <a:ext cx="800000" cy="300000"/>
          </a:xfrm>
          <a:prstGeom prst="rect">
            <a:avLst/>
          </a:prstGeom>
        </p:spPr>
        <p:txBody>
          <a:bodyPr/>
          <a:lstStyle>
            <a:lvl1pPr>
              <a:defRPr sz="700">
                <a:solidFill>
                  <a:srgbClr val="8A7B7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</a:lstStyle>
          <a:p>
            <a:pPr algn="l"/>
            <a:fld id="{F7021451-1387-4CA6-816F-3879F97B5CBC}" type="slidenum">
              <a:rPr lang="en-US" b="0"/>
            </a:fld>
            <a:endParaRPr lang="en-US"/>
          </a:p>
        </p:txBody>
      </p:sp>
      <p:cxnSp>
        <p:nvCxnSpPr>
          <p:cNvPr id="30" name="FixedArrow_Query_to_Node"/>
          <p:cNvCxnSpPr/>
          <p:nvPr/>
        </p:nvCxnSpPr>
        <p:spPr>
          <a:xfrm>
            <a:off x="2926080" y="2029460"/>
            <a:ext cx="2329180" cy="1033145"/>
          </a:xfrm>
          <a:prstGeom prst="line">
            <a:avLst/>
          </a:prstGeom>
          <a:ln w="19050">
            <a:solidFill>
              <a:srgbClr val="5A6576"/>
            </a:solidFill>
            <a:headEnd type="arrow"/>
            <a:tailEnd type="none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31" name="FixedArrow_Query_to_Triplet"/>
          <p:cNvCxnSpPr/>
          <p:nvPr/>
        </p:nvCxnSpPr>
        <p:spPr>
          <a:xfrm>
            <a:off x="4640580" y="2057400"/>
            <a:ext cx="875665" cy="831215"/>
          </a:xfrm>
          <a:prstGeom prst="line">
            <a:avLst/>
          </a:prstGeom>
          <a:ln w="19050">
            <a:solidFill>
              <a:srgbClr val="5A6576"/>
            </a:solidFill>
            <a:headEnd type="arrow"/>
            <a:tailEnd type="none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32" name="FixedArrow_Query_to_Path"/>
          <p:cNvCxnSpPr/>
          <p:nvPr/>
        </p:nvCxnSpPr>
        <p:spPr>
          <a:xfrm flipH="1">
            <a:off x="6089650" y="2057400"/>
            <a:ext cx="1339850" cy="713105"/>
          </a:xfrm>
          <a:prstGeom prst="line">
            <a:avLst/>
          </a:prstGeom>
          <a:ln w="19050">
            <a:solidFill>
              <a:srgbClr val="5A6576"/>
            </a:solidFill>
            <a:headEnd type="arrow"/>
            <a:tailEnd type="none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33" name="FixedArrow_Query_to_Subgraph"/>
          <p:cNvCxnSpPr>
            <a:endCxn id="20" idx="7"/>
          </p:cNvCxnSpPr>
          <p:nvPr/>
        </p:nvCxnSpPr>
        <p:spPr>
          <a:xfrm flipH="1">
            <a:off x="6800850" y="2029460"/>
            <a:ext cx="2343150" cy="935355"/>
          </a:xfrm>
          <a:prstGeom prst="line">
            <a:avLst/>
          </a:prstGeom>
          <a:ln w="19050">
            <a:solidFill>
              <a:srgbClr val="5A6576"/>
            </a:solidFill>
            <a:headEnd type="arrow"/>
            <a:tailEnd type="none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34" name="FixedArrow_Query_to_Hybrid"/>
          <p:cNvCxnSpPr>
            <a:stCxn id="20" idx="4"/>
            <a:endCxn id="17" idx="0"/>
          </p:cNvCxnSpPr>
          <p:nvPr/>
        </p:nvCxnSpPr>
        <p:spPr>
          <a:xfrm flipH="1">
            <a:off x="5783580" y="4096385"/>
            <a:ext cx="306070" cy="795655"/>
          </a:xfrm>
          <a:prstGeom prst="line">
            <a:avLst/>
          </a:prstGeom>
          <a:ln w="19050">
            <a:solidFill>
              <a:srgbClr val="5A6576"/>
            </a:solidFill>
            <a:headEnd type="arrow"/>
            <a:tailEnd type="none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8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01752"/>
            <a:ext cx="475488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D777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07 G-Generation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548640" y="530352"/>
            <a:ext cx="10881360" cy="50292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300" b="1" dirty="0">
                <a:solidFill>
                  <a:srgbClr val="2A241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图增强生成：把图证据翻译成模型可用上下文</a:t>
            </a:r>
            <a:endParaRPr lang="en-US" sz="2300" dirty="0"/>
          </a:p>
        </p:txBody>
      </p:sp>
      <p:sp>
        <p:nvSpPr>
          <p:cNvPr id="4" name="Shape 2"/>
          <p:cNvSpPr/>
          <p:nvPr/>
        </p:nvSpPr>
        <p:spPr>
          <a:xfrm>
            <a:off x="548640" y="1133856"/>
            <a:ext cx="11064240" cy="0"/>
          </a:xfrm>
          <a:prstGeom prst="line">
            <a:avLst/>
          </a:prstGeom>
          <a:noFill/>
          <a:ln w="12700">
            <a:solidFill>
              <a:srgbClr val="E5D9CD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58368" y="1371600"/>
            <a:ext cx="5715000" cy="1874520"/>
          </a:xfrm>
          <a:prstGeom prst="roundRect">
            <a:avLst>
              <a:gd name="adj" fmla="val 2927"/>
            </a:avLst>
          </a:prstGeom>
          <a:solidFill>
            <a:srgbClr val="FFFFFF"/>
          </a:solidFill>
          <a:ln w="11430">
            <a:solidFill>
              <a:srgbClr val="E5D9CD"/>
            </a:solidFill>
            <a:prstDash val="solid"/>
          </a:ln>
        </p:spPr>
      </p:sp>
      <p:pic>
        <p:nvPicPr>
          <p:cNvPr id="6" name="Image 0" descr="C:\Users\86136\AppData\Local\Temp\graphrag_crops_v2\fig5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8096" y="1481328"/>
            <a:ext cx="5495544" cy="149047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22960" y="3017520"/>
            <a:ext cx="5385816" cy="12801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20" dirty="0">
                <a:solidFill>
                  <a:srgbClr val="8A7B7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原文 Fig.5：图增强生成流程</a:t>
            </a:r>
            <a:endParaRPr lang="en-US" sz="720" dirty="0"/>
          </a:p>
        </p:txBody>
      </p:sp>
      <p:sp>
        <p:nvSpPr>
          <p:cNvPr id="8" name="Text 5"/>
          <p:cNvSpPr/>
          <p:nvPr/>
        </p:nvSpPr>
        <p:spPr>
          <a:xfrm>
            <a:off x="6784848" y="1353312"/>
            <a:ext cx="402336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30" b="1" dirty="0">
                <a:solidFill>
                  <a:srgbClr val="2A241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生成阶段关注三件事</a:t>
            </a:r>
            <a:endParaRPr lang="en-US" sz="1530" dirty="0"/>
          </a:p>
        </p:txBody>
      </p:sp>
      <p:sp>
        <p:nvSpPr>
          <p:cNvPr id="9" name="Text 6"/>
          <p:cNvSpPr/>
          <p:nvPr/>
        </p:nvSpPr>
        <p:spPr>
          <a:xfrm>
            <a:off x="6812280" y="1764792"/>
            <a:ext cx="4526280" cy="1325880"/>
          </a:xfrm>
          <a:prstGeom prst="rect">
            <a:avLst/>
          </a:prstGeom>
          <a:noFill/>
        </p:spPr>
        <p:txBody>
          <a:bodyPr wrap="square" lIns="762" tIns="762" rIns="762" bIns="762" rtlCol="0" anchor="t">
            <a:normAutofit/>
          </a:bodyPr>
          <a:lstStyle/>
          <a:p>
            <a:pPr marL="127000" indent="-127000">
              <a:buSzPct val="100000"/>
              <a:buChar char="•"/>
            </a:pPr>
            <a:r>
              <a:rPr lang="en-US" sz="1220" dirty="0">
                <a:solidFill>
                  <a:srgbClr val="2A241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选生成器：GNN、语言模型、或二者结合。</a:t>
            </a:r>
            <a:endParaRPr lang="en-US" sz="1220" dirty="0"/>
          </a:p>
          <a:p>
            <a:pPr marL="127000" indent="-127000">
              <a:buSzPct val="100000"/>
              <a:buChar char="•"/>
            </a:pPr>
            <a:r>
              <a:rPr lang="en-US" sz="1220" dirty="0">
                <a:solidFill>
                  <a:srgbClr val="2A241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转图格式：邻接/边表、自然语言、节点序列、代码式表达、语法树、图嵌入。</a:t>
            </a:r>
            <a:endParaRPr lang="en-US" sz="1220" dirty="0"/>
          </a:p>
          <a:p>
            <a:pPr marL="127000" indent="-127000">
              <a:buSzPct val="100000"/>
              <a:buChar char="•"/>
            </a:pPr>
            <a:r>
              <a:rPr lang="en-US" sz="1220" dirty="0">
                <a:solidFill>
                  <a:srgbClr val="2A241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做增强：生成前增强、生成中交互、生成后校验/修正。</a:t>
            </a:r>
            <a:endParaRPr lang="en-US" sz="1220" dirty="0"/>
          </a:p>
        </p:txBody>
      </p:sp>
      <p:sp>
        <p:nvSpPr>
          <p:cNvPr id="10" name="Text 7"/>
          <p:cNvSpPr/>
          <p:nvPr/>
        </p:nvSpPr>
        <p:spPr>
          <a:xfrm>
            <a:off x="713232" y="3858768"/>
            <a:ext cx="402336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30" b="1" dirty="0">
                <a:solidFill>
                  <a:srgbClr val="2A241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中文重绘：从结构证据到答案</a:t>
            </a:r>
            <a:endParaRPr lang="en-US" sz="1530" dirty="0"/>
          </a:p>
        </p:txBody>
      </p:sp>
      <p:sp>
        <p:nvSpPr>
          <p:cNvPr id="11" name="Shape 8"/>
          <p:cNvSpPr/>
          <p:nvPr/>
        </p:nvSpPr>
        <p:spPr>
          <a:xfrm>
            <a:off x="822960" y="4434840"/>
            <a:ext cx="1828800" cy="868680"/>
          </a:xfrm>
          <a:prstGeom prst="roundRect">
            <a:avLst>
              <a:gd name="adj" fmla="val 8421"/>
            </a:avLst>
          </a:prstGeom>
          <a:solidFill>
            <a:srgbClr val="E4F1EA"/>
          </a:solidFill>
          <a:ln w="7620">
            <a:solidFill>
              <a:srgbClr val="E5D9CD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932688" y="4645152"/>
            <a:ext cx="1609344" cy="18288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320" b="1" dirty="0">
                <a:solidFill>
                  <a:srgbClr val="4F8C6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检索结果</a:t>
            </a:r>
            <a:endParaRPr lang="en-US" sz="1320" dirty="0"/>
          </a:p>
        </p:txBody>
      </p:sp>
      <p:sp>
        <p:nvSpPr>
          <p:cNvPr id="13" name="Text 10"/>
          <p:cNvSpPr/>
          <p:nvPr/>
        </p:nvSpPr>
        <p:spPr>
          <a:xfrm>
            <a:off x="914400" y="4965192"/>
            <a:ext cx="1645920" cy="11887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80" dirty="0">
                <a:solidFill>
                  <a:srgbClr val="6F625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节点 / 边 / 路径 / 子图</a:t>
            </a:r>
            <a:endParaRPr lang="en-US" sz="780" dirty="0"/>
          </a:p>
        </p:txBody>
      </p:sp>
      <p:sp>
        <p:nvSpPr>
          <p:cNvPr id="15" name="Shape 12"/>
          <p:cNvSpPr/>
          <p:nvPr/>
        </p:nvSpPr>
        <p:spPr>
          <a:xfrm>
            <a:off x="3337560" y="4434840"/>
            <a:ext cx="1828800" cy="868680"/>
          </a:xfrm>
          <a:prstGeom prst="roundRect">
            <a:avLst>
              <a:gd name="adj" fmla="val 8421"/>
            </a:avLst>
          </a:prstGeom>
          <a:solidFill>
            <a:srgbClr val="E6EAFD"/>
          </a:solidFill>
          <a:ln w="7620">
            <a:solidFill>
              <a:srgbClr val="E5D9CD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3447288" y="4645152"/>
            <a:ext cx="1609344" cy="18288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320" b="1" dirty="0">
                <a:solidFill>
                  <a:srgbClr val="5769F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格式转换</a:t>
            </a:r>
            <a:endParaRPr lang="en-US" sz="1320" dirty="0"/>
          </a:p>
        </p:txBody>
      </p:sp>
      <p:sp>
        <p:nvSpPr>
          <p:cNvPr id="17" name="Text 14"/>
          <p:cNvSpPr/>
          <p:nvPr/>
        </p:nvSpPr>
        <p:spPr>
          <a:xfrm>
            <a:off x="3429000" y="4965192"/>
            <a:ext cx="1645920" cy="11887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80" dirty="0">
                <a:solidFill>
                  <a:srgbClr val="6F625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图语言 / 自然语言 / 嵌入</a:t>
            </a:r>
            <a:endParaRPr lang="en-US" sz="780" dirty="0"/>
          </a:p>
        </p:txBody>
      </p:sp>
      <p:sp>
        <p:nvSpPr>
          <p:cNvPr id="19" name="Shape 16"/>
          <p:cNvSpPr/>
          <p:nvPr/>
        </p:nvSpPr>
        <p:spPr>
          <a:xfrm>
            <a:off x="5852160" y="4434840"/>
            <a:ext cx="1828800" cy="868680"/>
          </a:xfrm>
          <a:prstGeom prst="roundRect">
            <a:avLst>
              <a:gd name="adj" fmla="val 8421"/>
            </a:avLst>
          </a:prstGeom>
          <a:solidFill>
            <a:srgbClr val="F7EBCB"/>
          </a:solidFill>
          <a:ln w="7620">
            <a:solidFill>
              <a:srgbClr val="E5D9CD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5961888" y="4645152"/>
            <a:ext cx="1609344" cy="18288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320" b="1" dirty="0">
                <a:solidFill>
                  <a:srgbClr val="E8BC5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生成器</a:t>
            </a:r>
            <a:endParaRPr lang="en-US" sz="1320" dirty="0"/>
          </a:p>
        </p:txBody>
      </p:sp>
      <p:sp>
        <p:nvSpPr>
          <p:cNvPr id="21" name="Text 18"/>
          <p:cNvSpPr/>
          <p:nvPr/>
        </p:nvSpPr>
        <p:spPr>
          <a:xfrm>
            <a:off x="5943600" y="4965192"/>
            <a:ext cx="1645920" cy="11887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80" dirty="0">
                <a:solidFill>
                  <a:srgbClr val="6F625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LLM / GNN / Hybrid</a:t>
            </a:r>
            <a:endParaRPr lang="en-US" sz="780" dirty="0"/>
          </a:p>
        </p:txBody>
      </p:sp>
      <p:sp>
        <p:nvSpPr>
          <p:cNvPr id="23" name="Shape 20"/>
          <p:cNvSpPr/>
          <p:nvPr/>
        </p:nvSpPr>
        <p:spPr>
          <a:xfrm>
            <a:off x="8366760" y="4434840"/>
            <a:ext cx="1828800" cy="868680"/>
          </a:xfrm>
          <a:prstGeom prst="roundRect">
            <a:avLst>
              <a:gd name="adj" fmla="val 8421"/>
            </a:avLst>
          </a:prstGeom>
          <a:solidFill>
            <a:srgbClr val="F6E1D9"/>
          </a:solidFill>
          <a:ln w="7620">
            <a:solidFill>
              <a:srgbClr val="E5D9CD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8476488" y="4645152"/>
            <a:ext cx="1609344" cy="18288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320" b="1" dirty="0">
                <a:solidFill>
                  <a:srgbClr val="D777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答案输出</a:t>
            </a:r>
            <a:endParaRPr lang="en-US" sz="1320" dirty="0"/>
          </a:p>
        </p:txBody>
      </p:sp>
      <p:sp>
        <p:nvSpPr>
          <p:cNvPr id="25" name="Text 22"/>
          <p:cNvSpPr/>
          <p:nvPr/>
        </p:nvSpPr>
        <p:spPr>
          <a:xfrm>
            <a:off x="8458200" y="4965192"/>
            <a:ext cx="1645920" cy="11887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80" dirty="0">
                <a:solidFill>
                  <a:srgbClr val="6F625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更准确、更可解释</a:t>
            </a:r>
            <a:endParaRPr lang="en-US" sz="780" dirty="0"/>
          </a:p>
        </p:txBody>
      </p:sp>
      <p:sp>
        <p:nvSpPr>
          <p:cNvPr id="26" name="Text 23"/>
          <p:cNvSpPr/>
          <p:nvPr/>
        </p:nvSpPr>
        <p:spPr>
          <a:xfrm>
            <a:off x="822960" y="5742432"/>
            <a:ext cx="10469880" cy="22860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60" b="1" dirty="0">
                <a:solidFill>
                  <a:srgbClr val="D777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精读提示：GraphRAG 的生成质量很大程度取决于“图到文本/图到提示词”的表达是否保留了关键关系。</a:t>
            </a:r>
            <a:endParaRPr lang="en-US" sz="1060" dirty="0"/>
          </a:p>
        </p:txBody>
      </p:sp>
      <p:sp>
        <p:nvSpPr>
          <p:cNvPr id="27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601968"/>
            <a:ext cx="800000" cy="300000"/>
          </a:xfrm>
          <a:prstGeom prst="rect">
            <a:avLst/>
          </a:prstGeom>
        </p:spPr>
        <p:txBody>
          <a:bodyPr/>
          <a:lstStyle>
            <a:lvl1pPr>
              <a:defRPr sz="700">
                <a:solidFill>
                  <a:srgbClr val="8A7B7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</a:lstStyle>
          <a:p>
            <a:pPr algn="l"/>
            <a:fld id="{F7021451-1387-4CA6-816F-3879F97B5CBC}" type="slidenum">
              <a:rPr lang="en-US" b="0"/>
            </a:fld>
            <a:endParaRPr lang="en-US"/>
          </a:p>
        </p:txBody>
      </p:sp>
      <p:cxnSp>
        <p:nvCxnSpPr>
          <p:cNvPr id="28" name="FixedArrow_Result_to_Format"/>
          <p:cNvCxnSpPr/>
          <p:nvPr/>
        </p:nvCxnSpPr>
        <p:spPr>
          <a:xfrm>
            <a:off x="2651760" y="4869180"/>
            <a:ext cx="685800" cy="635"/>
          </a:xfrm>
          <a:prstGeom prst="line">
            <a:avLst/>
          </a:prstGeom>
          <a:ln w="19050">
            <a:solidFill>
              <a:srgbClr val="5A6576"/>
            </a:solidFill>
            <a:headEnd type="none"/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9" name="FixedArrow_Format_to_Generator"/>
          <p:cNvCxnSpPr/>
          <p:nvPr/>
        </p:nvCxnSpPr>
        <p:spPr>
          <a:xfrm>
            <a:off x="5166360" y="4869180"/>
            <a:ext cx="685800" cy="635"/>
          </a:xfrm>
          <a:prstGeom prst="line">
            <a:avLst/>
          </a:prstGeom>
          <a:ln w="19050">
            <a:solidFill>
              <a:srgbClr val="5A6576"/>
            </a:solidFill>
            <a:headEnd type="none"/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30" name="FixedArrow_Generator_to_Output"/>
          <p:cNvCxnSpPr/>
          <p:nvPr/>
        </p:nvCxnSpPr>
        <p:spPr>
          <a:xfrm>
            <a:off x="7680960" y="4869180"/>
            <a:ext cx="685800" cy="635"/>
          </a:xfrm>
          <a:prstGeom prst="line">
            <a:avLst/>
          </a:prstGeom>
          <a:ln w="19050">
            <a:solidFill>
              <a:srgbClr val="5A6576"/>
            </a:solidFill>
            <a:headEnd type="none"/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8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01752"/>
            <a:ext cx="475488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D777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08 训练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548640" y="530352"/>
            <a:ext cx="10881360" cy="50292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300" b="1" dirty="0">
                <a:solidFill>
                  <a:srgbClr val="2A241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训练策略：从 Prompt 编排到端到端优化</a:t>
            </a:r>
            <a:endParaRPr lang="en-US" sz="2300" dirty="0"/>
          </a:p>
        </p:txBody>
      </p:sp>
      <p:sp>
        <p:nvSpPr>
          <p:cNvPr id="4" name="Shape 2"/>
          <p:cNvSpPr/>
          <p:nvPr/>
        </p:nvSpPr>
        <p:spPr>
          <a:xfrm>
            <a:off x="548640" y="1133856"/>
            <a:ext cx="11064240" cy="0"/>
          </a:xfrm>
          <a:prstGeom prst="line">
            <a:avLst/>
          </a:prstGeom>
          <a:noFill/>
          <a:ln w="12700">
            <a:solidFill>
              <a:srgbClr val="E5D9C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85800" y="1417320"/>
            <a:ext cx="123444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D777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策略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2240280" y="1417320"/>
            <a:ext cx="297180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D777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做法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5532120" y="1417320"/>
            <a:ext cx="233172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D777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优点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8302752" y="1417320"/>
            <a:ext cx="269748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D777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代价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566928" y="1737360"/>
            <a:ext cx="11064240" cy="960120"/>
          </a:xfrm>
          <a:prstGeom prst="roundRect">
            <a:avLst>
              <a:gd name="adj" fmla="val 4762"/>
            </a:avLst>
          </a:prstGeom>
          <a:solidFill>
            <a:srgbClr val="E4F1EA"/>
          </a:solidFill>
          <a:ln w="6350">
            <a:solidFill>
              <a:srgbClr val="E5D9C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85800" y="1874520"/>
            <a:ext cx="1234440" cy="566928"/>
          </a:xfrm>
          <a:prstGeom prst="rect">
            <a:avLst/>
          </a:prstGeom>
          <a:noFill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320" b="1" dirty="0">
                <a:solidFill>
                  <a:srgbClr val="2A241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免训练</a:t>
            </a:r>
            <a:endParaRPr lang="en-US" sz="1320" dirty="0"/>
          </a:p>
        </p:txBody>
      </p:sp>
      <p:sp>
        <p:nvSpPr>
          <p:cNvPr id="11" name="Text 9"/>
          <p:cNvSpPr/>
          <p:nvPr/>
        </p:nvSpPr>
        <p:spPr>
          <a:xfrm>
            <a:off x="2240280" y="1874520"/>
            <a:ext cx="2971800" cy="566928"/>
          </a:xfrm>
          <a:prstGeom prst="rect">
            <a:avLst/>
          </a:prstGeom>
          <a:noFill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980" dirty="0">
                <a:solidFill>
                  <a:srgbClr val="6F625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用闭源 LLM、规则检索或预训练嵌入直接完成检索/生成</a:t>
            </a:r>
            <a:endParaRPr lang="en-US" sz="980" dirty="0"/>
          </a:p>
        </p:txBody>
      </p:sp>
      <p:sp>
        <p:nvSpPr>
          <p:cNvPr id="12" name="Text 10"/>
          <p:cNvSpPr/>
          <p:nvPr/>
        </p:nvSpPr>
        <p:spPr>
          <a:xfrm>
            <a:off x="5532120" y="1874520"/>
            <a:ext cx="2331720" cy="566928"/>
          </a:xfrm>
          <a:prstGeom prst="rect">
            <a:avLst/>
          </a:prstGeom>
          <a:noFill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980" dirty="0">
                <a:solidFill>
                  <a:srgbClr val="6F625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工程启动快，适合原型和通用任务</a:t>
            </a:r>
            <a:endParaRPr lang="en-US" sz="980" dirty="0"/>
          </a:p>
        </p:txBody>
      </p:sp>
      <p:sp>
        <p:nvSpPr>
          <p:cNvPr id="13" name="Text 11"/>
          <p:cNvSpPr/>
          <p:nvPr/>
        </p:nvSpPr>
        <p:spPr>
          <a:xfrm>
            <a:off x="8302752" y="1874520"/>
            <a:ext cx="2697480" cy="566928"/>
          </a:xfrm>
          <a:prstGeom prst="rect">
            <a:avLst/>
          </a:prstGeom>
          <a:noFill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980" dirty="0">
                <a:solidFill>
                  <a:srgbClr val="6F625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缺少任务定制，效果可能不是最优</a:t>
            </a:r>
            <a:endParaRPr lang="en-US" sz="980" dirty="0"/>
          </a:p>
        </p:txBody>
      </p:sp>
      <p:sp>
        <p:nvSpPr>
          <p:cNvPr id="14" name="Shape 12"/>
          <p:cNvSpPr/>
          <p:nvPr/>
        </p:nvSpPr>
        <p:spPr>
          <a:xfrm>
            <a:off x="566928" y="2971800"/>
            <a:ext cx="11064240" cy="960120"/>
          </a:xfrm>
          <a:prstGeom prst="roundRect">
            <a:avLst>
              <a:gd name="adj" fmla="val 4762"/>
            </a:avLst>
          </a:prstGeom>
          <a:solidFill>
            <a:srgbClr val="E6EAFD"/>
          </a:solidFill>
          <a:ln w="6350">
            <a:solidFill>
              <a:srgbClr val="E5D9C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85800" y="3108960"/>
            <a:ext cx="1234440" cy="566928"/>
          </a:xfrm>
          <a:prstGeom prst="rect">
            <a:avLst/>
          </a:prstGeom>
          <a:noFill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320" b="1" dirty="0">
                <a:solidFill>
                  <a:srgbClr val="2A241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单独训练</a:t>
            </a:r>
            <a:endParaRPr lang="en-US" sz="1320" dirty="0"/>
          </a:p>
        </p:txBody>
      </p:sp>
      <p:sp>
        <p:nvSpPr>
          <p:cNvPr id="16" name="Text 14"/>
          <p:cNvSpPr/>
          <p:nvPr/>
        </p:nvSpPr>
        <p:spPr>
          <a:xfrm>
            <a:off x="2240280" y="3108960"/>
            <a:ext cx="2971800" cy="566928"/>
          </a:xfrm>
          <a:prstGeom prst="rect">
            <a:avLst/>
          </a:prstGeom>
          <a:noFill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980" dirty="0">
                <a:solidFill>
                  <a:srgbClr val="6F625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分别训练检索器或生成器，例如监督式检索、排序、微调生成器</a:t>
            </a:r>
            <a:endParaRPr lang="en-US" sz="980" dirty="0"/>
          </a:p>
        </p:txBody>
      </p:sp>
      <p:sp>
        <p:nvSpPr>
          <p:cNvPr id="17" name="Text 15"/>
          <p:cNvSpPr/>
          <p:nvPr/>
        </p:nvSpPr>
        <p:spPr>
          <a:xfrm>
            <a:off x="5532120" y="3108960"/>
            <a:ext cx="2331720" cy="566928"/>
          </a:xfrm>
          <a:prstGeom prst="rect">
            <a:avLst/>
          </a:prstGeom>
          <a:noFill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980" dirty="0">
                <a:solidFill>
                  <a:srgbClr val="6F625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可针对任务优化单个模块</a:t>
            </a:r>
            <a:endParaRPr lang="en-US" sz="980" dirty="0"/>
          </a:p>
        </p:txBody>
      </p:sp>
      <p:sp>
        <p:nvSpPr>
          <p:cNvPr id="18" name="Text 16"/>
          <p:cNvSpPr/>
          <p:nvPr/>
        </p:nvSpPr>
        <p:spPr>
          <a:xfrm>
            <a:off x="8302752" y="3108960"/>
            <a:ext cx="2697480" cy="566928"/>
          </a:xfrm>
          <a:prstGeom prst="rect">
            <a:avLst/>
          </a:prstGeom>
          <a:noFill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980" dirty="0">
                <a:solidFill>
                  <a:srgbClr val="6F625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模块间目标可能不一致</a:t>
            </a:r>
            <a:endParaRPr lang="en-US" sz="980" dirty="0"/>
          </a:p>
        </p:txBody>
      </p:sp>
      <p:sp>
        <p:nvSpPr>
          <p:cNvPr id="19" name="Shape 17"/>
          <p:cNvSpPr/>
          <p:nvPr/>
        </p:nvSpPr>
        <p:spPr>
          <a:xfrm>
            <a:off x="566928" y="4206240"/>
            <a:ext cx="11064240" cy="960120"/>
          </a:xfrm>
          <a:prstGeom prst="roundRect">
            <a:avLst>
              <a:gd name="adj" fmla="val 4762"/>
            </a:avLst>
          </a:prstGeom>
          <a:solidFill>
            <a:srgbClr val="F6E1D9"/>
          </a:solidFill>
          <a:ln w="6350">
            <a:solidFill>
              <a:srgbClr val="E5D9CD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85800" y="4343400"/>
            <a:ext cx="1234440" cy="566928"/>
          </a:xfrm>
          <a:prstGeom prst="rect">
            <a:avLst/>
          </a:prstGeom>
          <a:noFill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320" b="1" dirty="0">
                <a:solidFill>
                  <a:srgbClr val="2A241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联合训练</a:t>
            </a:r>
            <a:endParaRPr lang="en-US" sz="1320" dirty="0"/>
          </a:p>
        </p:txBody>
      </p:sp>
      <p:sp>
        <p:nvSpPr>
          <p:cNvPr id="21" name="Text 19"/>
          <p:cNvSpPr/>
          <p:nvPr/>
        </p:nvSpPr>
        <p:spPr>
          <a:xfrm>
            <a:off x="2240280" y="4343400"/>
            <a:ext cx="2971800" cy="566928"/>
          </a:xfrm>
          <a:prstGeom prst="rect">
            <a:avLst/>
          </a:prstGeom>
          <a:noFill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980" dirty="0">
                <a:solidFill>
                  <a:srgbClr val="6F625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同时优化检索器与生成器，让召回证据更服务最终答案</a:t>
            </a:r>
            <a:endParaRPr lang="en-US" sz="980" dirty="0"/>
          </a:p>
        </p:txBody>
      </p:sp>
      <p:sp>
        <p:nvSpPr>
          <p:cNvPr id="22" name="Text 20"/>
          <p:cNvSpPr/>
          <p:nvPr/>
        </p:nvSpPr>
        <p:spPr>
          <a:xfrm>
            <a:off x="5532120" y="4343400"/>
            <a:ext cx="2331720" cy="566928"/>
          </a:xfrm>
          <a:prstGeom prst="rect">
            <a:avLst/>
          </a:prstGeom>
          <a:noFill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980" dirty="0">
                <a:solidFill>
                  <a:srgbClr val="6F625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端到端效果潜力更高</a:t>
            </a:r>
            <a:endParaRPr lang="en-US" sz="980" dirty="0"/>
          </a:p>
        </p:txBody>
      </p:sp>
      <p:sp>
        <p:nvSpPr>
          <p:cNvPr id="23" name="Text 21"/>
          <p:cNvSpPr/>
          <p:nvPr/>
        </p:nvSpPr>
        <p:spPr>
          <a:xfrm>
            <a:off x="8302752" y="4343400"/>
            <a:ext cx="2697480" cy="566928"/>
          </a:xfrm>
          <a:prstGeom prst="rect">
            <a:avLst/>
          </a:prstGeom>
          <a:noFill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980" dirty="0">
                <a:solidFill>
                  <a:srgbClr val="6F625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数据、算力和训练稳定性要求高</a:t>
            </a:r>
            <a:endParaRPr lang="en-US" sz="980" dirty="0"/>
          </a:p>
        </p:txBody>
      </p:sp>
      <p:sp>
        <p:nvSpPr>
          <p:cNvPr id="24" name="Text 22"/>
          <p:cNvSpPr/>
          <p:nvPr/>
        </p:nvSpPr>
        <p:spPr>
          <a:xfrm>
            <a:off x="731520" y="5779008"/>
            <a:ext cx="10424160" cy="22860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80" b="1" dirty="0">
                <a:solidFill>
                  <a:srgbClr val="D777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读论文时可以把训练章节理解为：GraphRAG 从“手工拼流程”走向“让检索和生成共同服务最终任务”。</a:t>
            </a:r>
            <a:endParaRPr lang="en-US" sz="108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601968"/>
            <a:ext cx="800000" cy="300000"/>
          </a:xfrm>
          <a:prstGeom prst="rect">
            <a:avLst/>
          </a:prstGeom>
        </p:spPr>
        <p:txBody>
          <a:bodyPr/>
          <a:lstStyle>
            <a:lvl1pPr>
              <a:defRPr sz="700">
                <a:solidFill>
                  <a:srgbClr val="8A7B7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</a:lstStyle>
          <a:p>
            <a:pPr algn="l"/>
            <a:fld id="{F7021451-1387-4CA6-816F-3879F97B5CBC}" type="slidenum">
              <a:rPr lang="en-US" b="0"/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8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01752"/>
            <a:ext cx="475488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D777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09 应用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548640" y="530352"/>
            <a:ext cx="10881360" cy="50292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300" b="1" dirty="0">
                <a:solidFill>
                  <a:srgbClr val="2A241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应用与评估：GraphRAG 的主战场仍是知识密集任务</a:t>
            </a:r>
            <a:endParaRPr lang="en-US" sz="2300" dirty="0"/>
          </a:p>
        </p:txBody>
      </p:sp>
      <p:sp>
        <p:nvSpPr>
          <p:cNvPr id="4" name="Shape 2"/>
          <p:cNvSpPr/>
          <p:nvPr/>
        </p:nvSpPr>
        <p:spPr>
          <a:xfrm>
            <a:off x="548640" y="1133856"/>
            <a:ext cx="11064240" cy="0"/>
          </a:xfrm>
          <a:prstGeom prst="line">
            <a:avLst/>
          </a:prstGeom>
          <a:noFill/>
          <a:ln w="12700">
            <a:solidFill>
              <a:srgbClr val="E5D9CD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49808" y="1417320"/>
            <a:ext cx="1463040" cy="777240"/>
          </a:xfrm>
          <a:prstGeom prst="roundRect">
            <a:avLst>
              <a:gd name="adj" fmla="val 9412"/>
            </a:avLst>
          </a:prstGeom>
          <a:solidFill>
            <a:srgbClr val="F6E1D9"/>
          </a:solidFill>
          <a:ln w="12700">
            <a:solidFill>
              <a:srgbClr val="F6E1D9">
                <a:alpha val="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1563624"/>
            <a:ext cx="1316736" cy="22860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2A241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QA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41248" y="1892808"/>
            <a:ext cx="1280160" cy="12801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50" dirty="0">
                <a:solidFill>
                  <a:srgbClr val="6F625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知识问答 / KBQA</a:t>
            </a:r>
            <a:endParaRPr lang="en-US" sz="750" dirty="0"/>
          </a:p>
        </p:txBody>
      </p:sp>
      <p:sp>
        <p:nvSpPr>
          <p:cNvPr id="8" name="Shape 6"/>
          <p:cNvSpPr/>
          <p:nvPr/>
        </p:nvSpPr>
        <p:spPr>
          <a:xfrm>
            <a:off x="2468880" y="1417320"/>
            <a:ext cx="1463040" cy="777240"/>
          </a:xfrm>
          <a:prstGeom prst="roundRect">
            <a:avLst>
              <a:gd name="adj" fmla="val 9412"/>
            </a:avLst>
          </a:prstGeom>
          <a:solidFill>
            <a:srgbClr val="E6EAFD"/>
          </a:solidFill>
          <a:ln w="12700">
            <a:solidFill>
              <a:srgbClr val="E6EAFD">
                <a:alpha val="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542032" y="1563624"/>
            <a:ext cx="1316736" cy="22860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2A241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IE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2560320" y="1892808"/>
            <a:ext cx="1280160" cy="12801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50" dirty="0">
                <a:solidFill>
                  <a:srgbClr val="6F625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信息抽取</a:t>
            </a:r>
            <a:endParaRPr lang="en-US" sz="750" dirty="0"/>
          </a:p>
        </p:txBody>
      </p:sp>
      <p:sp>
        <p:nvSpPr>
          <p:cNvPr id="11" name="Shape 9"/>
          <p:cNvSpPr/>
          <p:nvPr/>
        </p:nvSpPr>
        <p:spPr>
          <a:xfrm>
            <a:off x="4187952" y="1417320"/>
            <a:ext cx="1463040" cy="777240"/>
          </a:xfrm>
          <a:prstGeom prst="roundRect">
            <a:avLst>
              <a:gd name="adj" fmla="val 9412"/>
            </a:avLst>
          </a:prstGeom>
          <a:solidFill>
            <a:srgbClr val="E4F1EA"/>
          </a:solidFill>
          <a:ln w="12700">
            <a:solidFill>
              <a:srgbClr val="E4F1EA">
                <a:alpha val="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261104" y="1563624"/>
            <a:ext cx="1316736" cy="22860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2A241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Rec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4279392" y="1892808"/>
            <a:ext cx="1280160" cy="12801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50" dirty="0">
                <a:solidFill>
                  <a:srgbClr val="6F625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推荐与搜索</a:t>
            </a:r>
            <a:endParaRPr lang="en-US" sz="750" dirty="0"/>
          </a:p>
        </p:txBody>
      </p:sp>
      <p:sp>
        <p:nvSpPr>
          <p:cNvPr id="14" name="Shape 12"/>
          <p:cNvSpPr/>
          <p:nvPr/>
        </p:nvSpPr>
        <p:spPr>
          <a:xfrm>
            <a:off x="5907024" y="1417320"/>
            <a:ext cx="1463040" cy="777240"/>
          </a:xfrm>
          <a:prstGeom prst="roundRect">
            <a:avLst>
              <a:gd name="adj" fmla="val 9412"/>
            </a:avLst>
          </a:prstGeom>
          <a:solidFill>
            <a:srgbClr val="F7EBCB"/>
          </a:solidFill>
          <a:ln w="12700">
            <a:solidFill>
              <a:srgbClr val="F7EBCB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980176" y="1563624"/>
            <a:ext cx="1316736" cy="22860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2A241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Bio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5998464" y="1892808"/>
            <a:ext cx="1280160" cy="12801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50" dirty="0">
                <a:solidFill>
                  <a:srgbClr val="6F625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医疗 / 生物</a:t>
            </a:r>
            <a:endParaRPr lang="en-US" sz="750" dirty="0"/>
          </a:p>
        </p:txBody>
      </p:sp>
      <p:sp>
        <p:nvSpPr>
          <p:cNvPr id="17" name="Shape 15"/>
          <p:cNvSpPr/>
          <p:nvPr/>
        </p:nvSpPr>
        <p:spPr>
          <a:xfrm>
            <a:off x="7626096" y="1417320"/>
            <a:ext cx="1463040" cy="777240"/>
          </a:xfrm>
          <a:prstGeom prst="roundRect">
            <a:avLst>
              <a:gd name="adj" fmla="val 9412"/>
            </a:avLst>
          </a:prstGeom>
          <a:solidFill>
            <a:srgbClr val="EFE7DD"/>
          </a:solidFill>
          <a:ln w="12700">
            <a:solidFill>
              <a:srgbClr val="EFE7DD">
                <a:alpha val="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699248" y="1563624"/>
            <a:ext cx="1316736" cy="22860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2A241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Biz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7717536" y="1892808"/>
            <a:ext cx="1280160" cy="12801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50" dirty="0">
                <a:solidFill>
                  <a:srgbClr val="6F625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金融 / 企业知识</a:t>
            </a:r>
            <a:endParaRPr lang="en-US" sz="750" dirty="0"/>
          </a:p>
        </p:txBody>
      </p:sp>
      <p:sp>
        <p:nvSpPr>
          <p:cNvPr id="20" name="Shape 18"/>
          <p:cNvSpPr/>
          <p:nvPr/>
        </p:nvSpPr>
        <p:spPr>
          <a:xfrm>
            <a:off x="9345168" y="1417320"/>
            <a:ext cx="1463040" cy="777240"/>
          </a:xfrm>
          <a:prstGeom prst="roundRect">
            <a:avLst>
              <a:gd name="adj" fmla="val 9412"/>
            </a:avLst>
          </a:prstGeom>
          <a:solidFill>
            <a:srgbClr val="F4E4EF"/>
          </a:solidFill>
          <a:ln w="12700">
            <a:solidFill>
              <a:srgbClr val="F4E4EF">
                <a:alpha val="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418320" y="1563624"/>
            <a:ext cx="1316736" cy="22860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2A241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Agent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9436608" y="1892808"/>
            <a:ext cx="1280160" cy="12801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50" dirty="0">
                <a:solidFill>
                  <a:srgbClr val="6F625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工具与代理系统</a:t>
            </a:r>
            <a:endParaRPr lang="en-US" sz="750" dirty="0"/>
          </a:p>
        </p:txBody>
      </p:sp>
      <p:sp>
        <p:nvSpPr>
          <p:cNvPr id="23" name="Text 21"/>
          <p:cNvSpPr/>
          <p:nvPr/>
        </p:nvSpPr>
        <p:spPr>
          <a:xfrm>
            <a:off x="749808" y="2816352"/>
            <a:ext cx="347472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30" b="1" dirty="0">
                <a:solidFill>
                  <a:srgbClr val="2A241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评价指标要分层看</a:t>
            </a:r>
            <a:endParaRPr lang="en-US" sz="1530" dirty="0"/>
          </a:p>
        </p:txBody>
      </p:sp>
      <p:sp>
        <p:nvSpPr>
          <p:cNvPr id="24" name="Shape 22"/>
          <p:cNvSpPr/>
          <p:nvPr/>
        </p:nvSpPr>
        <p:spPr>
          <a:xfrm>
            <a:off x="749808" y="3246120"/>
            <a:ext cx="315468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0160">
            <a:solidFill>
              <a:srgbClr val="E5D9CD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49808" y="3246120"/>
            <a:ext cx="73152" cy="1051560"/>
          </a:xfrm>
          <a:prstGeom prst="rect">
            <a:avLst/>
          </a:prstGeom>
          <a:solidFill>
            <a:srgbClr val="4F8C6B"/>
          </a:solidFill>
          <a:ln w="12700">
            <a:solidFill>
              <a:srgbClr val="4F8C6B">
                <a:alpha val="0"/>
              </a:srgbClr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50976" y="3410712"/>
            <a:ext cx="2834640" cy="22860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20" b="1" dirty="0">
                <a:solidFill>
                  <a:srgbClr val="2A241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检索层</a:t>
            </a:r>
            <a:endParaRPr lang="en-US" sz="1120" dirty="0"/>
          </a:p>
        </p:txBody>
      </p:sp>
      <p:sp>
        <p:nvSpPr>
          <p:cNvPr id="27" name="Text 25"/>
          <p:cNvSpPr/>
          <p:nvPr/>
        </p:nvSpPr>
        <p:spPr>
          <a:xfrm>
            <a:off x="950976" y="3776472"/>
            <a:ext cx="2834640" cy="411480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960" dirty="0">
                <a:solidFill>
                  <a:srgbClr val="6F625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Recall、Precision、Hit@K、MRR；关注是否找到足够相关的节点/路径/子图。</a:t>
            </a:r>
            <a:endParaRPr lang="en-US" sz="960" dirty="0"/>
          </a:p>
        </p:txBody>
      </p:sp>
      <p:sp>
        <p:nvSpPr>
          <p:cNvPr id="28" name="Shape 26"/>
          <p:cNvSpPr/>
          <p:nvPr/>
        </p:nvSpPr>
        <p:spPr>
          <a:xfrm>
            <a:off x="4270248" y="3246120"/>
            <a:ext cx="315468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0160">
            <a:solidFill>
              <a:srgbClr val="E5D9CD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4270248" y="3246120"/>
            <a:ext cx="73152" cy="1051560"/>
          </a:xfrm>
          <a:prstGeom prst="rect">
            <a:avLst/>
          </a:prstGeom>
          <a:solidFill>
            <a:srgbClr val="5769F7"/>
          </a:solidFill>
          <a:ln w="12700">
            <a:solidFill>
              <a:srgbClr val="5769F7">
                <a:alpha val="0"/>
              </a:srgbClr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471416" y="3410712"/>
            <a:ext cx="2834640" cy="22860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20" b="1" dirty="0">
                <a:solidFill>
                  <a:srgbClr val="2A241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生成层</a:t>
            </a:r>
            <a:endParaRPr lang="en-US" sz="1120" dirty="0"/>
          </a:p>
        </p:txBody>
      </p:sp>
      <p:sp>
        <p:nvSpPr>
          <p:cNvPr id="31" name="Text 29"/>
          <p:cNvSpPr/>
          <p:nvPr/>
        </p:nvSpPr>
        <p:spPr>
          <a:xfrm>
            <a:off x="4471416" y="3776472"/>
            <a:ext cx="2834640" cy="411480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960" dirty="0">
                <a:solidFill>
                  <a:srgbClr val="6F625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EM、F1、BLEU、ROUGE、BERTScore、人工/GPT 评估；关注答案质量。</a:t>
            </a:r>
            <a:endParaRPr lang="en-US" sz="960" dirty="0"/>
          </a:p>
        </p:txBody>
      </p:sp>
      <p:sp>
        <p:nvSpPr>
          <p:cNvPr id="32" name="Shape 30"/>
          <p:cNvSpPr/>
          <p:nvPr/>
        </p:nvSpPr>
        <p:spPr>
          <a:xfrm>
            <a:off x="7790688" y="3246120"/>
            <a:ext cx="315468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0160">
            <a:solidFill>
              <a:srgbClr val="E5D9CD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7790688" y="3246120"/>
            <a:ext cx="73152" cy="1051560"/>
          </a:xfrm>
          <a:prstGeom prst="rect">
            <a:avLst/>
          </a:prstGeom>
          <a:solidFill>
            <a:srgbClr val="D77757"/>
          </a:solidFill>
          <a:ln w="12700">
            <a:solidFill>
              <a:srgbClr val="D77757">
                <a:alpha val="0"/>
              </a:srgbClr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7991856" y="3410712"/>
            <a:ext cx="2834640" cy="22860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20" b="1" dirty="0">
                <a:solidFill>
                  <a:srgbClr val="2A241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系统层</a:t>
            </a:r>
            <a:endParaRPr lang="en-US" sz="1120" dirty="0"/>
          </a:p>
        </p:txBody>
      </p:sp>
      <p:sp>
        <p:nvSpPr>
          <p:cNvPr id="35" name="Text 33"/>
          <p:cNvSpPr/>
          <p:nvPr/>
        </p:nvSpPr>
        <p:spPr>
          <a:xfrm>
            <a:off x="7991856" y="3776472"/>
            <a:ext cx="2834640" cy="411480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960" dirty="0">
                <a:solidFill>
                  <a:srgbClr val="6F625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延迟、成本、可解释性、可维护性；工业 GraphRAG 不能只看离线准确率。</a:t>
            </a:r>
            <a:endParaRPr lang="en-US" sz="960" dirty="0"/>
          </a:p>
        </p:txBody>
      </p:sp>
      <p:sp>
        <p:nvSpPr>
          <p:cNvPr id="36" name="Shape 34"/>
          <p:cNvSpPr/>
          <p:nvPr/>
        </p:nvSpPr>
        <p:spPr>
          <a:xfrm>
            <a:off x="786384" y="4892040"/>
            <a:ext cx="10241280" cy="658368"/>
          </a:xfrm>
          <a:prstGeom prst="roundRect">
            <a:avLst>
              <a:gd name="adj" fmla="val 11111"/>
            </a:avLst>
          </a:prstGeom>
          <a:solidFill>
            <a:srgbClr val="F6E1D9"/>
          </a:solidFill>
          <a:ln w="10160">
            <a:solidFill>
              <a:srgbClr val="E6C8BB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987552" y="5102352"/>
            <a:ext cx="9829800" cy="18288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b="1" dirty="0">
                <a:solidFill>
                  <a:srgbClr val="2A241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精读观点：GraphRAG 的评估难点在于“正确答案”之外，还要评价图证据是否可信、路径是否合理、上下文压缩是否丢失关键关系。</a:t>
            </a:r>
            <a:endParaRPr lang="en-US" sz="1050" dirty="0"/>
          </a:p>
        </p:txBody>
      </p:sp>
      <p:sp>
        <p:nvSpPr>
          <p:cNvPr id="38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601968"/>
            <a:ext cx="800000" cy="300000"/>
          </a:xfrm>
          <a:prstGeom prst="rect">
            <a:avLst/>
          </a:prstGeom>
        </p:spPr>
        <p:txBody>
          <a:bodyPr/>
          <a:lstStyle>
            <a:lvl1pPr>
              <a:defRPr sz="700">
                <a:solidFill>
                  <a:srgbClr val="8A7B7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</a:lstStyle>
          <a:p>
            <a:pPr algn="l"/>
            <a:fld id="{F7021451-1387-4CA6-816F-3879F97B5CBC}" type="slidenum">
              <a:rPr lang="en-US" b="0"/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8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01752"/>
            <a:ext cx="475488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D777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10 展望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548640" y="530352"/>
            <a:ext cx="10881360" cy="50292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300" b="1" dirty="0">
                <a:solidFill>
                  <a:srgbClr val="2A241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未来方向：从静态图走向可维护的知识系统</a:t>
            </a:r>
            <a:endParaRPr lang="en-US" sz="2300" dirty="0"/>
          </a:p>
        </p:txBody>
      </p:sp>
      <p:sp>
        <p:nvSpPr>
          <p:cNvPr id="4" name="Shape 2"/>
          <p:cNvSpPr/>
          <p:nvPr/>
        </p:nvSpPr>
        <p:spPr>
          <a:xfrm>
            <a:off x="548640" y="1133856"/>
            <a:ext cx="11064240" cy="0"/>
          </a:xfrm>
          <a:prstGeom prst="line">
            <a:avLst/>
          </a:prstGeom>
          <a:noFill/>
          <a:ln w="12700">
            <a:solidFill>
              <a:srgbClr val="E5D9CD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49808" y="1417320"/>
            <a:ext cx="4800600" cy="960120"/>
          </a:xfrm>
          <a:prstGeom prst="roundRect">
            <a:avLst>
              <a:gd name="adj" fmla="val 7619"/>
            </a:avLst>
          </a:prstGeom>
          <a:solidFill>
            <a:srgbClr val="E4F1EA"/>
          </a:solidFill>
          <a:ln w="7620">
            <a:solidFill>
              <a:srgbClr val="E5D9C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50976" y="1581912"/>
            <a:ext cx="4343400" cy="20116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20" b="1" dirty="0">
                <a:solidFill>
                  <a:srgbClr val="4F8C6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动态图与自适应图</a:t>
            </a:r>
            <a:endParaRPr lang="en-US" sz="1220" dirty="0"/>
          </a:p>
        </p:txBody>
      </p:sp>
      <p:sp>
        <p:nvSpPr>
          <p:cNvPr id="7" name="Text 5"/>
          <p:cNvSpPr/>
          <p:nvPr/>
        </p:nvSpPr>
        <p:spPr>
          <a:xfrm>
            <a:off x="950976" y="1920240"/>
            <a:ext cx="4343400" cy="20116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20" dirty="0">
                <a:solidFill>
                  <a:srgbClr val="6F625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实时吸收新实体和新关系，避免图数据库过时。</a:t>
            </a:r>
            <a:endParaRPr lang="en-US" sz="920" dirty="0"/>
          </a:p>
        </p:txBody>
      </p:sp>
      <p:sp>
        <p:nvSpPr>
          <p:cNvPr id="8" name="Shape 6"/>
          <p:cNvSpPr/>
          <p:nvPr/>
        </p:nvSpPr>
        <p:spPr>
          <a:xfrm>
            <a:off x="6199632" y="1417320"/>
            <a:ext cx="4800600" cy="960120"/>
          </a:xfrm>
          <a:prstGeom prst="roundRect">
            <a:avLst>
              <a:gd name="adj" fmla="val 7619"/>
            </a:avLst>
          </a:prstGeom>
          <a:solidFill>
            <a:srgbClr val="E6EAFD"/>
          </a:solidFill>
          <a:ln w="7620">
            <a:solidFill>
              <a:srgbClr val="E5D9C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0" y="1581912"/>
            <a:ext cx="4343400" cy="20116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20" b="1" dirty="0">
                <a:solidFill>
                  <a:srgbClr val="5769F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多模态信息集成</a:t>
            </a:r>
            <a:endParaRPr lang="en-US" sz="1220" dirty="0"/>
          </a:p>
        </p:txBody>
      </p:sp>
      <p:sp>
        <p:nvSpPr>
          <p:cNvPr id="10" name="Text 8"/>
          <p:cNvSpPr/>
          <p:nvPr/>
        </p:nvSpPr>
        <p:spPr>
          <a:xfrm>
            <a:off x="6400800" y="1920240"/>
            <a:ext cx="4343400" cy="20116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20" dirty="0">
                <a:solidFill>
                  <a:srgbClr val="6F625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把图像、音频、视频等模态纳入图结构，提升知识表达丰富度。</a:t>
            </a:r>
            <a:endParaRPr lang="en-US" sz="920" dirty="0"/>
          </a:p>
        </p:txBody>
      </p:sp>
      <p:sp>
        <p:nvSpPr>
          <p:cNvPr id="11" name="Shape 9"/>
          <p:cNvSpPr/>
          <p:nvPr/>
        </p:nvSpPr>
        <p:spPr>
          <a:xfrm>
            <a:off x="749808" y="2743200"/>
            <a:ext cx="4800600" cy="960120"/>
          </a:xfrm>
          <a:prstGeom prst="roundRect">
            <a:avLst>
              <a:gd name="adj" fmla="val 7619"/>
            </a:avLst>
          </a:prstGeom>
          <a:solidFill>
            <a:srgbClr val="F6E1D9"/>
          </a:solidFill>
          <a:ln w="7620">
            <a:solidFill>
              <a:srgbClr val="E5D9C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50976" y="2907792"/>
            <a:ext cx="4343400" cy="20116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20" b="1" dirty="0">
                <a:solidFill>
                  <a:srgbClr val="D777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可扩展高效检索</a:t>
            </a:r>
            <a:endParaRPr lang="en-US" sz="1220" dirty="0"/>
          </a:p>
        </p:txBody>
      </p:sp>
      <p:sp>
        <p:nvSpPr>
          <p:cNvPr id="13" name="Text 11"/>
          <p:cNvSpPr/>
          <p:nvPr/>
        </p:nvSpPr>
        <p:spPr>
          <a:xfrm>
            <a:off x="950976" y="3246120"/>
            <a:ext cx="4343400" cy="20116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20" dirty="0">
                <a:solidFill>
                  <a:srgbClr val="6F625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在大规模图上控制延迟和成本，同时保留多跳推理能力。</a:t>
            </a:r>
            <a:endParaRPr lang="en-US" sz="920" dirty="0"/>
          </a:p>
        </p:txBody>
      </p:sp>
      <p:sp>
        <p:nvSpPr>
          <p:cNvPr id="14" name="Shape 12"/>
          <p:cNvSpPr/>
          <p:nvPr/>
        </p:nvSpPr>
        <p:spPr>
          <a:xfrm>
            <a:off x="6199632" y="2743200"/>
            <a:ext cx="4800600" cy="960120"/>
          </a:xfrm>
          <a:prstGeom prst="roundRect">
            <a:avLst>
              <a:gd name="adj" fmla="val 7619"/>
            </a:avLst>
          </a:prstGeom>
          <a:solidFill>
            <a:srgbClr val="F7EBCB"/>
          </a:solidFill>
          <a:ln w="7620">
            <a:solidFill>
              <a:srgbClr val="E5D9C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00800" y="2907792"/>
            <a:ext cx="4343400" cy="20116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20" b="1" dirty="0">
                <a:solidFill>
                  <a:srgbClr val="E8BC5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结合图基础模型</a:t>
            </a:r>
            <a:endParaRPr lang="en-US" sz="1220" dirty="0"/>
          </a:p>
        </p:txBody>
      </p:sp>
      <p:sp>
        <p:nvSpPr>
          <p:cNvPr id="16" name="Text 14"/>
          <p:cNvSpPr/>
          <p:nvPr/>
        </p:nvSpPr>
        <p:spPr>
          <a:xfrm>
            <a:off x="6400800" y="3246120"/>
            <a:ext cx="4343400" cy="20116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20" dirty="0">
                <a:solidFill>
                  <a:srgbClr val="6F625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用更强的图表示学习能力提升通用性和迁移能力。</a:t>
            </a:r>
            <a:endParaRPr lang="en-US" sz="920" dirty="0"/>
          </a:p>
        </p:txBody>
      </p:sp>
      <p:sp>
        <p:nvSpPr>
          <p:cNvPr id="17" name="Shape 15"/>
          <p:cNvSpPr/>
          <p:nvPr/>
        </p:nvSpPr>
        <p:spPr>
          <a:xfrm>
            <a:off x="749808" y="4069080"/>
            <a:ext cx="4800600" cy="960120"/>
          </a:xfrm>
          <a:prstGeom prst="roundRect">
            <a:avLst>
              <a:gd name="adj" fmla="val 7619"/>
            </a:avLst>
          </a:prstGeom>
          <a:solidFill>
            <a:srgbClr val="EFE7DD"/>
          </a:solidFill>
          <a:ln w="7620">
            <a:solidFill>
              <a:srgbClr val="E5D9C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50976" y="4233672"/>
            <a:ext cx="4343400" cy="20116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20" b="1" dirty="0">
                <a:solidFill>
                  <a:srgbClr val="8A7B7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无损上下文压缩</a:t>
            </a:r>
            <a:endParaRPr lang="en-US" sz="1220" dirty="0"/>
          </a:p>
        </p:txBody>
      </p:sp>
      <p:sp>
        <p:nvSpPr>
          <p:cNvPr id="19" name="Text 17"/>
          <p:cNvSpPr/>
          <p:nvPr/>
        </p:nvSpPr>
        <p:spPr>
          <a:xfrm>
            <a:off x="950976" y="4572000"/>
            <a:ext cx="4343400" cy="20116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20" dirty="0">
                <a:solidFill>
                  <a:srgbClr val="6F625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把检索到的结构证据压缩进有限上下文，同时不丢关键关系。</a:t>
            </a:r>
            <a:endParaRPr lang="en-US" sz="920" dirty="0"/>
          </a:p>
        </p:txBody>
      </p:sp>
      <p:sp>
        <p:nvSpPr>
          <p:cNvPr id="20" name="Shape 18"/>
          <p:cNvSpPr/>
          <p:nvPr/>
        </p:nvSpPr>
        <p:spPr>
          <a:xfrm>
            <a:off x="6199632" y="4069080"/>
            <a:ext cx="4800600" cy="960120"/>
          </a:xfrm>
          <a:prstGeom prst="roundRect">
            <a:avLst>
              <a:gd name="adj" fmla="val 7619"/>
            </a:avLst>
          </a:prstGeom>
          <a:solidFill>
            <a:srgbClr val="F4E4EF"/>
          </a:solidFill>
          <a:ln w="7620">
            <a:solidFill>
              <a:srgbClr val="E5D9CD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400800" y="4233672"/>
            <a:ext cx="4343400" cy="20116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20" b="1" dirty="0">
                <a:solidFill>
                  <a:srgbClr val="B35B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标准 Benchmark</a:t>
            </a:r>
            <a:endParaRPr lang="en-US" sz="1220" dirty="0"/>
          </a:p>
        </p:txBody>
      </p:sp>
      <p:sp>
        <p:nvSpPr>
          <p:cNvPr id="22" name="Text 20"/>
          <p:cNvSpPr/>
          <p:nvPr/>
        </p:nvSpPr>
        <p:spPr>
          <a:xfrm>
            <a:off x="6400800" y="4572000"/>
            <a:ext cx="4343400" cy="20116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20" dirty="0">
                <a:solidFill>
                  <a:srgbClr val="6F625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建立统一数据集、任务和指标，减少方法之间不可比的问题。</a:t>
            </a:r>
            <a:endParaRPr lang="en-US" sz="920" dirty="0"/>
          </a:p>
        </p:txBody>
      </p:sp>
      <p:sp>
        <p:nvSpPr>
          <p:cNvPr id="23" name="Text 21"/>
          <p:cNvSpPr/>
          <p:nvPr/>
        </p:nvSpPr>
        <p:spPr>
          <a:xfrm>
            <a:off x="914400" y="5715000"/>
            <a:ext cx="10149840" cy="25603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00" b="1" dirty="0">
                <a:solidFill>
                  <a:srgbClr val="D777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论文给出的未来方向可以归纳为一句话：GraphRAG 要从“能用图增强回答”升级为“可更新、可扩展、可评估的知识基础设施”。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601968"/>
            <a:ext cx="800000" cy="300000"/>
          </a:xfrm>
          <a:prstGeom prst="rect">
            <a:avLst/>
          </a:prstGeom>
        </p:spPr>
        <p:txBody>
          <a:bodyPr/>
          <a:lstStyle>
            <a:lvl1pPr>
              <a:defRPr sz="700">
                <a:solidFill>
                  <a:srgbClr val="8A7B7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</a:lstStyle>
          <a:p>
            <a:pPr algn="l"/>
            <a:fld id="{F7021451-1387-4CA6-816F-3879F97B5CBC}" type="slidenum">
              <a:rPr lang="en-US" b="0"/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8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01752"/>
            <a:ext cx="475488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D777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11 总结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548640" y="530352"/>
            <a:ext cx="10881360" cy="50292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300" b="1" dirty="0">
                <a:solidFill>
                  <a:srgbClr val="2A241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精读总结：这篇综述给我们的实践启示</a:t>
            </a:r>
            <a:endParaRPr lang="en-US" sz="2300" dirty="0"/>
          </a:p>
        </p:txBody>
      </p:sp>
      <p:sp>
        <p:nvSpPr>
          <p:cNvPr id="4" name="Shape 2"/>
          <p:cNvSpPr/>
          <p:nvPr/>
        </p:nvSpPr>
        <p:spPr>
          <a:xfrm>
            <a:off x="548640" y="1133856"/>
            <a:ext cx="11064240" cy="0"/>
          </a:xfrm>
          <a:prstGeom prst="line">
            <a:avLst/>
          </a:prstGeom>
          <a:noFill/>
          <a:ln w="12700">
            <a:solidFill>
              <a:srgbClr val="E5D9C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49808" y="1389888"/>
            <a:ext cx="22860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2A241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论文贡献</a:t>
            </a:r>
            <a:endParaRPr lang="en-US" sz="1550" dirty="0"/>
          </a:p>
        </p:txBody>
      </p:sp>
      <p:sp>
        <p:nvSpPr>
          <p:cNvPr id="6" name="Text 4"/>
          <p:cNvSpPr/>
          <p:nvPr/>
        </p:nvSpPr>
        <p:spPr>
          <a:xfrm>
            <a:off x="822960" y="1755648"/>
            <a:ext cx="5074920" cy="1417320"/>
          </a:xfrm>
          <a:prstGeom prst="rect">
            <a:avLst/>
          </a:prstGeom>
          <a:noFill/>
        </p:spPr>
        <p:txBody>
          <a:bodyPr wrap="square" lIns="762" tIns="762" rIns="762" bIns="762" rtlCol="0" anchor="t">
            <a:normAutofit/>
          </a:bodyPr>
          <a:lstStyle/>
          <a:p>
            <a:pPr marL="127000" indent="-127000">
              <a:buSzPct val="100000"/>
              <a:buChar char="•"/>
            </a:pPr>
            <a:r>
              <a:rPr lang="en-US" sz="1210" dirty="0">
                <a:solidFill>
                  <a:srgbClr val="2A241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首次系统化整理 GraphRAG 方法，并给出统一三阶段工作流。</a:t>
            </a:r>
            <a:endParaRPr lang="en-US" sz="1210" dirty="0"/>
          </a:p>
          <a:p>
            <a:pPr marL="127000" indent="-127000">
              <a:buSzPct val="100000"/>
              <a:buChar char="•"/>
            </a:pPr>
            <a:r>
              <a:rPr lang="en-US" sz="1210" dirty="0">
                <a:solidFill>
                  <a:srgbClr val="2A241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把已有研究按索引、检索、生成、训练、评估和应用进行分类。</a:t>
            </a:r>
            <a:endParaRPr lang="en-US" sz="1210" dirty="0"/>
          </a:p>
          <a:p>
            <a:pPr marL="127000" indent="-127000">
              <a:buSzPct val="100000"/>
              <a:buChar char="•"/>
            </a:pPr>
            <a:r>
              <a:rPr lang="en-US" sz="1210" dirty="0">
                <a:solidFill>
                  <a:srgbClr val="2A241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明确 GraphRAG 的关键价值：利用结构关系提升知识密集任务的准确性和可解释性。</a:t>
            </a:r>
            <a:endParaRPr lang="en-US" sz="1210" dirty="0"/>
          </a:p>
        </p:txBody>
      </p:sp>
      <p:sp>
        <p:nvSpPr>
          <p:cNvPr id="7" name="Text 5"/>
          <p:cNvSpPr/>
          <p:nvPr/>
        </p:nvSpPr>
        <p:spPr>
          <a:xfrm>
            <a:off x="6419088" y="1389888"/>
            <a:ext cx="292608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2A241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局限与阅读注意</a:t>
            </a:r>
            <a:endParaRPr lang="en-US" sz="1550" dirty="0"/>
          </a:p>
        </p:txBody>
      </p:sp>
      <p:sp>
        <p:nvSpPr>
          <p:cNvPr id="8" name="Text 6"/>
          <p:cNvSpPr/>
          <p:nvPr/>
        </p:nvSpPr>
        <p:spPr>
          <a:xfrm>
            <a:off x="6473952" y="1755648"/>
            <a:ext cx="4709160" cy="1417320"/>
          </a:xfrm>
          <a:prstGeom prst="rect">
            <a:avLst/>
          </a:prstGeom>
          <a:noFill/>
        </p:spPr>
        <p:txBody>
          <a:bodyPr wrap="square" lIns="762" tIns="762" rIns="762" bIns="762" rtlCol="0" anchor="t">
            <a:normAutofit/>
          </a:bodyPr>
          <a:lstStyle/>
          <a:p>
            <a:pPr marL="127000" indent="-127000">
              <a:buSzPct val="100000"/>
              <a:buChar char="•"/>
            </a:pPr>
            <a:r>
              <a:rPr lang="en-US" sz="1210" dirty="0">
                <a:solidFill>
                  <a:srgbClr val="2A241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作为综述，更多是分类框架，不提供统一实验结论。</a:t>
            </a:r>
            <a:endParaRPr lang="en-US" sz="1210" dirty="0"/>
          </a:p>
          <a:p>
            <a:pPr marL="127000" indent="-127000">
              <a:buSzPct val="100000"/>
              <a:buChar char="•"/>
            </a:pPr>
            <a:r>
              <a:rPr lang="en-US" sz="1210" dirty="0">
                <a:solidFill>
                  <a:srgbClr val="2A241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不同工作使用的数据集、图构建方式和指标差异较大，横向比较要谨慎。</a:t>
            </a:r>
            <a:endParaRPr lang="en-US" sz="1210" dirty="0"/>
          </a:p>
          <a:p>
            <a:pPr marL="127000" indent="-127000">
              <a:buSzPct val="100000"/>
              <a:buChar char="•"/>
            </a:pPr>
            <a:r>
              <a:rPr lang="en-US" sz="1210" dirty="0">
                <a:solidFill>
                  <a:srgbClr val="2A241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工业落地仍受图构建质量、更新机制、检索延迟和上下文预算限制。</a:t>
            </a:r>
            <a:endParaRPr lang="en-US" sz="1210" dirty="0"/>
          </a:p>
        </p:txBody>
      </p:sp>
      <p:sp>
        <p:nvSpPr>
          <p:cNvPr id="9" name="Shape 7"/>
          <p:cNvSpPr/>
          <p:nvPr/>
        </p:nvSpPr>
        <p:spPr>
          <a:xfrm>
            <a:off x="749808" y="3822192"/>
            <a:ext cx="10515600" cy="1234440"/>
          </a:xfrm>
          <a:prstGeom prst="roundRect">
            <a:avLst>
              <a:gd name="adj" fmla="val 5926"/>
            </a:avLst>
          </a:prstGeom>
          <a:solidFill>
            <a:srgbClr val="F6E1D9"/>
          </a:solidFill>
          <a:ln w="10160">
            <a:solidFill>
              <a:srgbClr val="E6C8B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24128" y="4096512"/>
            <a:ext cx="182880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D777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实践落点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2423160" y="4096512"/>
            <a:ext cx="8321040" cy="329184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30" b="1" dirty="0">
                <a:solidFill>
                  <a:srgbClr val="2A241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做 GraphRAG 时不要先迷恋复杂模型，先把“图从哪里来、检索什么粒度、如何转成生成上下文、如何评价证据质量”这四个问题打通。</a:t>
            </a:r>
            <a:endParaRPr lang="en-US" sz="1330" dirty="0"/>
          </a:p>
        </p:txBody>
      </p:sp>
      <p:sp>
        <p:nvSpPr>
          <p:cNvPr id="12" name="Text 10"/>
          <p:cNvSpPr/>
          <p:nvPr/>
        </p:nvSpPr>
        <p:spPr>
          <a:xfrm>
            <a:off x="1024128" y="4617720"/>
            <a:ext cx="9784080" cy="18288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80" dirty="0">
                <a:solidFill>
                  <a:srgbClr val="6F625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推荐阅读顺序：Fig.2 总框架 -&gt; 第 5/6/7 章三阶段 -&gt; 第 10 章未来方向。</a:t>
            </a:r>
            <a:endParaRPr lang="en-US" sz="1080" dirty="0"/>
          </a:p>
        </p:txBody>
      </p:sp>
      <p:sp>
        <p:nvSpPr>
          <p:cNvPr id="13" name="Text 11"/>
          <p:cNvSpPr/>
          <p:nvPr/>
        </p:nvSpPr>
        <p:spPr>
          <a:xfrm>
            <a:off x="804672" y="5833872"/>
            <a:ext cx="5943600" cy="18288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00" dirty="0">
                <a:solidFill>
                  <a:srgbClr val="8A7B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资料来源：https://arxiv.org/pdf/2408.08921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601968"/>
            <a:ext cx="800000" cy="300000"/>
          </a:xfrm>
          <a:prstGeom prst="rect">
            <a:avLst/>
          </a:prstGeom>
        </p:spPr>
        <p:txBody>
          <a:bodyPr/>
          <a:lstStyle>
            <a:lvl1pPr>
              <a:defRPr sz="700">
                <a:solidFill>
                  <a:srgbClr val="8A7B7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</a:lstStyle>
          <a:p>
            <a:pPr algn="l"/>
            <a:fld id="{F7021451-1387-4CA6-816F-3879F97B5CBC}" type="slidenum">
              <a:rPr lang="en-US" b="0"/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Microsoft YaHe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Microsoft YaHe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Microsoft YaHe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Microsoft YaHe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3507</Words>
  <Application>WPS 演示</Application>
  <PresentationFormat>On-screen Show (16:9)</PresentationFormat>
  <Paragraphs>376</Paragraphs>
  <Slides>12</Slides>
  <Notes>12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12</vt:i4>
      </vt:variant>
    </vt:vector>
  </HeadingPairs>
  <TitlesOfParts>
    <vt:vector size="24" baseType="lpstr">
      <vt:lpstr>Arial</vt:lpstr>
      <vt:lpstr>宋体</vt:lpstr>
      <vt:lpstr>Wingdings</vt:lpstr>
      <vt:lpstr>微软雅黑</vt:lpstr>
      <vt:lpstr>微软雅黑</vt:lpstr>
      <vt:lpstr>Aptos</vt:lpstr>
      <vt:lpstr>Segoe UI</vt:lpstr>
      <vt:lpstr>Aptos</vt:lpstr>
      <vt:lpstr>Aptos</vt:lpstr>
      <vt:lpstr>Arial Unicode MS</vt:lpstr>
      <vt:lpstr>等线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OpenAI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论文精读</dc:title>
  <dc:creator>Codex</dc:creator>
  <dc:subject>Graph Retrieval-Augmented Generation: A Survey 中文论文精读</dc:subject>
  <cp:lastModifiedBy>橘子</cp:lastModifiedBy>
  <cp:revision>3</cp:revision>
  <dcterms:created xsi:type="dcterms:W3CDTF">2026-05-02T18:49:00Z</dcterms:created>
  <dcterms:modified xsi:type="dcterms:W3CDTF">2026-05-05T15:21:46Z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7B3A4E16515F4B35B1055C1BD726E25C_12</vt:lpwstr>
  </property>
  <property fmtid="{D5CDD505-2E9C-101B-9397-08002B2CF9AE}" pid="3" name="KSOProductBuildVer">
    <vt:lpwstr>2052-12.1.0.25225</vt:lpwstr>
  </property>
</Properties>
</file>