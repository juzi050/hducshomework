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E9DE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11112"/>
            <a:ext cx="38404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Survey | 中文论文精读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 w="12700">
            <a:solidFill>
              <a:srgbClr val="FB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58368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31520"/>
            <a:ext cx="1865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arXiv:2408.08921 | Survey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85800" y="1133856"/>
            <a:ext cx="438912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3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论文汇报</a:t>
            </a:r>
            <a:endParaRPr lang="zh-CN" sz="330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956816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77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Retrieval-Augmented Generation: A Survey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一篇系统梳理 GraphRAG 方法论的综述：从图索引、图检索到图增强生成，并讨论训练、评估、工业应用与未来方向。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5321808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Boci Peng, Yun Zhu, Yongchao Liu 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J. ACM, September 2024 / arXiv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1024128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11" name="Image 0" descr="C:\Users\86136\AppData\Local\Temp\graphrag_crops_v2\fi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133856"/>
            <a:ext cx="4855464" cy="34564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11112" y="4636008"/>
            <a:ext cx="474573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Fig.2：GraphRAG 总体框架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6537960" y="5102352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关键词：RAG、知识图谱、图神经网络、检索增强生成、结构化知识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 背景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研究背景：RAG 解决了什么，又留下了什么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73152" cy="118872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LLM 的三类短板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领域知识缺失、知识过时、容易生成看似合理但不准确的内容。RAG 通过外部知识库补充上下文，降低幻觉风险。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508760"/>
            <a:ext cx="73152" cy="118872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传统 RAG 的基本假设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60857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把知识切成文本块，查询时做向量/关键词检索，再把相关文本塞回提示词。这个流程擅长找“相似文本”。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5644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508760"/>
            <a:ext cx="73152" cy="118872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的切入点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35761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现实知识常常由实体和关系组成。只有文本相似度不够，需要显式利用节点、边、路径和子图。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85800" y="32735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论文的核心判断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5577840" cy="155448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不是简单把知识图谱塞给 LLM，而是把“结构化检索”纳入 RAG 流程。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它的关键收益来自关系建模：实体之间的路径、邻域和子图能够表达普通文本块难以稳定捕捉的依赖。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综述贡献在于首次给出统一工作流，并按索引、检索、生成三个阶段整理已有方法。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3246120"/>
            <a:ext cx="4480560" cy="1755648"/>
          </a:xfrm>
          <a:prstGeom prst="roundRect">
            <a:avLst>
              <a:gd name="adj" fmla="val 4167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3493008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核心结论</a:t>
            </a:r>
            <a:endParaRPr lang="zh-CN" sz="1420" b="1" dirty="0">
              <a:solidFill>
                <a:srgbClr val="D77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05472" y="3913632"/>
            <a:ext cx="38862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当问题依赖“谁和谁有什么关系、经过什么路径产生影响”时，GraphRAG 比文本块 RAG 更容易给出可解释、可定位的答案。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 动机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为什么需要 GraphRAG：关系是答案的一部分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89888"/>
            <a:ext cx="58064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99616"/>
            <a:ext cx="5586984" cy="3502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5047488"/>
            <a:ext cx="547725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Fig.1：Direct LLM / RAG / GraphRAG 对比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716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图中案例的重点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12280" y="1828800"/>
            <a:ext cx="4663440" cy="23774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 LLM：能回答大方向，但容易浅层、泛化。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文本 RAG：能补充相关段落，却可能被长文本和表达差异稀释关键关系。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GraphRAG：把“Monet -&gt; 技法 -&gt; 影响 -&gt; Picasso/Cubism”显式表示为可检索关系链。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结论：GraphRAG 的优势不是更多上下文，而是更可控的结构化上下文。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6812280" y="461772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E6EAFD"/>
          </a:solidFill>
          <a:ln w="10160">
            <a:solidFill>
              <a:srgbClr val="C6D0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4800600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方法主线：</a:t>
            </a:r>
            <a:r>
              <a:rPr lang="en-US" altLang="zh-CN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如何把</a:t>
            </a:r>
            <a:r>
              <a:rPr lang="en-US" altLang="zh-CN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关系</a:t>
            </a:r>
            <a:r>
              <a:rPr lang="en-US" altLang="zh-CN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转化为可索引、可检索、可生成的中间表示？</a:t>
            </a:r>
            <a:endParaRPr lang="zh-CN" altLang="en-US" sz="93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 框架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总体框架：三个阶段串起端到端流程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16736"/>
            <a:ext cx="58521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26464"/>
            <a:ext cx="5632704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4837176"/>
            <a:ext cx="55229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Fig.2：GraphRAG QA 工作流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9037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3720" y="1508760"/>
            <a:ext cx="73152" cy="114300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0488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G-Indexing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10488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选择或构建图数据库，并为节点、边、文本描述或图嵌入建立索引。</a:t>
            </a:r>
            <a:endParaRPr lang="en-US" sz="910" dirty="0">
              <a:solidFill>
                <a:srgbClr val="6F62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9611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7EBCB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0" y="1508760"/>
            <a:ext cx="73152" cy="1143000"/>
          </a:xfrm>
          <a:prstGeom prst="rect">
            <a:avLst/>
          </a:prstGeom>
          <a:solidFill>
            <a:srgbClr val="E8BC5A"/>
          </a:solidFill>
          <a:ln w="12700">
            <a:solidFill>
              <a:srgbClr val="E8BC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228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G-Retrieval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916228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根据查询召回相关节点、三元组、路径、子图或混合结构。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1065276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652760" y="1508760"/>
            <a:ext cx="73152" cy="114300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85392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G-Generation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1085392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把图结构转成模型可消费的格式，并生成最终答案。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6876288" y="30632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形式化理解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6903720" y="3493008"/>
            <a:ext cx="4572000" cy="1261872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目标：在查询 q 和图数据库 G 条件下，生成最优答案 a。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由于候选子图数量会随图规模爆炸，实际系统通常先近似检索最优子图 G*。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生成器基于 q 与 G* 生成答案；检索质量直接决定生成上限。</a:t>
            </a:r>
            <a:endParaRPr lang="en-US" sz="1210" dirty="0"/>
          </a:p>
        </p:txBody>
      </p:sp>
      <p:sp>
        <p:nvSpPr>
          <p:cNvPr id="24" name="Text 21"/>
          <p:cNvSpPr/>
          <p:nvPr/>
        </p:nvSpPr>
        <p:spPr>
          <a:xfrm>
            <a:off x="6903720" y="498348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这也是本文后续章节的组织主线：第 5 章索引，第 6 章检索，第 7 章生成，第 8-10 章训练、评估与展望。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26" name="FixedArrow_Index_to_Retrieval"/>
          <p:cNvCxnSpPr/>
          <p:nvPr/>
        </p:nvCxnSpPr>
        <p:spPr>
          <a:xfrm>
            <a:off x="8321040" y="2080260"/>
            <a:ext cx="64008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FixedArrow_Retrieval_to_Generation"/>
          <p:cNvCxnSpPr/>
          <p:nvPr/>
        </p:nvCxnSpPr>
        <p:spPr>
          <a:xfrm>
            <a:off x="10378440" y="2080260"/>
            <a:ext cx="27432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 G-Indexing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图索引：先决定图从哪里来、怎么被找到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图数据来源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73152" cy="15087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开放知识图谱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3268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Wikidata、DBpedia、Freebase、领域知识图谱等。优势是构建成本低、覆盖面广；问题是任务适配和更新粒度不可完全控制。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73152" cy="15087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自构建图数据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54456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从文档、数据库、日志或业务系统中抽取实体与关系。优势是贴近任务；难点是抽取质量、实体对齐和维护成本。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783080"/>
            <a:ext cx="73152" cy="15087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混合图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15644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把公开图谱与私有知识合并，兼顾通用知识和业务知识，但需要解决冲突、去重和权限边界。</a:t>
            </a:r>
            <a:endParaRPr lang="en-US" sz="910" dirty="0">
              <a:solidFill>
                <a:srgbClr val="6F62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索引方式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4672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图结构索引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邻接表、路径搜索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88920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2072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文本索引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三元组转自然语言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773168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向量索引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语义相似度检索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57416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0568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图嵌入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8856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结构表示学习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741664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14816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混合索引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33104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结构+语义组合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22960" y="5715000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方法启示：索引不是工程细节，而是决定</a:t>
            </a:r>
            <a:r>
              <a:rPr lang="en-US" altLang="zh-CN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GraphRAG </a:t>
            </a:r>
            <a:r>
              <a:rPr lang="zh-CN" altLang="en-US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能召回什么</a:t>
            </a:r>
            <a:r>
              <a:rPr lang="en-US" altLang="zh-CN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结构证据</a:t>
            </a:r>
            <a:r>
              <a:rPr lang="en-US" altLang="zh-CN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的第一道关。</a:t>
            </a:r>
            <a:endParaRPr lang="zh-CN" altLang="en-US" sz="1120" b="1" dirty="0">
              <a:solidFill>
                <a:srgbClr val="D77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 G-Retrieval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图检索：在指数级候选子图中找有用证据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58064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586984" cy="2039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3547872"/>
            <a:ext cx="547725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Fig.4：图检索一般架构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812280" y="13716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两类核心挑战</a:t>
            </a:r>
            <a:endParaRPr lang="en-US" sz="1530" dirty="0"/>
          </a:p>
        </p:txBody>
      </p:sp>
      <p:sp>
        <p:nvSpPr>
          <p:cNvPr id="9" name="Shape 6"/>
          <p:cNvSpPr/>
          <p:nvPr/>
        </p:nvSpPr>
        <p:spPr>
          <a:xfrm>
            <a:off x="681228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1783080"/>
            <a:ext cx="73152" cy="10972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3448" y="194767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候选子图爆炸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013448" y="2313432"/>
            <a:ext cx="411480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图越大，可能的子图组合越多。系统必须用启发式搜索、分阶段检索或迭代检索缩小搜索空间。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812280" y="31546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3154680"/>
            <a:ext cx="73152" cy="10972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13448" y="331927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相似度度量不足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013448" y="3685032"/>
            <a:ext cx="411480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查询是文本，图是结构。只比较文本相似度会漏掉路径和关系，需要结合语义、结构和任务目标。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713232" y="43708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检索器类型</a:t>
            </a:r>
            <a:endParaRPr lang="en-US" sz="1530" dirty="0"/>
          </a:p>
        </p:txBody>
      </p:sp>
      <p:sp>
        <p:nvSpPr>
          <p:cNvPr id="18" name="Shape 15"/>
          <p:cNvSpPr/>
          <p:nvPr/>
        </p:nvSpPr>
        <p:spPr>
          <a:xfrm>
            <a:off x="749808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4736592"/>
            <a:ext cx="73152" cy="86868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非参数检索器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950976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规则、BFS、最短路、k-hop 等，效率高、可解释，但适配复杂语义有限。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4370832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70832" y="4736592"/>
            <a:ext cx="73152" cy="8686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LM-based 检索器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572000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用语言模型或嵌入模型理解查询，适合自然语言语义匹配。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7991856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91856" y="4736592"/>
            <a:ext cx="73152" cy="8686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93024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GNN-based 检索器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8193024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利用图神经网络编码结构信息，适合结构相关性更强的任务。</a:t>
            </a:r>
            <a:endParaRPr lang="en-US" sz="96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06 粒度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检索粒度：GraphRAG 召回的不一定是文本块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73936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实体本身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65760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34416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三元组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head-relation-tail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44652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34416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路径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多跳推理链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14400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773936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子图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2121408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局部关系网络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800600" y="4892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509320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544068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节点+边+文本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084064" y="2770632"/>
            <a:ext cx="2011680" cy="1325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7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326440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查询 q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41248" y="46451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5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粒度选择的权衡</a:t>
            </a:r>
            <a:endParaRPr lang="zh-CN" sz="150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5010912"/>
            <a:ext cx="10332720" cy="7315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粒度越小，召回更精确，但上下文可能不完整。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粒度越大，信息更丰富，但噪声和 token 成本更高。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实际系统常用混合策略：先粗召回，再扩展/剪枝。</a:t>
            </a:r>
            <a:endParaRPr lang="en-US" sz="11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30" name="FixedArrow_Query_to_Node"/>
          <p:cNvCxnSpPr/>
          <p:nvPr/>
        </p:nvCxnSpPr>
        <p:spPr>
          <a:xfrm>
            <a:off x="2926080" y="2029460"/>
            <a:ext cx="2329180" cy="103314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FixedArrow_Query_to_Triplet"/>
          <p:cNvCxnSpPr/>
          <p:nvPr/>
        </p:nvCxnSpPr>
        <p:spPr>
          <a:xfrm>
            <a:off x="4640580" y="2057400"/>
            <a:ext cx="875665" cy="83121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FixedArrow_Query_to_Path"/>
          <p:cNvCxnSpPr/>
          <p:nvPr/>
        </p:nvCxnSpPr>
        <p:spPr>
          <a:xfrm flipH="1">
            <a:off x="6089650" y="2057400"/>
            <a:ext cx="1339850" cy="71310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FixedArrow_Query_to_Subgraph"/>
          <p:cNvCxnSpPr>
            <a:endCxn id="20" idx="7"/>
          </p:cNvCxnSpPr>
          <p:nvPr/>
        </p:nvCxnSpPr>
        <p:spPr>
          <a:xfrm flipH="1">
            <a:off x="6800850" y="2029460"/>
            <a:ext cx="2343150" cy="93535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FixedArrow_Query_to_Hybrid"/>
          <p:cNvCxnSpPr>
            <a:stCxn id="20" idx="4"/>
            <a:endCxn id="17" idx="0"/>
          </p:cNvCxnSpPr>
          <p:nvPr/>
        </p:nvCxnSpPr>
        <p:spPr>
          <a:xfrm flipH="1">
            <a:off x="5783580" y="4096385"/>
            <a:ext cx="306070" cy="79565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07 G-Generation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图增强生成：把图证据翻译成模型可用上下文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5715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81328"/>
            <a:ext cx="5495544" cy="1490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538581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Fig.5：图增强生成流程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5331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生成阶段关注三件事</a:t>
            </a:r>
            <a:endParaRPr lang="en-US" sz="1530" dirty="0"/>
          </a:p>
        </p:txBody>
      </p:sp>
      <p:sp>
        <p:nvSpPr>
          <p:cNvPr id="9" name="Text 6"/>
          <p:cNvSpPr/>
          <p:nvPr/>
        </p:nvSpPr>
        <p:spPr>
          <a:xfrm>
            <a:off x="6812280" y="1764792"/>
            <a:ext cx="4526280" cy="132588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选生成器：GNN、语言模型、或二者结合。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转图格式：邻接/边表、自然语言、节点序列、代码式表达、语法树、图嵌入。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做增强：生成前增强、生成中交互、生成后校验/修正。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13232" y="385876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中文重绘：从结构证据到答案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8229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检索结果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9144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 / 边 / 路径 / 子图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33375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472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格式转换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34290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图语言 / 自然语言 / 嵌入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58521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生成器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9436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LLM / GNN / Hybrid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83667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764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答案输出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84582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更准确、更可解释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822960" y="5742432"/>
            <a:ext cx="10469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方法启示：</a:t>
            </a:r>
            <a:r>
              <a:rPr lang="en-US" alt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的生成质量很大程度取决于</a:t>
            </a:r>
            <a:r>
              <a:rPr lang="en-US" alt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图到文本</a:t>
            </a:r>
            <a:r>
              <a:rPr lang="en-US" alt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/</a:t>
            </a:r>
            <a:r>
              <a:rPr lang="zh-CN" alt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图到提示词</a:t>
            </a:r>
            <a:r>
              <a:rPr lang="en-US" alt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的表达是否保留了关键关系。</a:t>
            </a:r>
            <a:endParaRPr lang="zh-CN" altLang="en-US" sz="1060" b="1" dirty="0">
              <a:solidFill>
                <a:srgbClr val="D77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28" name="FixedArrow_Result_to_Format"/>
          <p:cNvCxnSpPr/>
          <p:nvPr/>
        </p:nvCxnSpPr>
        <p:spPr>
          <a:xfrm>
            <a:off x="26517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FixedArrow_Format_to_Generator"/>
          <p:cNvCxnSpPr/>
          <p:nvPr/>
        </p:nvCxnSpPr>
        <p:spPr>
          <a:xfrm>
            <a:off x="51663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FixedArrow_Generator_to_Output"/>
          <p:cNvCxnSpPr/>
          <p:nvPr/>
        </p:nvCxnSpPr>
        <p:spPr>
          <a:xfrm>
            <a:off x="76809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08 训练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训练策略：从 Prompt 编排到端到端优化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策略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0280" y="141732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做法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32120" y="141732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优点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02752" y="1417320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代价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4F1EA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免训练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用闭源 LLM、规则检索或预训练嵌入直接完成检索/生成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工程启动快，适合原型和通用任务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302752" y="187452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缺少任务定制，效果可能不是最优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6EAFD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单独训练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分别训练检索器或生成器，例如监督式检索、排序、微调生成器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532120" y="310896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可针对任务优化单个模块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模块间目标可能不一致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F6E1D9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4340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联合训练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240280" y="434340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同时优化检索器与生成器，让召回证据更服务最终答案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532120" y="434340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端到端效果潜力更高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302752" y="434340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数据、算力和训练稳定性要求高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31520" y="5779008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训练章节体现：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手工拼流程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走向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让检索和生成共同服务最终任务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zh-CN" altLang="en-US" sz="1080" b="1" dirty="0">
              <a:solidFill>
                <a:srgbClr val="D77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09 应用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应用与评估：GraphRAG 的主战场仍是知识密集任务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QA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知识问答 / KBQA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6EAFD"/>
          </a:solidFill>
          <a:ln w="12700">
            <a:solidFill>
              <a:srgbClr val="E6EAF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信息抽取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87952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4F1EA"/>
          </a:solidFill>
          <a:ln w="12700">
            <a:solidFill>
              <a:srgbClr val="E4F1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9392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推荐与搜索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7EBCB"/>
          </a:solidFill>
          <a:ln w="12700">
            <a:solidFill>
              <a:srgbClr val="F7EB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Bio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98464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医疗 / 生物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26096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FE7DD"/>
          </a:solidFill>
          <a:ln w="12700">
            <a:solidFill>
              <a:srgbClr val="EFE7D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Biz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17536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金融 / 企业知识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34516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4E4EF"/>
          </a:solidFill>
          <a:ln w="12700">
            <a:solidFill>
              <a:srgbClr val="F4E4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36608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工具与代理系统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" y="281635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评价指标要分层看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74980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246120"/>
            <a:ext cx="73152" cy="10515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5097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Recall、Precision、Hit@K、MRR；关注是否找到足够相关的节点/路径/子图。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27024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0248" y="3246120"/>
            <a:ext cx="73152" cy="10515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47141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EM、F1、BLEU、ROUGE、BERTScore、人工/GPT 评估；关注答案质量。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779068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0688" y="3246120"/>
            <a:ext cx="73152" cy="10515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9185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系统层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99185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延迟、成本、可解释性、可维护性；工业 GraphRAG 不能只看离线准确率。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86384" y="489204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102352"/>
            <a:ext cx="9829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评估重点：</a:t>
            </a:r>
            <a:r>
              <a:rPr lang="en-US" altLang="zh-CN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的评估难点在于</a:t>
            </a:r>
            <a:r>
              <a:rPr lang="en-US" altLang="zh-CN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正确答案</a:t>
            </a:r>
            <a:r>
              <a:rPr lang="en-US" altLang="zh-CN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之外，还要评价图证据是否可信、路径是否合理、上下文压缩是否丢失关键关系。</a:t>
            </a:r>
            <a:endParaRPr lang="zh-CN" altLang="en-US" sz="105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10 展望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未来方向：从静态图走向可维护的知识系统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58191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动态图与自适应图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50976" y="192024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实时吸收新实体和新关系，避免图数据库过时。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8191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多模态信息集成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把图像、音频、视频等模态纳入图结构，提升知识表达丰富度。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49808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90779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可扩展高效检索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50976" y="324612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在大规模图上控制延迟和成本，同时保留多跳推理能力。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199632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0779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结合图基础模型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0" y="324612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用更强的图表示学习能力提升通用性和迁移能力。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9808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23367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无损上下文压缩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50976" y="457200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把检索到的结构证据压缩进有限上下文，同时不丢关键关系。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199632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E4EF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3367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35B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标准 Benchmark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400800" y="457200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建立统一数据集、任务和指标，减少方法之间不可比的问题。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论文给出的未来方向可以归纳为一句话：GraphRAG 要从“能用图增强回答”升级为“可更新、可扩展、可评估的知识基础设施”。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11 总结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汇报总结：这篇综述给我们的实践启示</a:t>
            </a:r>
            <a:endParaRPr lang="zh-CN" sz="230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论文贡献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5074920" cy="14173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首次系统化整理 GraphRAG 方法，并给出统一三阶段工作流。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把已有研究按索引、检索、生成、训练、评估和应用进行分类。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明确 GraphRAG 的关键价值：利用结构关系提升知识密集任务的准确性和可解释性。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6419088" y="138988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局限与阅读注意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73952" y="1755648"/>
            <a:ext cx="4709160" cy="14173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作为综述，更多是分类框架，不提供统一实验结论。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不同工作使用的数据集、图构建方式和指标差异较大，横向比较要谨慎。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工业落地仍受图构建质量、更新机制、检索延迟和上下文预算限制。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749808" y="3822192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409651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实践落点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23160" y="4096512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 GraphRAG 时不要先迷恋复杂模型，先把“图从哪里来、检索什么粒度、如何转成生成上下文、如何评价证据质量”这四个问题打通。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24128" y="4617720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内容回顾：</a:t>
            </a:r>
            <a:r>
              <a:rPr lang="en-US" altLang="zh-CN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Fig.2 </a:t>
            </a:r>
            <a:r>
              <a:rPr lang="zh-CN" altLang="en-US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总框架</a:t>
            </a:r>
            <a:r>
              <a:rPr lang="en-US" altLang="zh-CN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-&gt; </a:t>
            </a:r>
            <a:r>
              <a:rPr lang="zh-CN" altLang="en-US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</a:t>
            </a:r>
            <a:r>
              <a:rPr lang="en-US" altLang="zh-CN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5/6/7 </a:t>
            </a:r>
            <a:r>
              <a:rPr lang="zh-CN" altLang="en-US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章三阶段</a:t>
            </a:r>
            <a:r>
              <a:rPr lang="en-US" altLang="zh-CN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-&gt; </a:t>
            </a:r>
            <a:r>
              <a:rPr lang="zh-CN" altLang="en-US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</a:t>
            </a:r>
            <a:r>
              <a:rPr lang="en-US" altLang="zh-CN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10 </a:t>
            </a:r>
            <a:r>
              <a:rPr lang="zh-CN" altLang="en-US" sz="10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章未来方向。</a:t>
            </a:r>
            <a:endParaRPr lang="zh-CN" altLang="en-US" sz="1080" dirty="0">
              <a:solidFill>
                <a:srgbClr val="6F62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" y="5833872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A7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资料来源：https://arxiv.org/pdf/2408.08921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3482</Words>
  <Application>WPS 演示</Application>
  <PresentationFormat>On-screen Show (16:9)</PresentationFormat>
  <Paragraphs>376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Aptos</vt:lpstr>
      <vt:lpstr>Segoe UI</vt:lpstr>
      <vt:lpstr>Aptos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论文精读</dc:title>
  <dc:creator>Codex</dc:creator>
  <dc:subject>Graph Retrieval-Augmented Generation: A Survey 中文论文精读</dc:subject>
  <cp:lastModifiedBy>橘子</cp:lastModifiedBy>
  <cp:revision>4</cp:revision>
  <dcterms:created xsi:type="dcterms:W3CDTF">2026-05-02T18:49:00Z</dcterms:created>
  <dcterms:modified xsi:type="dcterms:W3CDTF">2026-05-05T15:25:50Z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7B3A4E16515F4B35B1055C1BD726E25C_12</vt:lpwstr>
  </property>
  <property fmtid="{D5CDD505-2E9C-101B-9397-08002B2CF9AE}" pid="3" name="KSOProductBuildVer">
    <vt:lpwstr>2052-12.1.0.25225</vt:lpwstr>
  </property>
</Properties>
</file>