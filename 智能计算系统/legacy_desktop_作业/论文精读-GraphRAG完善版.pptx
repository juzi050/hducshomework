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0"/>
          </a:xfrm>
          <a:prstGeom prst="line">
            <a:avLst/>
          </a:prstGeom>
          <a:noFill/>
          <a:ln w="12700">
            <a:solidFill>
              <a:srgbClr val="E9DED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611112"/>
            <a:ext cx="384048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7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GraphRAG Survey | 中文论文精读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700">
                <a:solidFill>
                  <a:srgbClr val="8A7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700">
                <a:solidFill>
                  <a:srgbClr val="8A7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7" Type="http://schemas.openxmlformats.org/officeDocument/2006/relationships/notesSlide" Target="../notesSlides/notesSlide4.xml"/><Relationship Id="rId16" Type="http://schemas.openxmlformats.org/officeDocument/2006/relationships/slideLayout" Target="../slideLayouts/slideLayout2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 w="12700">
            <a:solidFill>
              <a:srgbClr val="FBF8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D77757"/>
          </a:solidFill>
          <a:ln w="12700">
            <a:solidFill>
              <a:srgbClr val="D7775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" y="658368"/>
            <a:ext cx="2011680" cy="320040"/>
          </a:xfrm>
          <a:prstGeom prst="roundRect">
            <a:avLst>
              <a:gd name="adj" fmla="val 17143"/>
            </a:avLst>
          </a:prstGeom>
          <a:solidFill>
            <a:srgbClr val="F6E1D9"/>
          </a:solidFill>
          <a:ln w="12700">
            <a:solidFill>
              <a:srgbClr val="F6E1D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731520"/>
            <a:ext cx="1865376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D77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arXiv:2408.08921 | Survey</a:t>
            </a:r>
            <a:endParaRPr lang="en-US" sz="860" dirty="0"/>
          </a:p>
        </p:txBody>
      </p:sp>
      <p:sp>
        <p:nvSpPr>
          <p:cNvPr id="6" name="Text 4"/>
          <p:cNvSpPr/>
          <p:nvPr/>
        </p:nvSpPr>
        <p:spPr>
          <a:xfrm>
            <a:off x="685800" y="1133856"/>
            <a:ext cx="4389120" cy="6217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sz="330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论文汇报</a:t>
            </a:r>
            <a:endParaRPr lang="zh-CN" sz="3300" b="1" dirty="0">
              <a:solidFill>
                <a:srgbClr val="2A24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13232" y="1956816"/>
            <a:ext cx="5577840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D77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 Retrieval-Augmented Generation: A Survey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788920"/>
            <a:ext cx="5212080" cy="9601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一篇系统梳理 GraphRAG 方法论的综述：从图索引、图检索到图增强生成，并讨论训练、评估、工业应用与未来方向。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31520" y="5321808"/>
            <a:ext cx="475488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8A7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Boci Peng, Yun Zhu, Yongchao Liu 等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A7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J. ACM, September 2024 / arXiv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46520" y="1024128"/>
            <a:ext cx="5074920" cy="384048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1430">
            <a:solidFill>
              <a:srgbClr val="E5D9CD"/>
            </a:solidFill>
            <a:prstDash val="solid"/>
          </a:ln>
        </p:spPr>
      </p:sp>
      <p:pic>
        <p:nvPicPr>
          <p:cNvPr id="11" name="Image 0" descr="C:\Users\86136\AppData\Local\Temp\graphrag_crops_v2\fig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56248" y="1133856"/>
            <a:ext cx="4855464" cy="345643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611112" y="4636008"/>
            <a:ext cx="4745736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8A7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原文 Fig.2：GraphRAG 总体框架</a:t>
            </a:r>
            <a:endParaRPr lang="en-US" sz="720" dirty="0"/>
          </a:p>
        </p:txBody>
      </p:sp>
      <p:sp>
        <p:nvSpPr>
          <p:cNvPr id="13" name="Text 10"/>
          <p:cNvSpPr/>
          <p:nvPr/>
        </p:nvSpPr>
        <p:spPr>
          <a:xfrm>
            <a:off x="6537960" y="5102352"/>
            <a:ext cx="489204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关键词：RAG、知识图谱、图神经网络、检索增强生成、结构化知识</a:t>
            </a:r>
            <a:endParaRPr lang="en-US" sz="9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47548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77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01 背景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研究背景：RAG 解决了什么，又留下了什么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133856"/>
            <a:ext cx="11064240" cy="0"/>
          </a:xfrm>
          <a:prstGeom prst="line">
            <a:avLst/>
          </a:prstGeom>
          <a:noFill/>
          <a:ln w="12700">
            <a:solidFill>
              <a:srgbClr val="E5D9C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508760"/>
            <a:ext cx="33375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0160">
            <a:solidFill>
              <a:srgbClr val="E5D9C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508760"/>
            <a:ext cx="73152" cy="1188720"/>
          </a:xfrm>
          <a:prstGeom prst="rect">
            <a:avLst/>
          </a:prstGeom>
          <a:solidFill>
            <a:srgbClr val="D77757"/>
          </a:solidFill>
          <a:ln w="12700">
            <a:solidFill>
              <a:srgbClr val="D77757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1673352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LLM 的三类短板</a:t>
            </a:r>
            <a:endParaRPr lang="en-US" sz="1120" dirty="0"/>
          </a:p>
        </p:txBody>
      </p:sp>
      <p:sp>
        <p:nvSpPr>
          <p:cNvPr id="8" name="Text 6"/>
          <p:cNvSpPr/>
          <p:nvPr/>
        </p:nvSpPr>
        <p:spPr>
          <a:xfrm>
            <a:off x="859536" y="2039112"/>
            <a:ext cx="3017520" cy="54864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领域知识缺失、知识过时、容易生成看似合理但不准确的内容。RAG 通过外部知识库补充上下文，降低幻觉风险。</a:t>
            </a:r>
            <a:endParaRPr lang="en-US" sz="960" dirty="0"/>
          </a:p>
        </p:txBody>
      </p:sp>
      <p:sp>
        <p:nvSpPr>
          <p:cNvPr id="9" name="Shape 7"/>
          <p:cNvSpPr/>
          <p:nvPr/>
        </p:nvSpPr>
        <p:spPr>
          <a:xfrm>
            <a:off x="4407408" y="1508760"/>
            <a:ext cx="33375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0160">
            <a:solidFill>
              <a:srgbClr val="E5D9C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07408" y="1508760"/>
            <a:ext cx="73152" cy="1188720"/>
          </a:xfrm>
          <a:prstGeom prst="rect">
            <a:avLst/>
          </a:prstGeom>
          <a:solidFill>
            <a:srgbClr val="5769F7"/>
          </a:solidFill>
          <a:ln w="12700">
            <a:solidFill>
              <a:srgbClr val="5769F7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08576" y="1673352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传统 RAG 的基本假设</a:t>
            </a:r>
            <a:endParaRPr lang="en-US" sz="1120" dirty="0"/>
          </a:p>
        </p:txBody>
      </p:sp>
      <p:sp>
        <p:nvSpPr>
          <p:cNvPr id="12" name="Text 10"/>
          <p:cNvSpPr/>
          <p:nvPr/>
        </p:nvSpPr>
        <p:spPr>
          <a:xfrm>
            <a:off x="4608576" y="2039112"/>
            <a:ext cx="3017520" cy="54864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把知识切成文本块，查询时做向量/关键词检索，再把相关文本塞回提示词。这个流程擅长找“相似文本”。</a:t>
            </a:r>
            <a:endParaRPr lang="en-US" sz="960" dirty="0"/>
          </a:p>
        </p:txBody>
      </p:sp>
      <p:sp>
        <p:nvSpPr>
          <p:cNvPr id="13" name="Shape 11"/>
          <p:cNvSpPr/>
          <p:nvPr/>
        </p:nvSpPr>
        <p:spPr>
          <a:xfrm>
            <a:off x="8156448" y="1508760"/>
            <a:ext cx="33375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0160">
            <a:solidFill>
              <a:srgbClr val="E5D9C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56448" y="1508760"/>
            <a:ext cx="73152" cy="1188720"/>
          </a:xfrm>
          <a:prstGeom prst="rect">
            <a:avLst/>
          </a:prstGeom>
          <a:solidFill>
            <a:srgbClr val="4F8C6B"/>
          </a:solidFill>
          <a:ln w="12700">
            <a:solidFill>
              <a:srgbClr val="4F8C6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57616" y="1673352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GraphRAG 的切入点</a:t>
            </a:r>
            <a:endParaRPr lang="en-US" sz="1120" dirty="0"/>
          </a:p>
        </p:txBody>
      </p:sp>
      <p:sp>
        <p:nvSpPr>
          <p:cNvPr id="16" name="Text 14"/>
          <p:cNvSpPr/>
          <p:nvPr/>
        </p:nvSpPr>
        <p:spPr>
          <a:xfrm>
            <a:off x="8357616" y="2039112"/>
            <a:ext cx="3017520" cy="54864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现实知识常常由实体和关系组成。只有文本相似度不够，需要显式利用节点、边、路径和子图。</a:t>
            </a:r>
            <a:endParaRPr lang="en-US" sz="960" dirty="0"/>
          </a:p>
        </p:txBody>
      </p:sp>
      <p:sp>
        <p:nvSpPr>
          <p:cNvPr id="17" name="Text 15"/>
          <p:cNvSpPr/>
          <p:nvPr/>
        </p:nvSpPr>
        <p:spPr>
          <a:xfrm>
            <a:off x="685800" y="3273552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论文的核心判断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777240" y="3703320"/>
            <a:ext cx="5577840" cy="1554480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GraphRAG 不是简单把知识图谱塞给 LLM，而是把“结构化检索”纳入 RAG 流程。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它的关键收益来自关系建模：实体之间的路径、邻域和子图能够表达普通文本块难以稳定捕捉的依赖。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综述贡献在于首次给出统一工作流，并按索引、检索、生成三个阶段整理已有方法。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903720" y="3246120"/>
            <a:ext cx="4480560" cy="1755648"/>
          </a:xfrm>
          <a:prstGeom prst="roundRect">
            <a:avLst>
              <a:gd name="adj" fmla="val 4167"/>
            </a:avLst>
          </a:prstGeom>
          <a:solidFill>
            <a:srgbClr val="F6E1D9"/>
          </a:solidFill>
          <a:ln w="10160">
            <a:solidFill>
              <a:srgbClr val="E6C8B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05472" y="3493008"/>
            <a:ext cx="3886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420" b="1" dirty="0">
                <a:solidFill>
                  <a:srgbClr val="D77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核心结论</a:t>
            </a:r>
            <a:endParaRPr lang="zh-CN" sz="1420" b="1" dirty="0">
              <a:solidFill>
                <a:srgbClr val="D777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205472" y="3913632"/>
            <a:ext cx="3886200" cy="685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当问题依赖“谁和谁有什么关系、经过什么路径产生影响”时，GraphRAG 比文本块 RAG 更容易给出可解释、可定位的答案。</a:t>
            </a:r>
            <a:endParaRPr lang="en-US" sz="12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700">
                <a:solidFill>
                  <a:srgbClr val="8A7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47548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77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02 动机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为什么需要 GraphRAG：关系是答案的一部分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133856"/>
            <a:ext cx="11064240" cy="0"/>
          </a:xfrm>
          <a:prstGeom prst="line">
            <a:avLst/>
          </a:prstGeom>
          <a:noFill/>
          <a:ln w="12700">
            <a:solidFill>
              <a:srgbClr val="E5D9C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389888"/>
            <a:ext cx="5806440" cy="3886200"/>
          </a:xfrm>
          <a:prstGeom prst="roundRect">
            <a:avLst>
              <a:gd name="adj" fmla="val 1412"/>
            </a:avLst>
          </a:prstGeom>
          <a:solidFill>
            <a:srgbClr val="FFFFFF"/>
          </a:solidFill>
          <a:ln w="11430">
            <a:solidFill>
              <a:srgbClr val="E5D9CD"/>
            </a:solidFill>
            <a:prstDash val="solid"/>
          </a:ln>
        </p:spPr>
      </p:sp>
      <p:pic>
        <p:nvPicPr>
          <p:cNvPr id="6" name="Image 0" descr="C:\Users\86136\AppData\Local\Temp\graphrag_crops_v2\fig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499616"/>
            <a:ext cx="5586984" cy="35021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58952" y="5047488"/>
            <a:ext cx="5477256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8A7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Fig.1：Direct LLM / RAG / GraphRAG 对比</a:t>
            </a:r>
            <a:endParaRPr lang="en-US" sz="720" dirty="0"/>
          </a:p>
        </p:txBody>
      </p:sp>
      <p:sp>
        <p:nvSpPr>
          <p:cNvPr id="8" name="Text 5"/>
          <p:cNvSpPr/>
          <p:nvPr/>
        </p:nvSpPr>
        <p:spPr>
          <a:xfrm>
            <a:off x="6784848" y="1371600"/>
            <a:ext cx="4297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图中案例的重点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6812280" y="1828800"/>
            <a:ext cx="4663440" cy="2377440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zh-CN" sz="1220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直接</a:t>
            </a:r>
            <a:r>
              <a:rPr lang="en-US" altLang="zh-CN" sz="1220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 LLM</a:t>
            </a:r>
            <a:r>
              <a:rPr lang="zh-CN" altLang="en-US" sz="1220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：能回答大方向，但容易浅层、泛化。</a:t>
            </a:r>
            <a:endParaRPr lang="en-US" altLang="zh-CN" sz="1220" dirty="0">
              <a:solidFill>
                <a:srgbClr val="2A24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  <a:p>
            <a:pPr marL="127000" indent="-127000">
              <a:buSzPct val="100000"/>
              <a:buChar char="•"/>
            </a:pPr>
            <a:r>
              <a:rPr lang="zh-CN" altLang="zh-CN" sz="1220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文本</a:t>
            </a:r>
            <a:r>
              <a:rPr lang="en-US" altLang="zh-CN" sz="1220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 RAG</a:t>
            </a:r>
            <a:r>
              <a:rPr lang="zh-CN" altLang="en-US" sz="1220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：能补充相关段落，却可能被长文本和表达差异稀释关键关系。</a:t>
            </a:r>
            <a:endParaRPr lang="en-US" altLang="zh-CN" sz="1220" dirty="0">
              <a:solidFill>
                <a:srgbClr val="2A24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  <a:p>
            <a:pPr marL="127000" indent="-127000">
              <a:buSzPct val="100000"/>
              <a:buChar char="•"/>
            </a:pPr>
            <a:r>
              <a:rPr lang="en-US" altLang="zh-CN" sz="1220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GraphRAG</a:t>
            </a:r>
            <a:r>
              <a:rPr lang="zh-CN" altLang="en-US" sz="1220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：把</a:t>
            </a:r>
            <a:r>
              <a:rPr lang="en-US" altLang="zh-CN" sz="1220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“</a:t>
            </a:r>
            <a:r>
              <a:rPr lang="zh-CN" altLang="en-US" sz="1220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莫奈</a:t>
            </a:r>
            <a:r>
              <a:rPr lang="en-US" altLang="zh-CN" sz="1220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 → </a:t>
            </a:r>
            <a:r>
              <a:rPr lang="zh-CN" altLang="en-US" sz="1220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绘画技法</a:t>
            </a:r>
            <a:r>
              <a:rPr lang="en-US" altLang="zh-CN" sz="1220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 → </a:t>
            </a:r>
            <a:r>
              <a:rPr lang="zh-CN" altLang="en-US" sz="1220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影响</a:t>
            </a:r>
            <a:r>
              <a:rPr lang="en-US" altLang="zh-CN" sz="1220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 → </a:t>
            </a:r>
            <a:r>
              <a:rPr lang="zh-CN" altLang="en-US" sz="1220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毕加索</a:t>
            </a:r>
            <a:r>
              <a:rPr lang="en-US" altLang="zh-CN" sz="1220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/</a:t>
            </a:r>
            <a:r>
              <a:rPr lang="zh-CN" altLang="en-US" sz="1220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立体主义</a:t>
            </a:r>
            <a:r>
              <a:rPr lang="en-US" altLang="zh-CN" sz="1220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”</a:t>
            </a:r>
            <a:r>
              <a:rPr lang="zh-CN" altLang="en-US" sz="1220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显式表示为可检索关系链。</a:t>
            </a:r>
            <a:endParaRPr lang="en-US" altLang="zh-CN" sz="1220" dirty="0">
              <a:solidFill>
                <a:srgbClr val="2A24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  <a:p>
            <a:pPr marL="127000" indent="-127000">
              <a:buSzPct val="100000"/>
              <a:buChar char="•"/>
            </a:pPr>
            <a:r>
              <a:rPr lang="zh-CN" altLang="zh-CN" sz="1220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结论：</a:t>
            </a:r>
            <a:r>
              <a:rPr lang="en-US" altLang="zh-CN" sz="1220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GraphRAG </a:t>
            </a:r>
            <a:r>
              <a:rPr lang="zh-CN" altLang="en-US" sz="1220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的优势不是更多上下文，而是更可控的结构化上下文。</a:t>
            </a:r>
            <a:endParaRPr lang="zh-CN" altLang="en-US" sz="1220" dirty="0">
              <a:solidFill>
                <a:srgbClr val="2A24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6812280" y="4617720"/>
            <a:ext cx="4526280" cy="658368"/>
          </a:xfrm>
          <a:prstGeom prst="roundRect">
            <a:avLst>
              <a:gd name="adj" fmla="val 11111"/>
            </a:avLst>
          </a:prstGeom>
          <a:solidFill>
            <a:srgbClr val="E6EAFD"/>
          </a:solidFill>
          <a:ln w="10160">
            <a:solidFill>
              <a:srgbClr val="C6D0F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040880" y="4800600"/>
            <a:ext cx="411480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zh-CN" sz="93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方法主线：</a:t>
            </a:r>
            <a:r>
              <a:rPr lang="en-US" altLang="zh-CN" sz="93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GraphRAG </a:t>
            </a:r>
            <a:r>
              <a:rPr lang="zh-CN" altLang="en-US" sz="93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如何把</a:t>
            </a:r>
            <a:r>
              <a:rPr lang="en-US" altLang="zh-CN" sz="93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“</a:t>
            </a:r>
            <a:r>
              <a:rPr lang="zh-CN" altLang="en-US" sz="93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关系</a:t>
            </a:r>
            <a:r>
              <a:rPr lang="en-US" altLang="zh-CN" sz="93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”</a:t>
            </a:r>
            <a:r>
              <a:rPr lang="zh-CN" altLang="en-US" sz="93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转化为可索引、可检索、可生成的中间表示？</a:t>
            </a:r>
            <a:endParaRPr lang="zh-CN" altLang="en-US" sz="930" b="1" dirty="0">
              <a:solidFill>
                <a:srgbClr val="2A24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700">
                <a:solidFill>
                  <a:srgbClr val="8A7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47548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77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03 框架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GraphRAG 总体框架：三个阶段串起端到端流程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133856"/>
            <a:ext cx="11064240" cy="0"/>
          </a:xfrm>
          <a:prstGeom prst="line">
            <a:avLst/>
          </a:prstGeom>
          <a:noFill/>
          <a:ln w="12700">
            <a:solidFill>
              <a:srgbClr val="E5D9C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316736"/>
            <a:ext cx="5852160" cy="3749040"/>
          </a:xfrm>
          <a:prstGeom prst="roundRect">
            <a:avLst>
              <a:gd name="adj" fmla="val 1463"/>
            </a:avLst>
          </a:prstGeom>
          <a:solidFill>
            <a:srgbClr val="FFFFFF"/>
          </a:solidFill>
          <a:ln w="11430">
            <a:solidFill>
              <a:srgbClr val="E5D9CD"/>
            </a:solidFill>
            <a:prstDash val="solid"/>
          </a:ln>
        </p:spPr>
      </p:sp>
      <p:pic>
        <p:nvPicPr>
          <p:cNvPr id="6" name="Image 0" descr="C:\Users\86136\AppData\Local\Temp\graphrag_crops_v2\fig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426464"/>
            <a:ext cx="5632704" cy="33649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58952" y="4837176"/>
            <a:ext cx="5522976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8A7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Fig.2：GraphRAG QA 工作流</a:t>
            </a:r>
            <a:endParaRPr lang="en-US" sz="720" dirty="0"/>
          </a:p>
        </p:txBody>
      </p:sp>
      <p:sp>
        <p:nvSpPr>
          <p:cNvPr id="8" name="Shape 5"/>
          <p:cNvSpPr/>
          <p:nvPr>
            <p:custDataLst>
              <p:tags r:id="rId2"/>
            </p:custDataLst>
          </p:nvPr>
        </p:nvSpPr>
        <p:spPr>
          <a:xfrm>
            <a:off x="6903720" y="1508760"/>
            <a:ext cx="1417320" cy="1143000"/>
          </a:xfrm>
          <a:prstGeom prst="roundRect">
            <a:avLst>
              <a:gd name="adj" fmla="val 6400"/>
            </a:avLst>
          </a:prstGeom>
          <a:solidFill>
            <a:srgbClr val="E4F1EA"/>
          </a:solidFill>
          <a:ln w="10160">
            <a:solidFill>
              <a:srgbClr val="E5D9CD"/>
            </a:solidFill>
            <a:prstDash val="solid"/>
          </a:ln>
        </p:spPr>
      </p:sp>
      <p:sp>
        <p:nvSpPr>
          <p:cNvPr id="9" name="Shape 6"/>
          <p:cNvSpPr/>
          <p:nvPr>
            <p:custDataLst>
              <p:tags r:id="rId3"/>
            </p:custDataLst>
          </p:nvPr>
        </p:nvSpPr>
        <p:spPr>
          <a:xfrm>
            <a:off x="6903720" y="1508760"/>
            <a:ext cx="73152" cy="1143000"/>
          </a:xfrm>
          <a:prstGeom prst="rect">
            <a:avLst/>
          </a:prstGeom>
          <a:solidFill>
            <a:srgbClr val="4F8C6B"/>
          </a:solidFill>
          <a:ln w="12700">
            <a:solidFill>
              <a:srgbClr val="4F8C6B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>
            <p:custDataLst>
              <p:tags r:id="rId4"/>
            </p:custDataLst>
          </p:nvPr>
        </p:nvSpPr>
        <p:spPr>
          <a:xfrm>
            <a:off x="7104888" y="1673352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G-Indexing</a:t>
            </a:r>
            <a:endParaRPr lang="en-US" sz="1120" dirty="0"/>
          </a:p>
        </p:txBody>
      </p:sp>
      <p:sp>
        <p:nvSpPr>
          <p:cNvPr id="11" name="Text 8"/>
          <p:cNvSpPr/>
          <p:nvPr>
            <p:custDataLst>
              <p:tags r:id="rId5"/>
            </p:custDataLst>
          </p:nvPr>
        </p:nvSpPr>
        <p:spPr>
          <a:xfrm>
            <a:off x="7104888" y="2039112"/>
            <a:ext cx="1097280" cy="5029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选择或构建图数据库，并为节点、边、文本描述或图嵌入建立索引。</a:t>
            </a:r>
            <a:endParaRPr lang="en-US" sz="910" dirty="0">
              <a:solidFill>
                <a:srgbClr val="6F62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13" name="Shape 10"/>
          <p:cNvSpPr/>
          <p:nvPr>
            <p:custDataLst>
              <p:tags r:id="rId6"/>
            </p:custDataLst>
          </p:nvPr>
        </p:nvSpPr>
        <p:spPr>
          <a:xfrm>
            <a:off x="8961120" y="1508760"/>
            <a:ext cx="1417320" cy="1143000"/>
          </a:xfrm>
          <a:prstGeom prst="roundRect">
            <a:avLst>
              <a:gd name="adj" fmla="val 6400"/>
            </a:avLst>
          </a:prstGeom>
          <a:solidFill>
            <a:srgbClr val="F7EBCB"/>
          </a:solidFill>
          <a:ln w="10160">
            <a:solidFill>
              <a:srgbClr val="E5D9CD"/>
            </a:solidFill>
            <a:prstDash val="solid"/>
          </a:ln>
        </p:spPr>
      </p:sp>
      <p:sp>
        <p:nvSpPr>
          <p:cNvPr id="14" name="Shape 11"/>
          <p:cNvSpPr/>
          <p:nvPr>
            <p:custDataLst>
              <p:tags r:id="rId7"/>
            </p:custDataLst>
          </p:nvPr>
        </p:nvSpPr>
        <p:spPr>
          <a:xfrm>
            <a:off x="8961120" y="1508760"/>
            <a:ext cx="73152" cy="1143000"/>
          </a:xfrm>
          <a:prstGeom prst="rect">
            <a:avLst/>
          </a:prstGeom>
          <a:solidFill>
            <a:srgbClr val="E8BC5A"/>
          </a:solidFill>
          <a:ln w="12700">
            <a:solidFill>
              <a:srgbClr val="E8BC5A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>
            <p:custDataLst>
              <p:tags r:id="rId8"/>
            </p:custDataLst>
          </p:nvPr>
        </p:nvSpPr>
        <p:spPr>
          <a:xfrm>
            <a:off x="9162288" y="1673352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G-Retrieval</a:t>
            </a:r>
            <a:endParaRPr lang="en-US" sz="1120" dirty="0"/>
          </a:p>
        </p:txBody>
      </p:sp>
      <p:sp>
        <p:nvSpPr>
          <p:cNvPr id="16" name="Text 13"/>
          <p:cNvSpPr/>
          <p:nvPr>
            <p:custDataLst>
              <p:tags r:id="rId9"/>
            </p:custDataLst>
          </p:nvPr>
        </p:nvSpPr>
        <p:spPr>
          <a:xfrm>
            <a:off x="9162288" y="2039112"/>
            <a:ext cx="1097280" cy="5029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根据查询召回相关节点、三元组、路径、子图或混合结构。</a:t>
            </a:r>
            <a:endParaRPr lang="en-US" sz="960" dirty="0"/>
          </a:p>
        </p:txBody>
      </p:sp>
      <p:sp>
        <p:nvSpPr>
          <p:cNvPr id="18" name="Shape 15"/>
          <p:cNvSpPr/>
          <p:nvPr>
            <p:custDataLst>
              <p:tags r:id="rId10"/>
            </p:custDataLst>
          </p:nvPr>
        </p:nvSpPr>
        <p:spPr>
          <a:xfrm>
            <a:off x="10652760" y="1508760"/>
            <a:ext cx="1417320" cy="1143000"/>
          </a:xfrm>
          <a:prstGeom prst="roundRect">
            <a:avLst>
              <a:gd name="adj" fmla="val 6400"/>
            </a:avLst>
          </a:prstGeom>
          <a:solidFill>
            <a:srgbClr val="F6E1D9"/>
          </a:solidFill>
          <a:ln w="10160">
            <a:solidFill>
              <a:srgbClr val="E5D9CD"/>
            </a:solidFill>
            <a:prstDash val="solid"/>
          </a:ln>
        </p:spPr>
      </p:sp>
      <p:sp>
        <p:nvSpPr>
          <p:cNvPr id="19" name="Shape 16"/>
          <p:cNvSpPr/>
          <p:nvPr>
            <p:custDataLst>
              <p:tags r:id="rId11"/>
            </p:custDataLst>
          </p:nvPr>
        </p:nvSpPr>
        <p:spPr>
          <a:xfrm>
            <a:off x="10652760" y="1508760"/>
            <a:ext cx="73152" cy="1143000"/>
          </a:xfrm>
          <a:prstGeom prst="rect">
            <a:avLst/>
          </a:prstGeom>
          <a:solidFill>
            <a:srgbClr val="D77757"/>
          </a:solidFill>
          <a:ln w="12700">
            <a:solidFill>
              <a:srgbClr val="D77757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>
            <p:custDataLst>
              <p:tags r:id="rId12"/>
            </p:custDataLst>
          </p:nvPr>
        </p:nvSpPr>
        <p:spPr>
          <a:xfrm>
            <a:off x="10853928" y="1673352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G-Generation</a:t>
            </a:r>
            <a:endParaRPr lang="en-US" sz="1120" dirty="0"/>
          </a:p>
        </p:txBody>
      </p:sp>
      <p:sp>
        <p:nvSpPr>
          <p:cNvPr id="21" name="Text 18"/>
          <p:cNvSpPr/>
          <p:nvPr>
            <p:custDataLst>
              <p:tags r:id="rId13"/>
            </p:custDataLst>
          </p:nvPr>
        </p:nvSpPr>
        <p:spPr>
          <a:xfrm>
            <a:off x="10853928" y="2039112"/>
            <a:ext cx="1097280" cy="5029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把图结构转成模型可消费的格式，并生成最终答案。</a:t>
            </a:r>
            <a:endParaRPr lang="en-US" sz="960" dirty="0"/>
          </a:p>
        </p:txBody>
      </p:sp>
      <p:sp>
        <p:nvSpPr>
          <p:cNvPr id="22" name="Text 19"/>
          <p:cNvSpPr/>
          <p:nvPr/>
        </p:nvSpPr>
        <p:spPr>
          <a:xfrm>
            <a:off x="6876288" y="3063240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2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形式化理解</a:t>
            </a:r>
            <a:endParaRPr lang="en-US" sz="1520" dirty="0"/>
          </a:p>
        </p:txBody>
      </p:sp>
      <p:sp>
        <p:nvSpPr>
          <p:cNvPr id="23" name="Text 20"/>
          <p:cNvSpPr/>
          <p:nvPr/>
        </p:nvSpPr>
        <p:spPr>
          <a:xfrm>
            <a:off x="6903720" y="3493008"/>
            <a:ext cx="4572000" cy="1261872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210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目标：在查询 q 和图数据库 G 条件下，生成最优答案 a。</a:t>
            </a:r>
            <a:endParaRPr lang="en-US" sz="1210" dirty="0"/>
          </a:p>
          <a:p>
            <a:pPr marL="127000" indent="-127000">
              <a:buSzPct val="100000"/>
              <a:buChar char="•"/>
            </a:pPr>
            <a:r>
              <a:rPr lang="en-US" sz="1210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由于候选子图数量会随图规模爆炸，实际系统通常先近似检索最优子图 G*。</a:t>
            </a:r>
            <a:endParaRPr lang="en-US" sz="1210" dirty="0"/>
          </a:p>
          <a:p>
            <a:pPr marL="127000" indent="-127000">
              <a:buSzPct val="100000"/>
              <a:buChar char="•"/>
            </a:pPr>
            <a:r>
              <a:rPr lang="en-US" sz="1210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生成器基于 q 与 G* 生成答案；检索质量直接决定生成上限。</a:t>
            </a:r>
            <a:endParaRPr lang="en-US" sz="1210" dirty="0"/>
          </a:p>
        </p:txBody>
      </p:sp>
      <p:sp>
        <p:nvSpPr>
          <p:cNvPr id="24" name="Text 21"/>
          <p:cNvSpPr/>
          <p:nvPr/>
        </p:nvSpPr>
        <p:spPr>
          <a:xfrm>
            <a:off x="6903720" y="4983480"/>
            <a:ext cx="457200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这也是本文后续章节的组织主线：第 5 章索引，第 6 章检索，第 7 章生成，第 8-10 章训练、评估与展望。</a:t>
            </a:r>
            <a:endParaRPr lang="en-US" sz="10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700">
                <a:solidFill>
                  <a:srgbClr val="8A7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  <p:cxnSp>
        <p:nvCxnSpPr>
          <p:cNvPr id="26" name="FixedArrow_Index_to_Retrieval"/>
          <p:cNvCxnSpPr/>
          <p:nvPr>
            <p:custDataLst>
              <p:tags r:id="rId14"/>
            </p:custDataLst>
          </p:nvPr>
        </p:nvCxnSpPr>
        <p:spPr>
          <a:xfrm>
            <a:off x="8321040" y="2080260"/>
            <a:ext cx="640080" cy="635"/>
          </a:xfrm>
          <a:prstGeom prst="line">
            <a:avLst/>
          </a:prstGeom>
          <a:ln w="19050">
            <a:solidFill>
              <a:srgbClr val="5A6576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FixedArrow_Retrieval_to_Generation"/>
          <p:cNvCxnSpPr/>
          <p:nvPr>
            <p:custDataLst>
              <p:tags r:id="rId15"/>
            </p:custDataLst>
          </p:nvPr>
        </p:nvCxnSpPr>
        <p:spPr>
          <a:xfrm>
            <a:off x="10378440" y="2080260"/>
            <a:ext cx="274320" cy="635"/>
          </a:xfrm>
          <a:prstGeom prst="line">
            <a:avLst/>
          </a:prstGeom>
          <a:ln w="19050">
            <a:solidFill>
              <a:srgbClr val="5A6576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47548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77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04 G-Indexing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图索引：先决定图从哪里来、怎么被找到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133856"/>
            <a:ext cx="11064240" cy="0"/>
          </a:xfrm>
          <a:prstGeom prst="line">
            <a:avLst/>
          </a:prstGeom>
          <a:noFill/>
          <a:ln w="12700">
            <a:solidFill>
              <a:srgbClr val="E5D9C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53312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图数据来源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31520" y="1783080"/>
            <a:ext cx="32461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0160">
            <a:solidFill>
              <a:srgbClr val="E5D9C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783080"/>
            <a:ext cx="73152" cy="1508760"/>
          </a:xfrm>
          <a:prstGeom prst="rect">
            <a:avLst/>
          </a:prstGeom>
          <a:solidFill>
            <a:srgbClr val="4F8C6B"/>
          </a:solidFill>
          <a:ln w="12700">
            <a:solidFill>
              <a:srgbClr val="4F8C6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947672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开放知识图谱</a:t>
            </a:r>
            <a:endParaRPr lang="en-US" sz="1120" dirty="0"/>
          </a:p>
        </p:txBody>
      </p:sp>
      <p:sp>
        <p:nvSpPr>
          <p:cNvPr id="9" name="Text 7"/>
          <p:cNvSpPr/>
          <p:nvPr/>
        </p:nvSpPr>
        <p:spPr>
          <a:xfrm>
            <a:off x="932688" y="2313432"/>
            <a:ext cx="2926080" cy="8686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Wikidata、DBpedia、Freebase、领域知识图谱等。优势是构建成本低、覆盖面广；问题是任务适配和更新粒度不可完全控制。</a:t>
            </a:r>
            <a:endParaRPr lang="en-US" sz="960" dirty="0"/>
          </a:p>
        </p:txBody>
      </p:sp>
      <p:sp>
        <p:nvSpPr>
          <p:cNvPr id="10" name="Shape 8"/>
          <p:cNvSpPr/>
          <p:nvPr/>
        </p:nvSpPr>
        <p:spPr>
          <a:xfrm>
            <a:off x="4343400" y="1783080"/>
            <a:ext cx="32461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0160">
            <a:solidFill>
              <a:srgbClr val="E5D9C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43400" y="1783080"/>
            <a:ext cx="73152" cy="1508760"/>
          </a:xfrm>
          <a:prstGeom prst="rect">
            <a:avLst/>
          </a:prstGeom>
          <a:solidFill>
            <a:srgbClr val="D77757"/>
          </a:solidFill>
          <a:ln w="12700">
            <a:solidFill>
              <a:srgbClr val="D77757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44568" y="1947672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自构建图数据</a:t>
            </a:r>
            <a:endParaRPr lang="en-US" sz="1120" dirty="0"/>
          </a:p>
        </p:txBody>
      </p:sp>
      <p:sp>
        <p:nvSpPr>
          <p:cNvPr id="13" name="Text 11"/>
          <p:cNvSpPr/>
          <p:nvPr/>
        </p:nvSpPr>
        <p:spPr>
          <a:xfrm>
            <a:off x="4544568" y="2313432"/>
            <a:ext cx="2926080" cy="8686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从文档、数据库、日志或业务系统中抽取实体与关系。优势是贴近任务；难点是抽取质量、实体对齐和维护成本。</a:t>
            </a:r>
            <a:endParaRPr lang="en-US" sz="960" dirty="0"/>
          </a:p>
        </p:txBody>
      </p:sp>
      <p:sp>
        <p:nvSpPr>
          <p:cNvPr id="14" name="Shape 12"/>
          <p:cNvSpPr/>
          <p:nvPr/>
        </p:nvSpPr>
        <p:spPr>
          <a:xfrm>
            <a:off x="7955280" y="1783080"/>
            <a:ext cx="32461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0160">
            <a:solidFill>
              <a:srgbClr val="E5D9C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55280" y="1783080"/>
            <a:ext cx="73152" cy="1508760"/>
          </a:xfrm>
          <a:prstGeom prst="rect">
            <a:avLst/>
          </a:prstGeom>
          <a:solidFill>
            <a:srgbClr val="5769F7"/>
          </a:solidFill>
          <a:ln w="12700">
            <a:solidFill>
              <a:srgbClr val="5769F7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56448" y="1947672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混合图</a:t>
            </a:r>
            <a:endParaRPr lang="en-US" sz="1120" dirty="0"/>
          </a:p>
        </p:txBody>
      </p:sp>
      <p:sp>
        <p:nvSpPr>
          <p:cNvPr id="17" name="Text 15"/>
          <p:cNvSpPr/>
          <p:nvPr/>
        </p:nvSpPr>
        <p:spPr>
          <a:xfrm>
            <a:off x="8156448" y="2313432"/>
            <a:ext cx="2926080" cy="8686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把公开图谱与私有知识合并，兼顾通用知识和业务知识，但需要解决冲突、去重和权限边界。</a:t>
            </a:r>
            <a:endParaRPr lang="en-US" sz="910" dirty="0">
              <a:solidFill>
                <a:srgbClr val="6F62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85800" y="3794760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索引方式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804672" y="4315968"/>
            <a:ext cx="1627632" cy="1051560"/>
          </a:xfrm>
          <a:prstGeom prst="roundRect">
            <a:avLst>
              <a:gd name="adj" fmla="val 6957"/>
            </a:avLst>
          </a:prstGeom>
          <a:solidFill>
            <a:srgbClr val="E4F1EA"/>
          </a:solidFill>
          <a:ln w="7620">
            <a:solidFill>
              <a:srgbClr val="E5D9C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7824" y="4526280"/>
            <a:ext cx="1481328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图结构索引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96112" y="4864608"/>
            <a:ext cx="1444752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邻接表、路径搜索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2788920" y="4315968"/>
            <a:ext cx="1627632" cy="1051560"/>
          </a:xfrm>
          <a:prstGeom prst="roundRect">
            <a:avLst>
              <a:gd name="adj" fmla="val 6957"/>
            </a:avLst>
          </a:prstGeom>
          <a:solidFill>
            <a:srgbClr val="F6E1D9"/>
          </a:solidFill>
          <a:ln w="7620">
            <a:solidFill>
              <a:srgbClr val="E5D9C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62072" y="4526280"/>
            <a:ext cx="1481328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文本索引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880360" y="4864608"/>
            <a:ext cx="1444752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三元组转自然语言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4773168" y="4315968"/>
            <a:ext cx="1627632" cy="1051560"/>
          </a:xfrm>
          <a:prstGeom prst="roundRect">
            <a:avLst>
              <a:gd name="adj" fmla="val 6957"/>
            </a:avLst>
          </a:prstGeom>
          <a:solidFill>
            <a:srgbClr val="E6EAFD"/>
          </a:solidFill>
          <a:ln w="7620">
            <a:solidFill>
              <a:srgbClr val="E5D9C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4526280"/>
            <a:ext cx="1481328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向量索引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64608" y="4864608"/>
            <a:ext cx="1444752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语义相似度检索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6757416" y="4315968"/>
            <a:ext cx="1627632" cy="1051560"/>
          </a:xfrm>
          <a:prstGeom prst="roundRect">
            <a:avLst>
              <a:gd name="adj" fmla="val 6957"/>
            </a:avLst>
          </a:prstGeom>
          <a:solidFill>
            <a:srgbClr val="F7EBCB"/>
          </a:solidFill>
          <a:ln w="7620">
            <a:solidFill>
              <a:srgbClr val="E5D9C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30568" y="4526280"/>
            <a:ext cx="1481328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图嵌入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48856" y="4864608"/>
            <a:ext cx="1444752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 algn="ctr">
              <a:buNone/>
            </a:pPr>
            <a:r>
              <a:rPr lang="zh-CN" altLang="en-US" sz="820" dirty="0"/>
              <a:t>让模型学会理解图里的连接关系</a:t>
            </a:r>
            <a:endParaRPr lang="zh-CN" alt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8741664" y="4315968"/>
            <a:ext cx="1627632" cy="1051560"/>
          </a:xfrm>
          <a:prstGeom prst="roundRect">
            <a:avLst>
              <a:gd name="adj" fmla="val 6957"/>
            </a:avLst>
          </a:prstGeom>
          <a:solidFill>
            <a:srgbClr val="EFE7DD"/>
          </a:solidFill>
          <a:ln w="7620">
            <a:solidFill>
              <a:srgbClr val="E5D9C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814816" y="4526280"/>
            <a:ext cx="1481328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混合索引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833104" y="4864608"/>
            <a:ext cx="1444752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结构+语义组合</a:t>
            </a:r>
            <a:endParaRPr lang="en-US" sz="820" dirty="0"/>
          </a:p>
        </p:txBody>
      </p:sp>
      <p:sp>
        <p:nvSpPr>
          <p:cNvPr id="34" name="Text 32"/>
          <p:cNvSpPr/>
          <p:nvPr/>
        </p:nvSpPr>
        <p:spPr>
          <a:xfrm>
            <a:off x="822960" y="5715000"/>
            <a:ext cx="102412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sz="1120" b="1" dirty="0">
                <a:solidFill>
                  <a:srgbClr val="D77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方法启示：索引不是工程细节，而是决定</a:t>
            </a:r>
            <a:r>
              <a:rPr lang="en-US" altLang="zh-CN" sz="1120" b="1" dirty="0">
                <a:solidFill>
                  <a:srgbClr val="D77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 GraphRAG </a:t>
            </a:r>
            <a:r>
              <a:rPr lang="zh-CN" altLang="en-US" sz="1120" b="1" dirty="0">
                <a:solidFill>
                  <a:srgbClr val="D77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能召回什么</a:t>
            </a:r>
            <a:r>
              <a:rPr lang="en-US" altLang="zh-CN" sz="1120" b="1" dirty="0">
                <a:solidFill>
                  <a:srgbClr val="D77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“</a:t>
            </a:r>
            <a:r>
              <a:rPr lang="zh-CN" altLang="en-US" sz="1120" b="1" dirty="0">
                <a:solidFill>
                  <a:srgbClr val="D77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结构证据</a:t>
            </a:r>
            <a:r>
              <a:rPr lang="en-US" altLang="zh-CN" sz="1120" b="1" dirty="0">
                <a:solidFill>
                  <a:srgbClr val="D77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”</a:t>
            </a:r>
            <a:r>
              <a:rPr lang="zh-CN" altLang="en-US" sz="1120" b="1" dirty="0">
                <a:solidFill>
                  <a:srgbClr val="D77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的第一道关。</a:t>
            </a:r>
            <a:endParaRPr lang="zh-CN" altLang="en-US" sz="1120" b="1" dirty="0">
              <a:solidFill>
                <a:srgbClr val="D777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700">
                <a:solidFill>
                  <a:srgbClr val="8A7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47548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77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05 G-Retrieval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图检索：在指数级候选子图中找有用证据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133856"/>
            <a:ext cx="11064240" cy="0"/>
          </a:xfrm>
          <a:prstGeom prst="line">
            <a:avLst/>
          </a:prstGeom>
          <a:noFill/>
          <a:ln w="12700">
            <a:solidFill>
              <a:srgbClr val="E5D9C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1353312"/>
            <a:ext cx="5806440" cy="242316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1430">
            <a:solidFill>
              <a:srgbClr val="E5D9CD"/>
            </a:solidFill>
            <a:prstDash val="solid"/>
          </a:ln>
        </p:spPr>
      </p:sp>
      <p:pic>
        <p:nvPicPr>
          <p:cNvPr id="6" name="Image 0" descr="C:\Users\86136\AppData\Local\Temp\graphrag_crops_v2\fig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5586984" cy="20391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86384" y="3547872"/>
            <a:ext cx="5477256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8A7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Fig.4：图检索一般架构</a:t>
            </a:r>
            <a:endParaRPr lang="en-US" sz="720" dirty="0"/>
          </a:p>
        </p:txBody>
      </p:sp>
      <p:sp>
        <p:nvSpPr>
          <p:cNvPr id="8" name="Text 5"/>
          <p:cNvSpPr/>
          <p:nvPr/>
        </p:nvSpPr>
        <p:spPr>
          <a:xfrm>
            <a:off x="6812280" y="1371600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3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两类核心挑战</a:t>
            </a:r>
            <a:endParaRPr lang="en-US" sz="1530" dirty="0"/>
          </a:p>
        </p:txBody>
      </p:sp>
      <p:sp>
        <p:nvSpPr>
          <p:cNvPr id="9" name="Shape 6"/>
          <p:cNvSpPr/>
          <p:nvPr/>
        </p:nvSpPr>
        <p:spPr>
          <a:xfrm>
            <a:off x="6812280" y="1783080"/>
            <a:ext cx="44348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E5D9C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812280" y="1783080"/>
            <a:ext cx="73152" cy="1097280"/>
          </a:xfrm>
          <a:prstGeom prst="rect">
            <a:avLst/>
          </a:prstGeom>
          <a:solidFill>
            <a:srgbClr val="D77757"/>
          </a:solidFill>
          <a:ln w="12700">
            <a:solidFill>
              <a:srgbClr val="D77757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013448" y="1947672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候选子图爆炸</a:t>
            </a:r>
            <a:endParaRPr lang="en-US" sz="1120" dirty="0"/>
          </a:p>
        </p:txBody>
      </p:sp>
      <p:sp>
        <p:nvSpPr>
          <p:cNvPr id="12" name="Text 9"/>
          <p:cNvSpPr/>
          <p:nvPr/>
        </p:nvSpPr>
        <p:spPr>
          <a:xfrm>
            <a:off x="7013448" y="2313432"/>
            <a:ext cx="4114800" cy="4572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图越大，可能的子图组合越多。系统必须用启发式搜索、分阶段检索或迭代检索缩小搜索空间。</a:t>
            </a:r>
            <a:endParaRPr lang="en-US" sz="960" dirty="0"/>
          </a:p>
        </p:txBody>
      </p:sp>
      <p:sp>
        <p:nvSpPr>
          <p:cNvPr id="13" name="Shape 10"/>
          <p:cNvSpPr/>
          <p:nvPr/>
        </p:nvSpPr>
        <p:spPr>
          <a:xfrm>
            <a:off x="6812280" y="3154680"/>
            <a:ext cx="44348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E5D9C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12280" y="3154680"/>
            <a:ext cx="73152" cy="1097280"/>
          </a:xfrm>
          <a:prstGeom prst="rect">
            <a:avLst/>
          </a:prstGeom>
          <a:solidFill>
            <a:srgbClr val="5769F7"/>
          </a:solidFill>
          <a:ln w="12700">
            <a:solidFill>
              <a:srgbClr val="5769F7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013448" y="3319272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相似度度量不足</a:t>
            </a:r>
            <a:endParaRPr lang="en-US" sz="1120" dirty="0"/>
          </a:p>
        </p:txBody>
      </p:sp>
      <p:sp>
        <p:nvSpPr>
          <p:cNvPr id="16" name="Text 13"/>
          <p:cNvSpPr/>
          <p:nvPr/>
        </p:nvSpPr>
        <p:spPr>
          <a:xfrm>
            <a:off x="7013448" y="3685032"/>
            <a:ext cx="4114800" cy="4572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查询是文本，图是结构。只比较文本相似度会漏掉路径和关系，需要结合语义、结构和任务目标。</a:t>
            </a:r>
            <a:endParaRPr lang="en-US" sz="960" dirty="0"/>
          </a:p>
        </p:txBody>
      </p:sp>
      <p:sp>
        <p:nvSpPr>
          <p:cNvPr id="17" name="Text 14"/>
          <p:cNvSpPr/>
          <p:nvPr/>
        </p:nvSpPr>
        <p:spPr>
          <a:xfrm>
            <a:off x="713232" y="4370832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3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检索器类型</a:t>
            </a:r>
            <a:endParaRPr lang="en-US" sz="1530" dirty="0"/>
          </a:p>
        </p:txBody>
      </p:sp>
      <p:sp>
        <p:nvSpPr>
          <p:cNvPr id="18" name="Shape 15"/>
          <p:cNvSpPr/>
          <p:nvPr/>
        </p:nvSpPr>
        <p:spPr>
          <a:xfrm>
            <a:off x="749808" y="4736592"/>
            <a:ext cx="3246120" cy="868680"/>
          </a:xfrm>
          <a:prstGeom prst="roundRect">
            <a:avLst>
              <a:gd name="adj" fmla="val 8421"/>
            </a:avLst>
          </a:prstGeom>
          <a:solidFill>
            <a:srgbClr val="E4F1EA"/>
          </a:solidFill>
          <a:ln w="10160">
            <a:solidFill>
              <a:srgbClr val="E5D9CD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49808" y="4736592"/>
            <a:ext cx="73152" cy="868680"/>
          </a:xfrm>
          <a:prstGeom prst="rect">
            <a:avLst/>
          </a:prstGeom>
          <a:solidFill>
            <a:srgbClr val="4F8C6B"/>
          </a:solidFill>
          <a:ln w="12700">
            <a:solidFill>
              <a:srgbClr val="4F8C6B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50976" y="4901184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非参数检索器</a:t>
            </a:r>
            <a:endParaRPr lang="en-US" sz="1120" dirty="0"/>
          </a:p>
        </p:txBody>
      </p:sp>
      <p:sp>
        <p:nvSpPr>
          <p:cNvPr id="21" name="Text 18"/>
          <p:cNvSpPr/>
          <p:nvPr/>
        </p:nvSpPr>
        <p:spPr>
          <a:xfrm>
            <a:off x="950976" y="5266944"/>
            <a:ext cx="2926080" cy="2286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规则、BFS、最短路、k-hop 等，效率高、可解释，但适配复杂语义有限。</a:t>
            </a:r>
            <a:endParaRPr lang="en-US" sz="960" dirty="0"/>
          </a:p>
        </p:txBody>
      </p:sp>
      <p:sp>
        <p:nvSpPr>
          <p:cNvPr id="22" name="Shape 19"/>
          <p:cNvSpPr/>
          <p:nvPr/>
        </p:nvSpPr>
        <p:spPr>
          <a:xfrm>
            <a:off x="4370832" y="4736592"/>
            <a:ext cx="3246120" cy="868680"/>
          </a:xfrm>
          <a:prstGeom prst="roundRect">
            <a:avLst>
              <a:gd name="adj" fmla="val 8421"/>
            </a:avLst>
          </a:prstGeom>
          <a:solidFill>
            <a:srgbClr val="E6EAFD"/>
          </a:solidFill>
          <a:ln w="10160">
            <a:solidFill>
              <a:srgbClr val="E5D9CD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370832" y="4736592"/>
            <a:ext cx="73152" cy="868680"/>
          </a:xfrm>
          <a:prstGeom prst="rect">
            <a:avLst/>
          </a:prstGeom>
          <a:solidFill>
            <a:srgbClr val="5769F7"/>
          </a:solidFill>
          <a:ln w="12700">
            <a:solidFill>
              <a:srgbClr val="5769F7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0" y="4901184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LM-based 检索器</a:t>
            </a:r>
            <a:endParaRPr lang="en-US" sz="1120" dirty="0"/>
          </a:p>
        </p:txBody>
      </p:sp>
      <p:sp>
        <p:nvSpPr>
          <p:cNvPr id="25" name="Text 22"/>
          <p:cNvSpPr/>
          <p:nvPr/>
        </p:nvSpPr>
        <p:spPr>
          <a:xfrm>
            <a:off x="4572000" y="5266944"/>
            <a:ext cx="2926080" cy="2286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用语言模型或嵌入模型理解查询，适合自然语言语义匹配。</a:t>
            </a:r>
            <a:endParaRPr lang="en-US" sz="960" dirty="0"/>
          </a:p>
        </p:txBody>
      </p:sp>
      <p:sp>
        <p:nvSpPr>
          <p:cNvPr id="26" name="Shape 23"/>
          <p:cNvSpPr/>
          <p:nvPr/>
        </p:nvSpPr>
        <p:spPr>
          <a:xfrm>
            <a:off x="7991856" y="4736592"/>
            <a:ext cx="3246120" cy="868680"/>
          </a:xfrm>
          <a:prstGeom prst="roundRect">
            <a:avLst>
              <a:gd name="adj" fmla="val 8421"/>
            </a:avLst>
          </a:prstGeom>
          <a:solidFill>
            <a:srgbClr val="F6E1D9"/>
          </a:solidFill>
          <a:ln w="10160">
            <a:solidFill>
              <a:srgbClr val="E5D9CD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991856" y="4736592"/>
            <a:ext cx="73152" cy="868680"/>
          </a:xfrm>
          <a:prstGeom prst="rect">
            <a:avLst/>
          </a:prstGeom>
          <a:solidFill>
            <a:srgbClr val="D77757"/>
          </a:solidFill>
          <a:ln w="12700">
            <a:solidFill>
              <a:srgbClr val="D77757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193024" y="4901184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GNN-based 检索器</a:t>
            </a:r>
            <a:endParaRPr lang="en-US" sz="1120" dirty="0"/>
          </a:p>
        </p:txBody>
      </p:sp>
      <p:sp>
        <p:nvSpPr>
          <p:cNvPr id="29" name="Text 26"/>
          <p:cNvSpPr/>
          <p:nvPr/>
        </p:nvSpPr>
        <p:spPr>
          <a:xfrm>
            <a:off x="8193024" y="5266944"/>
            <a:ext cx="2926080" cy="2286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利用图神经网络编码结构信息，适合结构相关性更强的任务。</a:t>
            </a:r>
            <a:endParaRPr lang="en-US" sz="96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700">
                <a:solidFill>
                  <a:srgbClr val="8A7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47548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77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06 粒度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检索粒度：GraphRAG 召回的不一定是文本块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133856"/>
            <a:ext cx="11064240" cy="0"/>
          </a:xfrm>
          <a:prstGeom prst="line">
            <a:avLst/>
          </a:prstGeom>
          <a:noFill/>
          <a:ln w="12700">
            <a:solidFill>
              <a:srgbClr val="E5D9C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1572768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E4F1EA"/>
          </a:solidFill>
          <a:ln w="7620">
            <a:solidFill>
              <a:srgbClr val="E5D9C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9848" y="1773936"/>
            <a:ext cx="174650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F8C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节点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2121408"/>
            <a:ext cx="1783080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实体本身</a:t>
            </a:r>
            <a:endParaRPr lang="en-US" sz="840" dirty="0"/>
          </a:p>
        </p:txBody>
      </p:sp>
      <p:sp>
        <p:nvSpPr>
          <p:cNvPr id="8" name="Shape 6"/>
          <p:cNvSpPr/>
          <p:nvPr/>
        </p:nvSpPr>
        <p:spPr>
          <a:xfrm>
            <a:off x="3657600" y="114300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F7EBCB"/>
          </a:solidFill>
          <a:ln w="7620">
            <a:solidFill>
              <a:srgbClr val="E5D9C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67328" y="1344168"/>
            <a:ext cx="174650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8BC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三元组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749040" y="1691640"/>
            <a:ext cx="1783080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head-relation-tail</a:t>
            </a:r>
            <a:endParaRPr lang="en-US" sz="840" dirty="0"/>
          </a:p>
        </p:txBody>
      </p:sp>
      <p:sp>
        <p:nvSpPr>
          <p:cNvPr id="11" name="Shape 9"/>
          <p:cNvSpPr/>
          <p:nvPr/>
        </p:nvSpPr>
        <p:spPr>
          <a:xfrm>
            <a:off x="6446520" y="114300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E6EAFD"/>
          </a:solidFill>
          <a:ln w="7620">
            <a:solidFill>
              <a:srgbClr val="E5D9C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56248" y="1344168"/>
            <a:ext cx="174650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769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路径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37960" y="1691640"/>
            <a:ext cx="1783080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多跳推理链</a:t>
            </a:r>
            <a:endParaRPr lang="en-US" sz="840" dirty="0"/>
          </a:p>
        </p:txBody>
      </p:sp>
      <p:sp>
        <p:nvSpPr>
          <p:cNvPr id="14" name="Shape 12"/>
          <p:cNvSpPr/>
          <p:nvPr/>
        </p:nvSpPr>
        <p:spPr>
          <a:xfrm>
            <a:off x="9144000" y="1572768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F6E1D9"/>
          </a:solidFill>
          <a:ln w="7620">
            <a:solidFill>
              <a:srgbClr val="E5D9C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53728" y="1773936"/>
            <a:ext cx="174650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77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子图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235440" y="2121408"/>
            <a:ext cx="1783080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局部关系网络</a:t>
            </a:r>
            <a:endParaRPr lang="en-US" sz="840" dirty="0"/>
          </a:p>
        </p:txBody>
      </p:sp>
      <p:sp>
        <p:nvSpPr>
          <p:cNvPr id="17" name="Shape 15"/>
          <p:cNvSpPr/>
          <p:nvPr/>
        </p:nvSpPr>
        <p:spPr>
          <a:xfrm>
            <a:off x="4800600" y="489204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EFE7DD"/>
          </a:solidFill>
          <a:ln w="7620">
            <a:solidFill>
              <a:srgbClr val="E5D9C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0328" y="5093208"/>
            <a:ext cx="174650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A7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混合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892040" y="5440680"/>
            <a:ext cx="1783080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节点+边+文本</a:t>
            </a:r>
            <a:endParaRPr lang="en-US" sz="840" dirty="0"/>
          </a:p>
        </p:txBody>
      </p:sp>
      <p:sp>
        <p:nvSpPr>
          <p:cNvPr id="20" name="Shape 18"/>
          <p:cNvSpPr/>
          <p:nvPr/>
        </p:nvSpPr>
        <p:spPr>
          <a:xfrm>
            <a:off x="5084064" y="2770632"/>
            <a:ext cx="2011680" cy="132588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D777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49824" y="3264408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查询 q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841248" y="4645152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50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粒度选择的权衡</a:t>
            </a:r>
            <a:endParaRPr lang="zh-CN" sz="1500" b="1" dirty="0">
              <a:solidFill>
                <a:srgbClr val="2A24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68680" y="5010912"/>
            <a:ext cx="10332720" cy="731520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130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粒度越小，召回更精确，但上下文可能不完整。</a:t>
            </a:r>
            <a:endParaRPr lang="en-US" sz="1130" dirty="0"/>
          </a:p>
          <a:p>
            <a:pPr marL="127000" indent="-127000">
              <a:buSzPct val="100000"/>
              <a:buChar char="•"/>
            </a:pPr>
            <a:r>
              <a:rPr lang="en-US" sz="1130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粒度越大，信息更丰富，但噪声和 token 成本更高。</a:t>
            </a:r>
            <a:endParaRPr lang="en-US" sz="1130" dirty="0"/>
          </a:p>
          <a:p>
            <a:pPr marL="127000" indent="-127000">
              <a:buSzPct val="100000"/>
              <a:buChar char="•"/>
            </a:pPr>
            <a:r>
              <a:rPr lang="en-US" sz="1130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实际系统常用混合策略：先粗召回，再扩展/剪枝。</a:t>
            </a:r>
            <a:endParaRPr lang="en-US" sz="113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700">
                <a:solidFill>
                  <a:srgbClr val="8A7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  <p:cxnSp>
        <p:nvCxnSpPr>
          <p:cNvPr id="30" name="FixedArrow_Query_to_Node"/>
          <p:cNvCxnSpPr/>
          <p:nvPr/>
        </p:nvCxnSpPr>
        <p:spPr>
          <a:xfrm>
            <a:off x="2926080" y="2029460"/>
            <a:ext cx="2329180" cy="1033145"/>
          </a:xfrm>
          <a:prstGeom prst="line">
            <a:avLst/>
          </a:prstGeom>
          <a:ln w="19050">
            <a:solidFill>
              <a:srgbClr val="5A6576"/>
            </a:solidFill>
            <a:headEnd type="arrow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FixedArrow_Query_to_Triplet"/>
          <p:cNvCxnSpPr/>
          <p:nvPr/>
        </p:nvCxnSpPr>
        <p:spPr>
          <a:xfrm>
            <a:off x="4640580" y="2057400"/>
            <a:ext cx="875665" cy="831215"/>
          </a:xfrm>
          <a:prstGeom prst="line">
            <a:avLst/>
          </a:prstGeom>
          <a:ln w="19050">
            <a:solidFill>
              <a:srgbClr val="5A6576"/>
            </a:solidFill>
            <a:headEnd type="arrow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FixedArrow_Query_to_Path"/>
          <p:cNvCxnSpPr/>
          <p:nvPr/>
        </p:nvCxnSpPr>
        <p:spPr>
          <a:xfrm flipH="1">
            <a:off x="6089650" y="2057400"/>
            <a:ext cx="1339850" cy="713105"/>
          </a:xfrm>
          <a:prstGeom prst="line">
            <a:avLst/>
          </a:prstGeom>
          <a:ln w="19050">
            <a:solidFill>
              <a:srgbClr val="5A6576"/>
            </a:solidFill>
            <a:headEnd type="arrow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FixedArrow_Query_to_Subgraph"/>
          <p:cNvCxnSpPr>
            <a:endCxn id="20" idx="7"/>
          </p:cNvCxnSpPr>
          <p:nvPr/>
        </p:nvCxnSpPr>
        <p:spPr>
          <a:xfrm flipH="1">
            <a:off x="6800850" y="2029460"/>
            <a:ext cx="2343150" cy="935355"/>
          </a:xfrm>
          <a:prstGeom prst="line">
            <a:avLst/>
          </a:prstGeom>
          <a:ln w="19050">
            <a:solidFill>
              <a:srgbClr val="5A6576"/>
            </a:solidFill>
            <a:headEnd type="arrow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" name="FixedArrow_Query_to_Hybrid"/>
          <p:cNvCxnSpPr>
            <a:stCxn id="17" idx="0"/>
          </p:cNvCxnSpPr>
          <p:nvPr/>
        </p:nvCxnSpPr>
        <p:spPr>
          <a:xfrm flipV="1">
            <a:off x="5783580" y="4096385"/>
            <a:ext cx="306070" cy="795655"/>
          </a:xfrm>
          <a:prstGeom prst="line">
            <a:avLst/>
          </a:prstGeom>
          <a:ln w="19050">
            <a:solidFill>
              <a:srgbClr val="5A6576"/>
            </a:solidFill>
            <a:headEnd type="arrow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47548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77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07 G-Generation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图增强生成：把图证据翻译成模型可用上下文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133856"/>
            <a:ext cx="11064240" cy="0"/>
          </a:xfrm>
          <a:prstGeom prst="line">
            <a:avLst/>
          </a:prstGeom>
          <a:noFill/>
          <a:ln w="12700">
            <a:solidFill>
              <a:srgbClr val="E5D9C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371600"/>
            <a:ext cx="571500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1430">
            <a:solidFill>
              <a:srgbClr val="E5D9CD"/>
            </a:solidFill>
            <a:prstDash val="solid"/>
          </a:ln>
        </p:spPr>
      </p:sp>
      <p:pic>
        <p:nvPicPr>
          <p:cNvPr id="6" name="Image 0" descr="C:\Users\86136\AppData\Local\Temp\graphrag_crops_v2\fig5.png"/>
          <p:cNvPicPr>
            <a:picLocks noChangeAspect="1"/>
          </p:cNvPicPr>
          <p:nvPr/>
        </p:nvPicPr>
        <p:blipFill>
          <a:blip r:embed="rId1"/>
          <a:srcRect r="994" b="6263"/>
          <a:stretch>
            <a:fillRect/>
          </a:stretch>
        </p:blipFill>
        <p:spPr>
          <a:xfrm>
            <a:off x="768350" y="1481455"/>
            <a:ext cx="5440680" cy="1397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017520"/>
            <a:ext cx="5385816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8A7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 Fig.5：图增强生成流程</a:t>
            </a:r>
            <a:endParaRPr lang="en-US" sz="720" dirty="0"/>
          </a:p>
        </p:txBody>
      </p:sp>
      <p:sp>
        <p:nvSpPr>
          <p:cNvPr id="8" name="Text 5"/>
          <p:cNvSpPr/>
          <p:nvPr/>
        </p:nvSpPr>
        <p:spPr>
          <a:xfrm>
            <a:off x="6784848" y="1353312"/>
            <a:ext cx="4023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3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生成阶段关注三件事</a:t>
            </a:r>
            <a:endParaRPr lang="en-US" sz="1530" dirty="0"/>
          </a:p>
        </p:txBody>
      </p:sp>
      <p:sp>
        <p:nvSpPr>
          <p:cNvPr id="9" name="Text 6"/>
          <p:cNvSpPr/>
          <p:nvPr/>
        </p:nvSpPr>
        <p:spPr>
          <a:xfrm>
            <a:off x="6812280" y="1764792"/>
            <a:ext cx="4526280" cy="1325880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220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选生成器：GNN、语言模型、或二者结合。</a:t>
            </a:r>
            <a:endParaRPr lang="en-US" sz="1220" dirty="0"/>
          </a:p>
          <a:p>
            <a:pPr marL="127000" indent="-127000">
              <a:buSzPct val="100000"/>
              <a:buChar char="•"/>
            </a:pPr>
            <a:r>
              <a:rPr lang="en-US" sz="1220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转图格式：邻接/边表、自然语言、节点序列、代码式表达、语法树、图嵌入。</a:t>
            </a:r>
            <a:endParaRPr lang="en-US" sz="1220" dirty="0"/>
          </a:p>
          <a:p>
            <a:pPr marL="127000" indent="-127000">
              <a:buSzPct val="100000"/>
              <a:buChar char="•"/>
            </a:pPr>
            <a:r>
              <a:rPr lang="en-US" sz="1220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做增强：生成前增强、生成中交互、生成后校验/修正。</a:t>
            </a:r>
            <a:endParaRPr lang="en-US" sz="1220" dirty="0"/>
          </a:p>
        </p:txBody>
      </p:sp>
      <p:sp>
        <p:nvSpPr>
          <p:cNvPr id="10" name="Text 7"/>
          <p:cNvSpPr/>
          <p:nvPr/>
        </p:nvSpPr>
        <p:spPr>
          <a:xfrm>
            <a:off x="713232" y="3858768"/>
            <a:ext cx="4023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3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重绘：从结构证据到答案</a:t>
            </a:r>
            <a:endParaRPr lang="en-US" sz="1530" dirty="0"/>
          </a:p>
        </p:txBody>
      </p:sp>
      <p:sp>
        <p:nvSpPr>
          <p:cNvPr id="11" name="Shape 8"/>
          <p:cNvSpPr/>
          <p:nvPr/>
        </p:nvSpPr>
        <p:spPr>
          <a:xfrm>
            <a:off x="822960" y="443484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E4F1EA"/>
          </a:solidFill>
          <a:ln w="7620">
            <a:solidFill>
              <a:srgbClr val="E5D9C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32688" y="4645152"/>
            <a:ext cx="1609344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4F8C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检索结果</a:t>
            </a:r>
            <a:endParaRPr lang="en-US" sz="1320" dirty="0"/>
          </a:p>
        </p:txBody>
      </p:sp>
      <p:sp>
        <p:nvSpPr>
          <p:cNvPr id="13" name="Text 10"/>
          <p:cNvSpPr/>
          <p:nvPr/>
        </p:nvSpPr>
        <p:spPr>
          <a:xfrm>
            <a:off x="914400" y="4965192"/>
            <a:ext cx="1645920" cy="1188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节点 / 边 / 路径 / 子图</a:t>
            </a:r>
            <a:endParaRPr lang="en-US" sz="780" dirty="0"/>
          </a:p>
        </p:txBody>
      </p:sp>
      <p:sp>
        <p:nvSpPr>
          <p:cNvPr id="15" name="Shape 12"/>
          <p:cNvSpPr/>
          <p:nvPr/>
        </p:nvSpPr>
        <p:spPr>
          <a:xfrm>
            <a:off x="3337560" y="443484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E6EAFD"/>
          </a:solidFill>
          <a:ln w="7620">
            <a:solidFill>
              <a:srgbClr val="E5D9C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447288" y="4645152"/>
            <a:ext cx="1609344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5769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格式转换</a:t>
            </a:r>
            <a:endParaRPr lang="en-US" sz="1320" dirty="0"/>
          </a:p>
        </p:txBody>
      </p:sp>
      <p:sp>
        <p:nvSpPr>
          <p:cNvPr id="17" name="Text 14"/>
          <p:cNvSpPr/>
          <p:nvPr/>
        </p:nvSpPr>
        <p:spPr>
          <a:xfrm>
            <a:off x="3429000" y="4965192"/>
            <a:ext cx="1645920" cy="1188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图语言 / 自然语言 / 嵌入</a:t>
            </a:r>
            <a:endParaRPr lang="en-US" sz="780" dirty="0"/>
          </a:p>
        </p:txBody>
      </p:sp>
      <p:sp>
        <p:nvSpPr>
          <p:cNvPr id="19" name="Shape 16"/>
          <p:cNvSpPr/>
          <p:nvPr/>
        </p:nvSpPr>
        <p:spPr>
          <a:xfrm>
            <a:off x="5852160" y="443484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F7EBCB"/>
          </a:solidFill>
          <a:ln w="7620">
            <a:solidFill>
              <a:srgbClr val="E5D9C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61888" y="4645152"/>
            <a:ext cx="1609344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E8BC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生成器</a:t>
            </a:r>
            <a:endParaRPr lang="en-US" sz="1320" dirty="0"/>
          </a:p>
        </p:txBody>
      </p:sp>
      <p:sp>
        <p:nvSpPr>
          <p:cNvPr id="21" name="Text 18"/>
          <p:cNvSpPr/>
          <p:nvPr/>
        </p:nvSpPr>
        <p:spPr>
          <a:xfrm>
            <a:off x="5943600" y="4965192"/>
            <a:ext cx="1645920" cy="1188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LLM / GNN / Hybrid</a:t>
            </a:r>
            <a:endParaRPr lang="en-US" sz="780" dirty="0"/>
          </a:p>
        </p:txBody>
      </p:sp>
      <p:sp>
        <p:nvSpPr>
          <p:cNvPr id="23" name="Shape 20"/>
          <p:cNvSpPr/>
          <p:nvPr/>
        </p:nvSpPr>
        <p:spPr>
          <a:xfrm>
            <a:off x="8366760" y="443484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F6E1D9"/>
          </a:solidFill>
          <a:ln w="7620">
            <a:solidFill>
              <a:srgbClr val="E5D9C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476488" y="4645152"/>
            <a:ext cx="1609344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D77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答案输出</a:t>
            </a:r>
            <a:endParaRPr lang="en-US" sz="1320" dirty="0"/>
          </a:p>
        </p:txBody>
      </p:sp>
      <p:sp>
        <p:nvSpPr>
          <p:cNvPr id="25" name="Text 22"/>
          <p:cNvSpPr/>
          <p:nvPr/>
        </p:nvSpPr>
        <p:spPr>
          <a:xfrm>
            <a:off x="8458200" y="4965192"/>
            <a:ext cx="1645920" cy="1188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更准确、更可解释</a:t>
            </a:r>
            <a:endParaRPr lang="en-US" sz="780" dirty="0"/>
          </a:p>
        </p:txBody>
      </p:sp>
      <p:sp>
        <p:nvSpPr>
          <p:cNvPr id="26" name="Text 23"/>
          <p:cNvSpPr/>
          <p:nvPr/>
        </p:nvSpPr>
        <p:spPr>
          <a:xfrm>
            <a:off x="822960" y="5742432"/>
            <a:ext cx="1046988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sz="1060" b="1" dirty="0">
                <a:solidFill>
                  <a:srgbClr val="D77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方法启示：</a:t>
            </a:r>
            <a:r>
              <a:rPr lang="en-US" altLang="zh-CN" sz="1060" b="1" dirty="0">
                <a:solidFill>
                  <a:srgbClr val="D77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GraphRAG </a:t>
            </a:r>
            <a:r>
              <a:rPr lang="zh-CN" altLang="en-US" sz="1060" b="1" dirty="0">
                <a:solidFill>
                  <a:srgbClr val="D77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的生成质量很大程度取决于</a:t>
            </a:r>
            <a:r>
              <a:rPr lang="en-US" altLang="zh-CN" sz="1060" b="1" dirty="0">
                <a:solidFill>
                  <a:srgbClr val="D77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“</a:t>
            </a:r>
            <a:r>
              <a:rPr lang="zh-CN" altLang="en-US" sz="1060" b="1" dirty="0">
                <a:solidFill>
                  <a:srgbClr val="D77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图到文本</a:t>
            </a:r>
            <a:r>
              <a:rPr lang="en-US" altLang="zh-CN" sz="1060" b="1" dirty="0">
                <a:solidFill>
                  <a:srgbClr val="D77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/</a:t>
            </a:r>
            <a:r>
              <a:rPr lang="zh-CN" altLang="en-US" sz="1060" b="1" dirty="0">
                <a:solidFill>
                  <a:srgbClr val="D77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图到提示词</a:t>
            </a:r>
            <a:r>
              <a:rPr lang="en-US" altLang="zh-CN" sz="1060" b="1" dirty="0">
                <a:solidFill>
                  <a:srgbClr val="D77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”</a:t>
            </a:r>
            <a:r>
              <a:rPr lang="zh-CN" altLang="en-US" sz="1060" b="1" dirty="0">
                <a:solidFill>
                  <a:srgbClr val="D77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的表达是否保留了关键关系。</a:t>
            </a:r>
            <a:endParaRPr lang="zh-CN" altLang="en-US" sz="1060" b="1" dirty="0">
              <a:solidFill>
                <a:srgbClr val="D777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700">
                <a:solidFill>
                  <a:srgbClr val="8A7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  <p:cxnSp>
        <p:nvCxnSpPr>
          <p:cNvPr id="28" name="FixedArrow_Result_to_Format"/>
          <p:cNvCxnSpPr/>
          <p:nvPr/>
        </p:nvCxnSpPr>
        <p:spPr>
          <a:xfrm>
            <a:off x="2651760" y="4869180"/>
            <a:ext cx="685800" cy="635"/>
          </a:xfrm>
          <a:prstGeom prst="line">
            <a:avLst/>
          </a:prstGeom>
          <a:ln w="19050">
            <a:solidFill>
              <a:srgbClr val="5A6576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FixedArrow_Format_to_Generator"/>
          <p:cNvCxnSpPr/>
          <p:nvPr/>
        </p:nvCxnSpPr>
        <p:spPr>
          <a:xfrm>
            <a:off x="5166360" y="4869180"/>
            <a:ext cx="685800" cy="635"/>
          </a:xfrm>
          <a:prstGeom prst="line">
            <a:avLst/>
          </a:prstGeom>
          <a:ln w="19050">
            <a:solidFill>
              <a:srgbClr val="5A6576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FixedArrow_Generator_to_Output"/>
          <p:cNvCxnSpPr/>
          <p:nvPr/>
        </p:nvCxnSpPr>
        <p:spPr>
          <a:xfrm>
            <a:off x="7680960" y="4869180"/>
            <a:ext cx="685800" cy="635"/>
          </a:xfrm>
          <a:prstGeom prst="line">
            <a:avLst/>
          </a:prstGeom>
          <a:ln w="19050">
            <a:solidFill>
              <a:srgbClr val="5A6576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47548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77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08 训练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训练策略：从 Prompt 编排到端到端优化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133856"/>
            <a:ext cx="11064240" cy="0"/>
          </a:xfrm>
          <a:prstGeom prst="line">
            <a:avLst/>
          </a:prstGeom>
          <a:noFill/>
          <a:ln w="12700">
            <a:solidFill>
              <a:srgbClr val="E5D9C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17320"/>
            <a:ext cx="1234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77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策略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240280" y="1417320"/>
            <a:ext cx="29718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77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做法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532120" y="1417320"/>
            <a:ext cx="2331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77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优点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302752" y="1417320"/>
            <a:ext cx="2697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77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代价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66928" y="1737360"/>
            <a:ext cx="11064240" cy="960120"/>
          </a:xfrm>
          <a:prstGeom prst="roundRect">
            <a:avLst>
              <a:gd name="adj" fmla="val 4762"/>
            </a:avLst>
          </a:prstGeom>
          <a:solidFill>
            <a:srgbClr val="E4F1EA"/>
          </a:solidFill>
          <a:ln w="6350">
            <a:solidFill>
              <a:srgbClr val="E5D9C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874520"/>
            <a:ext cx="1234440" cy="56692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免训练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2240280" y="1874520"/>
            <a:ext cx="2971800" cy="56692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用闭源 LLM、规则检索或预训练嵌入直接完成检索/生成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5532120" y="1874520"/>
            <a:ext cx="2331720" cy="56692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工程启动快，适合原型和通用任务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8302752" y="1874520"/>
            <a:ext cx="2697480" cy="56692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缺少任务定制，效果可能不是最优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566928" y="2971800"/>
            <a:ext cx="11064240" cy="960120"/>
          </a:xfrm>
          <a:prstGeom prst="roundRect">
            <a:avLst>
              <a:gd name="adj" fmla="val 4762"/>
            </a:avLst>
          </a:prstGeom>
          <a:solidFill>
            <a:srgbClr val="E6EAFD"/>
          </a:solidFill>
          <a:ln w="6350">
            <a:solidFill>
              <a:srgbClr val="E5D9C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108960"/>
            <a:ext cx="1234440" cy="56692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单独训练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2240280" y="3108960"/>
            <a:ext cx="2971800" cy="56692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分别训练检索器或生成器，例如监督式检索、排序、微调生成器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5532120" y="3108960"/>
            <a:ext cx="2331720" cy="56692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可针对任务优化单个模块</a:t>
            </a:r>
            <a:endParaRPr lang="en-US" sz="980" dirty="0"/>
          </a:p>
        </p:txBody>
      </p:sp>
      <p:sp>
        <p:nvSpPr>
          <p:cNvPr id="18" name="Text 16"/>
          <p:cNvSpPr/>
          <p:nvPr/>
        </p:nvSpPr>
        <p:spPr>
          <a:xfrm>
            <a:off x="8302752" y="3108960"/>
            <a:ext cx="2697480" cy="56692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模块间目标可能不一致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566928" y="4206240"/>
            <a:ext cx="11064240" cy="960120"/>
          </a:xfrm>
          <a:prstGeom prst="roundRect">
            <a:avLst>
              <a:gd name="adj" fmla="val 4762"/>
            </a:avLst>
          </a:prstGeom>
          <a:solidFill>
            <a:srgbClr val="F6E1D9"/>
          </a:solidFill>
          <a:ln w="6350">
            <a:solidFill>
              <a:srgbClr val="E5D9C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4343400"/>
            <a:ext cx="1234440" cy="56692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联合训练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2240280" y="4343400"/>
            <a:ext cx="2971800" cy="56692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同时优化检索器与生成器，让召回证据更服务最终答案</a:t>
            </a:r>
            <a:endParaRPr lang="en-US" sz="980" dirty="0"/>
          </a:p>
        </p:txBody>
      </p:sp>
      <p:sp>
        <p:nvSpPr>
          <p:cNvPr id="22" name="Text 20"/>
          <p:cNvSpPr/>
          <p:nvPr/>
        </p:nvSpPr>
        <p:spPr>
          <a:xfrm>
            <a:off x="5532120" y="4343400"/>
            <a:ext cx="2331720" cy="56692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端到端效果潜力更高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8302752" y="4343400"/>
            <a:ext cx="2697480" cy="56692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数据、算力和训练稳定性要求高</a:t>
            </a:r>
            <a:endParaRPr lang="en-US" sz="980" dirty="0"/>
          </a:p>
        </p:txBody>
      </p:sp>
      <p:sp>
        <p:nvSpPr>
          <p:cNvPr id="24" name="Text 22"/>
          <p:cNvSpPr/>
          <p:nvPr/>
        </p:nvSpPr>
        <p:spPr>
          <a:xfrm>
            <a:off x="731520" y="5779008"/>
            <a:ext cx="1042416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sz="1080" b="1" dirty="0">
                <a:solidFill>
                  <a:srgbClr val="D77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训练章节体现：</a:t>
            </a:r>
            <a:r>
              <a:rPr lang="en-US" altLang="zh-CN" sz="1080" b="1" dirty="0">
                <a:solidFill>
                  <a:srgbClr val="D77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GraphRAG </a:t>
            </a:r>
            <a:r>
              <a:rPr lang="zh-CN" altLang="en-US" sz="1080" b="1" dirty="0">
                <a:solidFill>
                  <a:srgbClr val="D77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从</a:t>
            </a:r>
            <a:r>
              <a:rPr lang="en-US" altLang="zh-CN" sz="1080" b="1" dirty="0">
                <a:solidFill>
                  <a:srgbClr val="D77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“</a:t>
            </a:r>
            <a:r>
              <a:rPr lang="zh-CN" altLang="en-US" sz="1080" b="1" dirty="0">
                <a:solidFill>
                  <a:srgbClr val="D77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手工拼流程</a:t>
            </a:r>
            <a:r>
              <a:rPr lang="en-US" altLang="zh-CN" sz="1080" b="1" dirty="0">
                <a:solidFill>
                  <a:srgbClr val="D77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”</a:t>
            </a:r>
            <a:r>
              <a:rPr lang="zh-CN" altLang="en-US" sz="1080" b="1" dirty="0">
                <a:solidFill>
                  <a:srgbClr val="D77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走向</a:t>
            </a:r>
            <a:r>
              <a:rPr lang="en-US" altLang="zh-CN" sz="1080" b="1" dirty="0">
                <a:solidFill>
                  <a:srgbClr val="D77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“</a:t>
            </a:r>
            <a:r>
              <a:rPr lang="zh-CN" altLang="en-US" sz="1080" b="1" dirty="0">
                <a:solidFill>
                  <a:srgbClr val="D77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让检索和生成共同服务最终任务</a:t>
            </a:r>
            <a:r>
              <a:rPr lang="en-US" altLang="zh-CN" sz="1080" b="1" dirty="0">
                <a:solidFill>
                  <a:srgbClr val="D77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”</a:t>
            </a:r>
            <a:r>
              <a:rPr lang="zh-CN" altLang="en-US" sz="1080" b="1" dirty="0">
                <a:solidFill>
                  <a:srgbClr val="D77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。</a:t>
            </a:r>
            <a:endParaRPr lang="zh-CN" altLang="en-US" sz="1080" b="1" dirty="0">
              <a:solidFill>
                <a:srgbClr val="D777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700">
                <a:solidFill>
                  <a:srgbClr val="8A7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47548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77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09 应用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应用与评估：GraphRAG 的主战场仍是知识密集任务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133856"/>
            <a:ext cx="11064240" cy="0"/>
          </a:xfrm>
          <a:prstGeom prst="line">
            <a:avLst/>
          </a:prstGeom>
          <a:noFill/>
          <a:ln w="12700">
            <a:solidFill>
              <a:srgbClr val="E5D9C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417320"/>
            <a:ext cx="1463040" cy="777240"/>
          </a:xfrm>
          <a:prstGeom prst="roundRect">
            <a:avLst>
              <a:gd name="adj" fmla="val 9412"/>
            </a:avLst>
          </a:prstGeom>
          <a:solidFill>
            <a:srgbClr val="F6E1D9"/>
          </a:solidFill>
          <a:ln w="12700">
            <a:solidFill>
              <a:srgbClr val="F6E1D9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563624"/>
            <a:ext cx="1316736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QA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41248" y="1892808"/>
            <a:ext cx="1280160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知识问答 / KBQA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468880" y="1417320"/>
            <a:ext cx="1463040" cy="777240"/>
          </a:xfrm>
          <a:prstGeom prst="roundRect">
            <a:avLst>
              <a:gd name="adj" fmla="val 9412"/>
            </a:avLst>
          </a:prstGeom>
          <a:solidFill>
            <a:srgbClr val="E6EAFD"/>
          </a:solidFill>
          <a:ln w="12700">
            <a:solidFill>
              <a:srgbClr val="E6EAFD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42032" y="1563624"/>
            <a:ext cx="1316736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IE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560320" y="1892808"/>
            <a:ext cx="1280160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信息抽取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187952" y="1417320"/>
            <a:ext cx="1463040" cy="777240"/>
          </a:xfrm>
          <a:prstGeom prst="roundRect">
            <a:avLst>
              <a:gd name="adj" fmla="val 9412"/>
            </a:avLst>
          </a:prstGeom>
          <a:solidFill>
            <a:srgbClr val="E4F1EA"/>
          </a:solidFill>
          <a:ln w="12700">
            <a:solidFill>
              <a:srgbClr val="E4F1EA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61104" y="1563624"/>
            <a:ext cx="1316736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Rec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279392" y="1892808"/>
            <a:ext cx="1280160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推荐与搜索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5907024" y="1417320"/>
            <a:ext cx="1463040" cy="777240"/>
          </a:xfrm>
          <a:prstGeom prst="roundRect">
            <a:avLst>
              <a:gd name="adj" fmla="val 9412"/>
            </a:avLst>
          </a:prstGeom>
          <a:solidFill>
            <a:srgbClr val="F7EBCB"/>
          </a:solidFill>
          <a:ln w="12700">
            <a:solidFill>
              <a:srgbClr val="F7EBC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80176" y="1563624"/>
            <a:ext cx="1316736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Bio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998464" y="1892808"/>
            <a:ext cx="1280160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医疗 / 生物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7626096" y="1417320"/>
            <a:ext cx="1463040" cy="777240"/>
          </a:xfrm>
          <a:prstGeom prst="roundRect">
            <a:avLst>
              <a:gd name="adj" fmla="val 9412"/>
            </a:avLst>
          </a:prstGeom>
          <a:solidFill>
            <a:srgbClr val="EFE7DD"/>
          </a:solidFill>
          <a:ln w="12700">
            <a:solidFill>
              <a:srgbClr val="EFE7D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99248" y="1563624"/>
            <a:ext cx="1316736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Biz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717536" y="1892808"/>
            <a:ext cx="1280160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金融 / 企业知识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9345168" y="1417320"/>
            <a:ext cx="1463040" cy="777240"/>
          </a:xfrm>
          <a:prstGeom prst="roundRect">
            <a:avLst>
              <a:gd name="adj" fmla="val 9412"/>
            </a:avLst>
          </a:prstGeom>
          <a:solidFill>
            <a:srgbClr val="F4E4EF"/>
          </a:solidFill>
          <a:ln w="12700">
            <a:solidFill>
              <a:srgbClr val="F4E4E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18320" y="1563624"/>
            <a:ext cx="1316736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Agent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436608" y="1892808"/>
            <a:ext cx="1280160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工具与代理系统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749808" y="2816352"/>
            <a:ext cx="34747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3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评价指标要分层看</a:t>
            </a:r>
            <a:endParaRPr lang="en-US" sz="1530" dirty="0"/>
          </a:p>
        </p:txBody>
      </p:sp>
      <p:sp>
        <p:nvSpPr>
          <p:cNvPr id="24" name="Shape 22"/>
          <p:cNvSpPr/>
          <p:nvPr/>
        </p:nvSpPr>
        <p:spPr>
          <a:xfrm>
            <a:off x="749808" y="3246120"/>
            <a:ext cx="31546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E5D9C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9808" y="3246120"/>
            <a:ext cx="73152" cy="1051560"/>
          </a:xfrm>
          <a:prstGeom prst="rect">
            <a:avLst/>
          </a:prstGeom>
          <a:solidFill>
            <a:srgbClr val="4F8C6B"/>
          </a:solidFill>
          <a:ln w="12700">
            <a:solidFill>
              <a:srgbClr val="4F8C6B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50976" y="3410712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检索层</a:t>
            </a:r>
            <a:endParaRPr lang="en-US" sz="1120" dirty="0"/>
          </a:p>
        </p:txBody>
      </p:sp>
      <p:sp>
        <p:nvSpPr>
          <p:cNvPr id="27" name="Text 25"/>
          <p:cNvSpPr/>
          <p:nvPr/>
        </p:nvSpPr>
        <p:spPr>
          <a:xfrm>
            <a:off x="950976" y="3776472"/>
            <a:ext cx="2834640" cy="4114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Recall、Precision、Hit@K、MRR；关注是否找到足够相关的节点/路径/子图。</a:t>
            </a:r>
            <a:endParaRPr lang="en-US" sz="960" dirty="0"/>
          </a:p>
        </p:txBody>
      </p:sp>
      <p:sp>
        <p:nvSpPr>
          <p:cNvPr id="28" name="Shape 26"/>
          <p:cNvSpPr/>
          <p:nvPr/>
        </p:nvSpPr>
        <p:spPr>
          <a:xfrm>
            <a:off x="4270248" y="3246120"/>
            <a:ext cx="31546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E5D9C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270248" y="3246120"/>
            <a:ext cx="73152" cy="1051560"/>
          </a:xfrm>
          <a:prstGeom prst="rect">
            <a:avLst/>
          </a:prstGeom>
          <a:solidFill>
            <a:srgbClr val="5769F7"/>
          </a:solidFill>
          <a:ln w="12700">
            <a:solidFill>
              <a:srgbClr val="5769F7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71416" y="3410712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生成层</a:t>
            </a:r>
            <a:endParaRPr lang="en-US" sz="1120" dirty="0"/>
          </a:p>
        </p:txBody>
      </p:sp>
      <p:sp>
        <p:nvSpPr>
          <p:cNvPr id="31" name="Text 29"/>
          <p:cNvSpPr/>
          <p:nvPr/>
        </p:nvSpPr>
        <p:spPr>
          <a:xfrm>
            <a:off x="4471416" y="3776472"/>
            <a:ext cx="2834640" cy="4114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EM、F1、BLEU、ROUGE、BERTScore、人工/GPT 评估；关注答案质量。</a:t>
            </a:r>
            <a:endParaRPr lang="en-US" sz="960" dirty="0"/>
          </a:p>
        </p:txBody>
      </p:sp>
      <p:sp>
        <p:nvSpPr>
          <p:cNvPr id="32" name="Shape 30"/>
          <p:cNvSpPr/>
          <p:nvPr/>
        </p:nvSpPr>
        <p:spPr>
          <a:xfrm>
            <a:off x="7790688" y="3246120"/>
            <a:ext cx="31546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E5D9C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790688" y="3246120"/>
            <a:ext cx="73152" cy="1051560"/>
          </a:xfrm>
          <a:prstGeom prst="rect">
            <a:avLst/>
          </a:prstGeom>
          <a:solidFill>
            <a:srgbClr val="D77757"/>
          </a:solidFill>
          <a:ln w="12700">
            <a:solidFill>
              <a:srgbClr val="D77757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991856" y="3410712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系统层</a:t>
            </a:r>
            <a:endParaRPr lang="en-US" sz="1120" dirty="0"/>
          </a:p>
        </p:txBody>
      </p:sp>
      <p:sp>
        <p:nvSpPr>
          <p:cNvPr id="35" name="Text 33"/>
          <p:cNvSpPr/>
          <p:nvPr/>
        </p:nvSpPr>
        <p:spPr>
          <a:xfrm>
            <a:off x="7991856" y="3776472"/>
            <a:ext cx="2834640" cy="4114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延迟、成本、可解释性、可维护性；工业 GraphRAG 不能只看离线准确率。</a:t>
            </a:r>
            <a:endParaRPr lang="en-US" sz="960" dirty="0"/>
          </a:p>
        </p:txBody>
      </p:sp>
      <p:sp>
        <p:nvSpPr>
          <p:cNvPr id="36" name="Shape 34"/>
          <p:cNvSpPr/>
          <p:nvPr/>
        </p:nvSpPr>
        <p:spPr>
          <a:xfrm>
            <a:off x="786384" y="4892040"/>
            <a:ext cx="10241280" cy="658368"/>
          </a:xfrm>
          <a:prstGeom prst="roundRect">
            <a:avLst>
              <a:gd name="adj" fmla="val 11111"/>
            </a:avLst>
          </a:prstGeom>
          <a:solidFill>
            <a:srgbClr val="F6E1D9"/>
          </a:solidFill>
          <a:ln w="10160">
            <a:solidFill>
              <a:srgbClr val="E6C8B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87552" y="5102352"/>
            <a:ext cx="98298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sz="105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评估重点：</a:t>
            </a:r>
            <a:r>
              <a:rPr lang="en-US" altLang="zh-CN" sz="105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GraphRAG </a:t>
            </a:r>
            <a:r>
              <a:rPr lang="zh-CN" altLang="en-US" sz="105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的评估难点在于</a:t>
            </a:r>
            <a:r>
              <a:rPr lang="en-US" altLang="zh-CN" sz="105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“</a:t>
            </a:r>
            <a:r>
              <a:rPr lang="zh-CN" altLang="en-US" sz="105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正确答案</a:t>
            </a:r>
            <a:r>
              <a:rPr lang="en-US" altLang="zh-CN" sz="105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”</a:t>
            </a:r>
            <a:r>
              <a:rPr lang="zh-CN" altLang="en-US" sz="105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之外，还要评价图证据是否可信、路径是否合理、上下文压缩是否丢失关键关系。</a:t>
            </a:r>
            <a:endParaRPr lang="zh-CN" altLang="en-US" sz="1050" b="1" dirty="0">
              <a:solidFill>
                <a:srgbClr val="2A24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700">
                <a:solidFill>
                  <a:srgbClr val="8A7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47548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77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10 展望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未来方向：从静态图走向可维护的知识系统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133856"/>
            <a:ext cx="11064240" cy="0"/>
          </a:xfrm>
          <a:prstGeom prst="line">
            <a:avLst/>
          </a:prstGeom>
          <a:noFill/>
          <a:ln w="12700">
            <a:solidFill>
              <a:srgbClr val="E5D9C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417320"/>
            <a:ext cx="4800600" cy="960120"/>
          </a:xfrm>
          <a:prstGeom prst="roundRect">
            <a:avLst>
              <a:gd name="adj" fmla="val 7619"/>
            </a:avLst>
          </a:prstGeom>
          <a:solidFill>
            <a:srgbClr val="E4F1EA"/>
          </a:solidFill>
          <a:ln w="7620">
            <a:solidFill>
              <a:srgbClr val="E5D9C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" y="1581912"/>
            <a:ext cx="43434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4F8C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动态图与自适应图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950976" y="1920240"/>
            <a:ext cx="43434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实时吸收新实体和新关系，避免图数据库过时。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6199632" y="1417320"/>
            <a:ext cx="4800600" cy="960120"/>
          </a:xfrm>
          <a:prstGeom prst="roundRect">
            <a:avLst>
              <a:gd name="adj" fmla="val 7619"/>
            </a:avLst>
          </a:prstGeom>
          <a:solidFill>
            <a:srgbClr val="E6EAFD"/>
          </a:solidFill>
          <a:ln w="7620">
            <a:solidFill>
              <a:srgbClr val="E5D9C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581912"/>
            <a:ext cx="43434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5769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多模态信息集成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6400800" y="1920240"/>
            <a:ext cx="43434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把图像、音频、视频等模态纳入图结构，提升知识表达丰富度。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749808" y="2743200"/>
            <a:ext cx="4800600" cy="960120"/>
          </a:xfrm>
          <a:prstGeom prst="roundRect">
            <a:avLst>
              <a:gd name="adj" fmla="val 7619"/>
            </a:avLst>
          </a:prstGeom>
          <a:solidFill>
            <a:srgbClr val="F6E1D9"/>
          </a:solidFill>
          <a:ln w="7620">
            <a:solidFill>
              <a:srgbClr val="E5D9C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2907792"/>
            <a:ext cx="43434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D77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可扩展高效检索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950976" y="3246120"/>
            <a:ext cx="43434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在大规模图上控制延迟和成本，同时保留多跳推理能力。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6199632" y="2743200"/>
            <a:ext cx="4800600" cy="960120"/>
          </a:xfrm>
          <a:prstGeom prst="roundRect">
            <a:avLst>
              <a:gd name="adj" fmla="val 7619"/>
            </a:avLst>
          </a:prstGeom>
          <a:solidFill>
            <a:srgbClr val="F7EBCB"/>
          </a:solidFill>
          <a:ln w="7620">
            <a:solidFill>
              <a:srgbClr val="E5D9C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2907792"/>
            <a:ext cx="43434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E8BC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结合图基础模型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6400800" y="3246120"/>
            <a:ext cx="43434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用更强的图表示学习能力提升通用性和迁移能力。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749808" y="4069080"/>
            <a:ext cx="4800600" cy="960120"/>
          </a:xfrm>
          <a:prstGeom prst="roundRect">
            <a:avLst>
              <a:gd name="adj" fmla="val 7619"/>
            </a:avLst>
          </a:prstGeom>
          <a:solidFill>
            <a:srgbClr val="EFE7DD"/>
          </a:solidFill>
          <a:ln w="7620">
            <a:solidFill>
              <a:srgbClr val="E5D9C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0976" y="4233672"/>
            <a:ext cx="43434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8A7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无损上下文压缩</a:t>
            </a:r>
            <a:endParaRPr lang="en-US" sz="1220" dirty="0"/>
          </a:p>
        </p:txBody>
      </p:sp>
      <p:sp>
        <p:nvSpPr>
          <p:cNvPr id="19" name="Text 17"/>
          <p:cNvSpPr/>
          <p:nvPr/>
        </p:nvSpPr>
        <p:spPr>
          <a:xfrm>
            <a:off x="950976" y="4572000"/>
            <a:ext cx="43434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把检索到的结构证据压缩进有限上下文，同时不丢关键关系。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6199632" y="4069080"/>
            <a:ext cx="4800600" cy="960120"/>
          </a:xfrm>
          <a:prstGeom prst="roundRect">
            <a:avLst>
              <a:gd name="adj" fmla="val 7619"/>
            </a:avLst>
          </a:prstGeom>
          <a:solidFill>
            <a:srgbClr val="F4E4EF"/>
          </a:solidFill>
          <a:ln w="7620">
            <a:solidFill>
              <a:srgbClr val="E5D9C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4233672"/>
            <a:ext cx="43434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B35B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标准 Benchmark</a:t>
            </a:r>
            <a:endParaRPr lang="en-US" sz="1220" dirty="0"/>
          </a:p>
        </p:txBody>
      </p:sp>
      <p:sp>
        <p:nvSpPr>
          <p:cNvPr id="22" name="Text 20"/>
          <p:cNvSpPr/>
          <p:nvPr/>
        </p:nvSpPr>
        <p:spPr>
          <a:xfrm>
            <a:off x="6400800" y="4572000"/>
            <a:ext cx="43434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F62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建立统一数据集、任务和指标，减少方法之间不可比的问题。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914400" y="5715000"/>
            <a:ext cx="101498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D77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论文给出的未来方向可以归纳为一句话：GraphRAG 要从“能用图增强回答”升级为“可更新、可扩展、可评估的知识基础设施”。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700">
                <a:solidFill>
                  <a:srgbClr val="8A7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47548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77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11 总结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sz="230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汇报总结：这篇综述给我们的实践启示</a:t>
            </a:r>
            <a:endParaRPr lang="zh-CN" sz="2300" b="1" dirty="0">
              <a:solidFill>
                <a:srgbClr val="2A24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133856"/>
            <a:ext cx="11064240" cy="0"/>
          </a:xfrm>
          <a:prstGeom prst="line">
            <a:avLst/>
          </a:prstGeom>
          <a:noFill/>
          <a:ln w="12700">
            <a:solidFill>
              <a:srgbClr val="E5D9C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389888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论文贡献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22960" y="1755648"/>
            <a:ext cx="5074920" cy="1417320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210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首次系统化整理 GraphRAG 方法，并给出统一三阶段工作流。</a:t>
            </a:r>
            <a:endParaRPr lang="en-US" sz="1210" dirty="0"/>
          </a:p>
          <a:p>
            <a:pPr marL="127000" indent="-127000">
              <a:buSzPct val="100000"/>
              <a:buChar char="•"/>
            </a:pPr>
            <a:r>
              <a:rPr lang="en-US" sz="1210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把已有研究按索引、检索、生成、训练、评估和应用进行分类。</a:t>
            </a:r>
            <a:endParaRPr lang="en-US" sz="1210" dirty="0"/>
          </a:p>
          <a:p>
            <a:pPr marL="127000" indent="-127000">
              <a:buSzPct val="100000"/>
              <a:buChar char="•"/>
            </a:pPr>
            <a:r>
              <a:rPr lang="en-US" sz="1210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明确 GraphRAG 的关键价值：利用结构关系提升知识密集任务的准确性和可解释性。</a:t>
            </a:r>
            <a:endParaRPr lang="en-US" sz="1210" dirty="0"/>
          </a:p>
        </p:txBody>
      </p:sp>
      <p:sp>
        <p:nvSpPr>
          <p:cNvPr id="7" name="Text 5"/>
          <p:cNvSpPr/>
          <p:nvPr/>
        </p:nvSpPr>
        <p:spPr>
          <a:xfrm>
            <a:off x="6419088" y="1389888"/>
            <a:ext cx="2926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局限与阅读注意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473952" y="1755648"/>
            <a:ext cx="4709160" cy="1417320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210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作为综述，更多是分类框架，不提供统一实验结论。</a:t>
            </a:r>
            <a:endParaRPr lang="en-US" sz="1210" dirty="0"/>
          </a:p>
          <a:p>
            <a:pPr marL="127000" indent="-127000">
              <a:buSzPct val="100000"/>
              <a:buChar char="•"/>
            </a:pPr>
            <a:r>
              <a:rPr lang="en-US" sz="1210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不同工作使用的数据集、图构建方式和指标差异较大，横向比较要谨慎。</a:t>
            </a:r>
            <a:endParaRPr lang="en-US" sz="1210" dirty="0"/>
          </a:p>
          <a:p>
            <a:pPr marL="127000" indent="-127000">
              <a:buSzPct val="100000"/>
              <a:buChar char="•"/>
            </a:pPr>
            <a:r>
              <a:rPr lang="en-US" sz="1210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工业落地仍受图构建质量、更新机制、检索延迟和上下文预算限制。</a:t>
            </a:r>
            <a:endParaRPr lang="en-US" sz="1210" dirty="0"/>
          </a:p>
        </p:txBody>
      </p:sp>
      <p:sp>
        <p:nvSpPr>
          <p:cNvPr id="9" name="Shape 7"/>
          <p:cNvSpPr/>
          <p:nvPr/>
        </p:nvSpPr>
        <p:spPr>
          <a:xfrm>
            <a:off x="749808" y="3822192"/>
            <a:ext cx="10515600" cy="1234440"/>
          </a:xfrm>
          <a:prstGeom prst="roundRect">
            <a:avLst>
              <a:gd name="adj" fmla="val 5926"/>
            </a:avLst>
          </a:prstGeom>
          <a:solidFill>
            <a:srgbClr val="F6E1D9"/>
          </a:solidFill>
          <a:ln w="10160">
            <a:solidFill>
              <a:srgbClr val="E6C8B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4096512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77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实践落点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423160" y="4096512"/>
            <a:ext cx="832104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30" b="1" dirty="0">
                <a:solidFill>
                  <a:srgbClr val="2A24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做 GraphRAG 时不要先迷恋复杂模型，先把“图从哪里来、检索什么粒度、如何转成生成上下文、如何评价证据质量”这四个问题打通。</a:t>
            </a:r>
            <a:endParaRPr lang="en-US" sz="1330" dirty="0"/>
          </a:p>
        </p:txBody>
      </p:sp>
      <p:sp>
        <p:nvSpPr>
          <p:cNvPr id="12" name="Text 10"/>
          <p:cNvSpPr/>
          <p:nvPr/>
        </p:nvSpPr>
        <p:spPr>
          <a:xfrm>
            <a:off x="1024128" y="4617720"/>
            <a:ext cx="978408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zh-CN" altLang="en-US" sz="1080" dirty="0">
              <a:solidFill>
                <a:srgbClr val="6F62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04672" y="5833872"/>
            <a:ext cx="59436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8A7B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资料来源：https://arxiv.org/pdf/2408.08921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700">
                <a:solidFill>
                  <a:srgbClr val="8A7B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90,&quot;left&quot;:543.6,&quot;top&quot;:118.8,&quot;width&quot;:406.8}"/>
</p:tagLst>
</file>

<file path=ppt/tags/tag2.xml><?xml version="1.0" encoding="utf-8"?>
<p:tagLst xmlns:p="http://schemas.openxmlformats.org/presentationml/2006/main">
  <p:tag name="KSO_WM_DIAGRAM_VIRTUALLY_FRAME" val="{&quot;height&quot;:90,&quot;left&quot;:543.6,&quot;top&quot;:118.8,&quot;width&quot;:406.8}"/>
</p:tagLst>
</file>

<file path=ppt/tags/tag3.xml><?xml version="1.0" encoding="utf-8"?>
<p:tagLst xmlns:p="http://schemas.openxmlformats.org/presentationml/2006/main">
  <p:tag name="KSO_WM_DIAGRAM_VIRTUALLY_FRAME" val="{&quot;height&quot;:90,&quot;left&quot;:543.6,&quot;top&quot;:118.8,&quot;width&quot;:406.8}"/>
</p:tagLst>
</file>

<file path=ppt/tags/tag4.xml><?xml version="1.0" encoding="utf-8"?>
<p:tagLst xmlns:p="http://schemas.openxmlformats.org/presentationml/2006/main">
  <p:tag name="KSO_WM_DIAGRAM_VIRTUALLY_FRAME" val="{&quot;height&quot;:90,&quot;left&quot;:543.6,&quot;top&quot;:118.8,&quot;width&quot;:406.8}"/>
</p:tagLst>
</file>

<file path=ppt/tags/tag5.xml><?xml version="1.0" encoding="utf-8"?>
<p:tagLst xmlns:p="http://schemas.openxmlformats.org/presentationml/2006/main">
  <p:tag name="KSO_WM_DIAGRAM_VIRTUALLY_FRAME" val="{&quot;height&quot;:90,&quot;left&quot;:543.6,&quot;top&quot;:118.8,&quot;width&quot;:406.8}"/>
</p:tagLst>
</file>

<file path=ppt/tags/tag6.xml><?xml version="1.0" encoding="utf-8"?>
<p:tagLst xmlns:p="http://schemas.openxmlformats.org/presentationml/2006/main">
  <p:tag name="KSO_WM_DIAGRAM_VIRTUALLY_FRAME" val="{&quot;height&quot;:90,&quot;left&quot;:543.6,&quot;top&quot;:118.8,&quot;width&quot;:406.8}"/>
</p:tagLst>
</file>

<file path=ppt/tags/tag7.xml><?xml version="1.0" encoding="utf-8"?>
<p:tagLst xmlns:p="http://schemas.openxmlformats.org/presentationml/2006/main">
  <p:tag name="KSO_WM_DIAGRAM_VIRTUALLY_FRAME" val="{&quot;height&quot;:90,&quot;left&quot;:543.6,&quot;top&quot;:118.8,&quot;width&quot;:406.8}"/>
</p:tagLst>
</file>

<file path=ppt/tags/tag8.xml><?xml version="1.0" encoding="utf-8"?>
<p:tagLst xmlns:p="http://schemas.openxmlformats.org/presentationml/2006/main">
  <p:tag name="KSO_WM_DIAGRAM_VIRTUALLY_FRAME" val="{&quot;height&quot;:90,&quot;left&quot;:543.6,&quot;top&quot;:118.8,&quot;width&quot;:406.8}"/>
</p:tagLst>
</file>

<file path=ppt/tags/tag9.xml><?xml version="1.0" encoding="utf-8"?>
<p:tagLst xmlns:p="http://schemas.openxmlformats.org/presentationml/2006/main">
  <p:tag name="KSO_WM_DIAGRAM_VIRTUALLY_FRAME" val="{&quot;height&quot;:90,&quot;left&quot;:543.6,&quot;top&quot;:118.8,&quot;width&quot;:406.8}"/>
</p:tagLst>
</file>

<file path=ppt/tags/tag10.xml><?xml version="1.0" encoding="utf-8"?>
<p:tagLst xmlns:p="http://schemas.openxmlformats.org/presentationml/2006/main">
  <p:tag name="KSO_WM_DIAGRAM_VIRTUALLY_FRAME" val="{&quot;height&quot;:90,&quot;left&quot;:543.6,&quot;top&quot;:118.8,&quot;width&quot;:406.8}"/>
</p:tagLst>
</file>

<file path=ppt/tags/tag11.xml><?xml version="1.0" encoding="utf-8"?>
<p:tagLst xmlns:p="http://schemas.openxmlformats.org/presentationml/2006/main">
  <p:tag name="KSO_WM_DIAGRAM_VIRTUALLY_FRAME" val="{&quot;height&quot;:90,&quot;left&quot;:543.6,&quot;top&quot;:118.8,&quot;width&quot;:406.8}"/>
</p:tagLst>
</file>

<file path=ppt/tags/tag12.xml><?xml version="1.0" encoding="utf-8"?>
<p:tagLst xmlns:p="http://schemas.openxmlformats.org/presentationml/2006/main">
  <p:tag name="KSO_WM_DIAGRAM_VIRTUALLY_FRAME" val="{&quot;height&quot;:90,&quot;left&quot;:543.6,&quot;top&quot;:118.8,&quot;width&quot;:406.8}"/>
</p:tagLst>
</file>

<file path=ppt/tags/tag13.xml><?xml version="1.0" encoding="utf-8"?>
<p:tagLst xmlns:p="http://schemas.openxmlformats.org/presentationml/2006/main">
  <p:tag name="KSO_WM_DIAGRAM_VIRTUALLY_FRAME" val="{&quot;height&quot;:90,&quot;left&quot;:543.6,&quot;top&quot;:118.8,&quot;width&quot;:406.8}"/>
</p:tagLst>
</file>

<file path=ppt/tags/tag14.xml><?xml version="1.0" encoding="utf-8"?>
<p:tagLst xmlns:p="http://schemas.openxmlformats.org/presentationml/2006/main">
  <p:tag name="KSO_WM_DIAGRAM_VIRTUALLY_FRAME" val="{&quot;height&quot;:90,&quot;left&quot;:543.6,&quot;top&quot;:118.8,&quot;width&quot;:406.8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3422</Words>
  <Application>WPS 演示</Application>
  <PresentationFormat>On-screen Show (16:9)</PresentationFormat>
  <Paragraphs>374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4" baseType="lpstr">
      <vt:lpstr>Arial</vt:lpstr>
      <vt:lpstr>宋体</vt:lpstr>
      <vt:lpstr>Wingdings</vt:lpstr>
      <vt:lpstr>微软雅黑</vt:lpstr>
      <vt:lpstr>微软雅黑</vt:lpstr>
      <vt:lpstr>Aptos</vt:lpstr>
      <vt:lpstr>Segoe UI</vt:lpstr>
      <vt:lpstr>Aptos</vt:lpstr>
      <vt:lpstr>Aptos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OpenAI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论文精读</dc:title>
  <dc:creator>Codex</dc:creator>
  <dc:subject>Graph Retrieval-Augmented Generation: A Survey 中文论文精读</dc:subject>
  <cp:lastModifiedBy>橘子</cp:lastModifiedBy>
  <cp:revision>16</cp:revision>
  <dcterms:created xsi:type="dcterms:W3CDTF">2026-05-02T18:49:00Z</dcterms:created>
  <dcterms:modified xsi:type="dcterms:W3CDTF">2026-05-06T00:16:57Z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7B3A4E16515F4B35B1055C1BD726E25C_12</vt:lpwstr>
  </property>
  <property fmtid="{D5CDD505-2E9C-101B-9397-08002B2CF9AE}" pid="3" name="KSOProductBuildVer">
    <vt:lpwstr>2052-12.1.0.25225</vt:lpwstr>
  </property>
</Properties>
</file>