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E9DE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1111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Survey | 中文论文精读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 w="12700">
            <a:solidFill>
              <a:srgbClr val="FB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58368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7315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arXiv:2408.08921 | Survey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85800" y="1133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论文精读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13232" y="195681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77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Retrieval-Augmented Generation: A Survey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一篇系统梳理 GraphRAG 方法论的综述：从图索引、图检索到图增强生成，并讨论训练、评估、工业应用与未来方向。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532180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Boci Peng, Yun Zhu, Yongchao Liu 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ACM, September 2024 / arXiv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6520" y="1024128"/>
            <a:ext cx="507492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11" name="Image 0" descr="C:\Users\86136\AppData\Local\Temp\graphrag_crops_v2\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1133856"/>
            <a:ext cx="4855464" cy="34564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11112" y="4636008"/>
            <a:ext cx="4745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Fig.2：GraphRAG 总体框架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6537960" y="510235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关键词：RAG、知识图谱、图神经网络、检索增强生成、结构化知识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背景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研究背景：RAG 解决了什么，又留下了什么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73152" cy="118872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的三类短板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领域知识缺失、知识过时、容易生成看似合理但不准确的内容。RAG 通过外部知识库补充上下文，降低幻觉风险。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40740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508760"/>
            <a:ext cx="73152" cy="118872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RAG 的基本假设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08576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把知识切成文本块，查询时做向量/关键词检索，再把相关文本塞回提示词。这个流程擅长找“相似文本”。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156448" y="150876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1508760"/>
            <a:ext cx="73152" cy="118872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的切入点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357616" y="2039112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现实知识常常由实体和关系组成。只有文本相似度不够，需要显式利用节点、边、路径和子图。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论文的核心判断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55778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不是简单把知识图谱塞给 LLM，而是把“结构化检索”纳入 RAG 流程。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它的关键收益来自关系建模：实体之间的路径、邻域和子图能够表达普通文本块难以稳定捕捉的依赖。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综述贡献在于首次给出统一工作流，并按索引、检索、生成三个阶段整理已有方法。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3246120"/>
            <a:ext cx="4480560" cy="1755648"/>
          </a:xfrm>
          <a:prstGeom prst="roundRect">
            <a:avLst>
              <a:gd name="adj" fmla="val 4167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34930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一句话精读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7205472" y="39136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当问题依赖“谁和谁有什么关系、经过什么路径产生影响”时，GraphRAG 比文本块 RAG 更容易给出可解释、可定位的答案。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动机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GraphRAG：关系是答案的一部分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58064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99616"/>
            <a:ext cx="5586984" cy="3502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5047488"/>
            <a:ext cx="5477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Fig.1：Direct LLM / RAG / GraphRAG 对比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图中案例的重点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1828800"/>
            <a:ext cx="466344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 LLM：能回答大方向，但容易浅层、泛化。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RAG：能补充相关段落，却可能被长文本和表达差异稀释关键关系。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GraphRAG：把“Monet -&gt; 技法 -&gt; 影响 -&gt; Picasso/Cubism”显式表示为可检索关系链。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结论：GraphRAG 的优势不是更多上下文，而是更可控的结构化上下文。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812280" y="46177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6EAFD"/>
          </a:solidFill>
          <a:ln w="10160">
            <a:solidFill>
              <a:srgbClr val="C6D0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800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阅读时要抓住的问题：GraphRAG 如何把“关系”转化为可索引、可检索、可生成的中间表示？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框架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GraphRAG 总体框架：三个阶段串起端到端流程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16736"/>
            <a:ext cx="585216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26464"/>
            <a:ext cx="5632704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837176"/>
            <a:ext cx="5522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Fig.2：GraphRAG QA 工作流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69037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508760"/>
            <a:ext cx="73152" cy="114300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04888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G-Indexing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104888" y="20391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选择或构建图数据库，并为节点、边、文本描述或图嵌入建立索引。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321040" y="2080260"/>
            <a:ext cx="64008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961120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7EBCB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0" y="1508760"/>
            <a:ext cx="73152" cy="1143000"/>
          </a:xfrm>
          <a:prstGeom prst="rect">
            <a:avLst/>
          </a:prstGeom>
          <a:solidFill>
            <a:srgbClr val="E8BC5A"/>
          </a:solidFill>
          <a:ln w="12700">
            <a:solidFill>
              <a:srgbClr val="E8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2288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G-Retrieval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9162288" y="20391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根据查询召回相关节点、三元组、路径、子图或混合结构。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10378440" y="2080260"/>
            <a:ext cx="621792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1000232" y="150876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00232" y="1508760"/>
            <a:ext cx="73152" cy="114300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201400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G-Generation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1201400" y="2039112"/>
            <a:ext cx="1097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把图结构转成模型可消费的格式，并生成最终答案。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876288" y="3063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形式化理解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903720" y="3493008"/>
            <a:ext cx="4572000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目标：在查询 q 和图数据库 G 条件下，生成最优答案 a。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由于候选子图数量会随图规模爆炸，实际系统通常先近似检索最优子图 G*。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生成器基于 q 与 G* 生成答案；检索质量直接决定生成上限。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6903720" y="49834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这也是本文后续章节的组织主线：第 5 章索引，第 6 章检索，第 7 章生成，第 8-10 章训练、评估与展望。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G-Indexing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图索引：先决定图从哪里来、怎么被找到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图数据来源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73152" cy="15087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开放知识图谱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2688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Wikidata、DBpedia、Freebase、领域知识图谱等。优势是构建成本低、覆盖面广；问题是任务适配和更新粒度不可完全控制。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自构建图数据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44568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从文档、数据库、日志或业务系统中抽取实体与关系。优势是贴近任务；难点是抽取质量、实体对齐和维护成本。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83080"/>
            <a:ext cx="73152" cy="15087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混合图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156448" y="2313432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把公开图谱与私有知识合并，兼顾通用知识和业务知识，但需要解决冲突、去重和权限边界。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索引方式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4672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图结构索引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邻接表、路径搜索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88920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文本索引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三元组转自然语言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73168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向量索引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语义相似度检索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757416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0568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图嵌入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8856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结构表示学习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741664" y="431596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14816" y="45262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混合索引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33104" y="48646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结构+语义组合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22960" y="5715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精读提示：索引不是工程细节，而是决定 GraphRAG 能召回什么“结构证据”的第一道关。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G-Retrieval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图检索：在指数级候选子图中找有用证据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580644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586984" cy="2039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547872"/>
            <a:ext cx="5477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Fig.4：图检索一般架构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81228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两类核心挑战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681228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783080"/>
            <a:ext cx="73152" cy="10972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3448" y="1947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候选子图爆炸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013448" y="2313432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图越大，可能的子图组合越多。系统必须用启发式搜索、分阶段检索或迭代检索缩小搜索空间。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812280" y="31546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3154680"/>
            <a:ext cx="73152" cy="10972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13448" y="33192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相似度度量不足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013448" y="3685032"/>
            <a:ext cx="4114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查询是文本，图是结构。只比较文本相似度会漏掉路径和关系，需要结合语义、结构和任务目标。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713232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检索器类型</a:t>
            </a:r>
            <a:endParaRPr lang="en-US" sz="1530" dirty="0"/>
          </a:p>
        </p:txBody>
      </p:sp>
      <p:sp>
        <p:nvSpPr>
          <p:cNvPr id="18" name="Shape 15"/>
          <p:cNvSpPr/>
          <p:nvPr/>
        </p:nvSpPr>
        <p:spPr>
          <a:xfrm>
            <a:off x="749808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" y="4736592"/>
            <a:ext cx="73152" cy="86868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非参数检索器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50976" y="526694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规则、BFS、最短路、k-hop 等，效率高、可解释，但适配复杂语义有限。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4370832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70832" y="4736592"/>
            <a:ext cx="73152" cy="86868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0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LM-based 检索器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4572000" y="526694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用语言模型或嵌入模型理解查询，适合自然语言语义匹配。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7991856" y="4736592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91856" y="4736592"/>
            <a:ext cx="73152" cy="86868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93024" y="49011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GNN-based 检索器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8193024" y="5266944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利用图神经网络编码结构信息，适合结构相关性更强的任务。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粒度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检索粒度：GraphRAG 召回的不一定是文本块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7393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8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12140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实体本身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65760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3441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三元组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916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head-relation-tail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446520" y="11430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3441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6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多跳推理链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144000" y="157276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77393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121408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局部关系网络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800600" y="48920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509320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544068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节点+边+文本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084064" y="2770632"/>
            <a:ext cx="2011680" cy="1325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7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9824" y="3264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q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255485" y="3063389"/>
            <a:ext cx="-2329405" cy="-1033421"/>
          </a:xfrm>
          <a:prstGeom prst="line">
            <a:avLst/>
          </a:prstGeom>
          <a:noFill/>
          <a:ln w="15240">
            <a:solidFill>
              <a:srgbClr val="4F8C6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6355" y="2888972"/>
            <a:ext cx="-875775" cy="-831572"/>
          </a:xfrm>
          <a:prstGeom prst="line">
            <a:avLst/>
          </a:prstGeom>
          <a:noFill/>
          <a:ln w="15240">
            <a:solidFill>
              <a:srgbClr val="E8BC5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33050" y="2875596"/>
            <a:ext cx="796450" cy="-818196"/>
          </a:xfrm>
          <a:prstGeom prst="line">
            <a:avLst/>
          </a:prstGeom>
          <a:noFill/>
          <a:ln w="15240">
            <a:solidFill>
              <a:srgbClr val="5769F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14967" y="3054389"/>
            <a:ext cx="2229033" cy="-1024421"/>
          </a:xfrm>
          <a:prstGeom prst="line">
            <a:avLst/>
          </a:prstGeom>
          <a:noFill/>
          <a:ln w="1524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51981" y="4090250"/>
            <a:ext cx="-168401" cy="801790"/>
          </a:xfrm>
          <a:prstGeom prst="line">
            <a:avLst/>
          </a:prstGeom>
          <a:noFill/>
          <a:ln w="15240">
            <a:solidFill>
              <a:srgbClr val="8A7B70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41248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选择粒度时的 trade-off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010912"/>
            <a:ext cx="103327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粒度越小，召回更精确，但上下文可能不完整。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粒度越大，信息更丰富，但噪声和 token 成本更高。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实际系统常用混合策略：先粗召回，再扩展/剪枝。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G-Generation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图增强生成：把图证据翻译成模型可用上下文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715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1430">
            <a:solidFill>
              <a:srgbClr val="E5D9CD"/>
            </a:solidFill>
            <a:prstDash val="solid"/>
          </a:ln>
        </p:spPr>
      </p:sp>
      <p:pic>
        <p:nvPicPr>
          <p:cNvPr id="6" name="Image 0" descr="C:\Users\86136\AppData\Local\Temp\graphrag_crops_v2\fi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81328"/>
            <a:ext cx="5495544" cy="1490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5385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Fig.5：图增强生成流程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784848" y="1353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生成阶段关注三件事</a:t>
            </a:r>
            <a:endParaRPr lang="en-US" sz="1530" dirty="0"/>
          </a:p>
        </p:txBody>
      </p:sp>
      <p:sp>
        <p:nvSpPr>
          <p:cNvPr id="9" name="Text 6"/>
          <p:cNvSpPr/>
          <p:nvPr/>
        </p:nvSpPr>
        <p:spPr>
          <a:xfrm>
            <a:off x="6812280" y="1764792"/>
            <a:ext cx="45262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选生成器：GNN、语言模型、或二者结合。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转图格式：邻接/边表、自然语言、节点序列、代码式表达、语法树、图嵌入。</a:t>
            </a:r>
            <a:endParaRPr lang="en-US" sz="1220" dirty="0"/>
          </a:p>
          <a:p>
            <a:pPr marL="127000" indent="-127000">
              <a:buSzPct val="100000"/>
              <a:buChar char="•"/>
            </a:pPr>
            <a:r>
              <a:rPr lang="en-US" sz="122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做增强：生成前增强、生成中交互、生成后校验/修正。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13232" y="3858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中文重绘：从结构证据到答案</a:t>
            </a:r>
            <a:endParaRPr lang="en-US" sz="1530" dirty="0"/>
          </a:p>
        </p:txBody>
      </p:sp>
      <p:sp>
        <p:nvSpPr>
          <p:cNvPr id="11" name="Shape 8"/>
          <p:cNvSpPr/>
          <p:nvPr/>
        </p:nvSpPr>
        <p:spPr>
          <a:xfrm>
            <a:off x="8229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4F8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9144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边 / 路径 / 子图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651760" y="4869180"/>
            <a:ext cx="68580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375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472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76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格式转换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4290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图语言 / 自然语言 / 嵌入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166360" y="4869180"/>
            <a:ext cx="68580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8521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8B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9436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/ GNN / Hybrid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7680960" y="4869180"/>
            <a:ext cx="685800" cy="0"/>
          </a:xfrm>
          <a:prstGeom prst="line">
            <a:avLst/>
          </a:prstGeom>
          <a:noFill/>
          <a:ln w="19050">
            <a:solidFill>
              <a:srgbClr val="D7775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366760" y="44348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464515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答案输出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8458200" y="4965192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更准确、更可解释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22960" y="5742432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精读提示：GraphRAG 的生成质量很大程度取决于“图到文本/图到提示词”的表达是否保留了关键关系。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训练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训练策略：从 Prompt 编排到端到端优化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2120" y="1417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302752" y="14173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4F1EA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免训练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用闭源 LLM、规则检索或预训练嵌入直接完成检索/生成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工程启动快，适合原型和通用任务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302752" y="1874520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缺少任务定制，效果可能不是最优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6EAFD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0896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单独训练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分别训练检索器或生成器，例如监督式检索、排序、微调生成器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可针对任务优化单个模块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302752" y="3108960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模块间目标可能不一致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F6E1D9"/>
          </a:solidFill>
          <a:ln w="6350">
            <a:solidFill>
              <a:srgbClr val="E5D9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4340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联合训练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240280" y="4343400"/>
            <a:ext cx="29718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同时优化检索器与生成器，让召回证据更服务最终答案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532120" y="4343400"/>
            <a:ext cx="2331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端到端效果潜力更高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02752" y="4343400"/>
            <a:ext cx="2697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数据、算力和训练稳定性要求高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31520" y="577900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读论文时可以把训练章节理解为：GraphRAG 从“手工拼流程”走向“让检索和生成共同服务最终任务”。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应用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应用与评估：GraphRAG 的主战场仍是知识密集任务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6E1D9"/>
          </a:solidFill>
          <a:ln w="12700">
            <a:solidFill>
              <a:srgbClr val="F6E1D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 / KBQA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6EAFD"/>
          </a:solidFill>
          <a:ln w="12700">
            <a:solidFill>
              <a:srgbClr val="E6EAF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信息抽取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87952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4F1EA"/>
          </a:solidFill>
          <a:ln w="12700">
            <a:solidFill>
              <a:srgbClr val="E4F1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79392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推荐与搜索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7EBCB"/>
          </a:solidFill>
          <a:ln w="12700">
            <a:solidFill>
              <a:srgbClr val="F7EBC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98464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 / 生物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626096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FE7DD"/>
          </a:solidFill>
          <a:ln w="12700">
            <a:solidFill>
              <a:srgbClr val="EFE7D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Biz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17536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企业知识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345168" y="14173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4E4EF"/>
          </a:solidFill>
          <a:ln w="12700">
            <a:solidFill>
              <a:srgbClr val="F4E4E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5636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36608" y="189280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工具与代理系统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2816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评价指标要分层看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74980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246120"/>
            <a:ext cx="73152" cy="1051560"/>
          </a:xfrm>
          <a:prstGeom prst="rect">
            <a:avLst/>
          </a:prstGeom>
          <a:solidFill>
            <a:srgbClr val="4F8C6B"/>
          </a:solidFill>
          <a:ln w="12700">
            <a:solidFill>
              <a:srgbClr val="4F8C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50976" y="377647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Recall、Precision、Hit@K、MRR；关注是否找到足够相关的节点/路径/子图。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427024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3246120"/>
            <a:ext cx="73152" cy="1051560"/>
          </a:xfrm>
          <a:prstGeom prst="rect">
            <a:avLst/>
          </a:prstGeom>
          <a:solidFill>
            <a:srgbClr val="5769F7"/>
          </a:solidFill>
          <a:ln w="12700">
            <a:solidFill>
              <a:srgbClr val="5769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471416" y="377647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EM、F1、BLEU、ROUGE、BERTScore、人工/GPT 评估；关注答案质量。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790688" y="324612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D9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0688" y="3246120"/>
            <a:ext cx="73152" cy="1051560"/>
          </a:xfrm>
          <a:prstGeom prst="rect">
            <a:avLst/>
          </a:prstGeom>
          <a:solidFill>
            <a:srgbClr val="D77757"/>
          </a:solidFill>
          <a:ln w="12700">
            <a:solidFill>
              <a:srgbClr val="D777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91856" y="3410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991856" y="3776472"/>
            <a:ext cx="2834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延迟、成本、可解释性、可维护性；工业 GraphRAG 不能只看离线准确率。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86384" y="489204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102352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精读观点：GraphRAG 的评估难点在于“正确答案”之外，还要评价图证据是否可信、路径是否合理、上下文压缩是否丢失关键关系。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展望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未来方向：从静态图走向可维护的知识系统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4F1EA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58191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4F8C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动态图与自适应图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50976" y="1920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实时吸收新实体和新关系，避免图数据库过时。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6EAF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5769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多模态信息集成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把图像、音频、视频等模态纳入图结构，提升知识表达丰富度。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49808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6E1D9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90779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可扩展高效检索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50976" y="32461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在大规模图上控制延迟和成本，同时保留多跳推理能力。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199632" y="2743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7EBCB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0779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E8BC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结合图基础模型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324612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用更强的图表示学习能力提升通用性和迁移能力。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FE7DD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2336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8A7B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无损上下文压缩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50976" y="45720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把检索到的结构证据压缩进有限上下文，同时不丢关键关系。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199632" y="4069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E4EF"/>
          </a:solidFill>
          <a:ln w="7620">
            <a:solidFill>
              <a:srgbClr val="E5D9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336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B35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Benchmark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建立统一数据集、任务和指标，减少方法之间不可比的问题。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论文给出的未来方向可以归纳为一句话：GraphRAG 要从“能用图增强回答”升级为“可更新、可扩展、可评估的知识基础设施”。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总结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精读总结：这篇综述给我们的实践启示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11064240" cy="0"/>
          </a:xfrm>
          <a:prstGeom prst="line">
            <a:avLst/>
          </a:prstGeom>
          <a:noFill/>
          <a:ln w="12700">
            <a:solidFill>
              <a:srgbClr val="E5D9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论文贡献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507492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首次系统化整理 GraphRAG 方法，并给出统一三阶段工作流。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把已有研究按索引、检索、生成、训练、评估和应用进行分类。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GraphRAG 的关键价值：利用结构关系提升知识密集任务的准确性和可解释性。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6419088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局限与阅读注意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73952" y="1755648"/>
            <a:ext cx="47091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作为综述，更多是分类框架，不提供统一实验结论。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不同工作使用的数据集、图构建方式和指标差异较大，横向比较要谨慎。</a:t>
            </a:r>
            <a:endParaRPr lang="en-US" sz="1210" dirty="0"/>
          </a:p>
          <a:p>
            <a:pPr marL="127000" indent="-127000">
              <a:buSzPct val="100000"/>
              <a:buChar char="•"/>
            </a:pPr>
            <a:r>
              <a:rPr lang="en-US" sz="1210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工业落地仍受图构建质量、更新机制、检索延迟和上下文预算限制。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749808" y="3822192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6E1D9"/>
          </a:solidFill>
          <a:ln w="10160">
            <a:solidFill>
              <a:srgbClr val="E6C8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实践落点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3160" y="409651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2A24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GraphRAG 时不要先迷恋复杂模型，先把“图从哪里来、检索什么粒度、如何转成生成上下文、如何评价证据质量”这四个问题打通。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24128" y="46177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F6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推荐阅读顺序：Fig.2 总框架 -&gt; 第 5/6/7 章三阶段 -&gt; 第 10 章未来方向。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4672" y="58338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7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资料来源：https://arxiv.org/pdf/2408.08921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A7B7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论文精读</dc:title>
  <dc:subject>Graph Retrieval-Augmented Generation: A Survey 中文论文精读</dc:subject>
  <dc:creator>Codex</dc:creator>
  <cp:lastModifiedBy>Codex</cp:lastModifiedBy>
  <cp:revision>1</cp:revision>
  <dcterms:created xsi:type="dcterms:W3CDTF">2026-05-02T18:49:08Z</dcterms:created>
  <dcterms:modified xsi:type="dcterms:W3CDTF">2026-05-02T18:49:08Z</dcterms:modified>
</cp:coreProperties>
</file>