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3333500" cy="7500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868680" y="1051560"/>
            <a:ext cx="104698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4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RAG 原始论文精读</a:t>
            </a:r>
            <a:endParaRPr lang="zh-CN" sz="4200"/>
          </a:p>
        </p:txBody>
      </p:sp>
      <p:sp>
        <p:nvSpPr>
          <p:cNvPr id="4" name="text 4"/>
          <p:cNvSpPr txBox="1"/>
          <p:nvPr/>
        </p:nvSpPr>
        <p:spPr>
          <a:xfrm>
            <a:off x="1005840" y="2057400"/>
            <a:ext cx="10195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300">
                <a:solidFill>
                  <a:srgbClr val="A84F35"/>
                </a:solidFill>
                <a:latin typeface="Microsoft YaHei"/>
                <a:ea typeface="Microsoft YaHei"/>
                <a:cs typeface="Microsoft YaHei"/>
              </a:rPr>
              <a:t>严格依据 CSDN 精读文章重制版</a:t>
            </a:r>
            <a:endParaRPr lang="zh-CN" sz="2300"/>
          </a:p>
        </p:txBody>
      </p:sp>
      <p:sp>
        <p:nvSpPr>
          <p:cNvPr id="5" name="rect 5"/>
          <p:cNvSpPr/>
          <p:nvPr/>
        </p:nvSpPr>
        <p:spPr>
          <a:xfrm>
            <a:off x="1234440" y="3337560"/>
            <a:ext cx="2148840" cy="658368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1234440" y="3337560"/>
            <a:ext cx="73152" cy="65836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1307592" y="3337560"/>
            <a:ext cx="207568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核心主题</a:t>
            </a:r>
            <a:endParaRPr lang="zh-CN" sz="1400"/>
          </a:p>
          <a:p>
            <a:pPr algn="ctr"/>
            <a:r>
              <a:rPr lang="zh-CN" sz="14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检索增强生成</a:t>
            </a:r>
            <a:endParaRPr lang="zh-CN" sz="1400"/>
          </a:p>
        </p:txBody>
      </p:sp>
      <p:sp>
        <p:nvSpPr>
          <p:cNvPr id="8" name="rect 8"/>
          <p:cNvSpPr/>
          <p:nvPr/>
        </p:nvSpPr>
        <p:spPr>
          <a:xfrm>
            <a:off x="3611880" y="3337560"/>
            <a:ext cx="2148840" cy="658368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3611880" y="3337560"/>
            <a:ext cx="73152" cy="65836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3685032" y="3337560"/>
            <a:ext cx="207568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模型主线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RAG-Seq / RAG-Tok</a:t>
            </a:r>
            <a:endParaRPr lang="zh-CN" sz="1300"/>
          </a:p>
        </p:txBody>
      </p:sp>
      <p:sp>
        <p:nvSpPr>
          <p:cNvPr id="11" name="rect 11"/>
          <p:cNvSpPr/>
          <p:nvPr/>
        </p:nvSpPr>
        <p:spPr>
          <a:xfrm>
            <a:off x="5989320" y="3337560"/>
            <a:ext cx="2148840" cy="658368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5989320" y="3337560"/>
            <a:ext cx="73152" cy="65836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6062472" y="3337560"/>
            <a:ext cx="207568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方法组件</a:t>
            </a:r>
            <a:endParaRPr lang="zh-CN" sz="1400"/>
          </a:p>
          <a:p>
            <a:pPr algn="ctr"/>
            <a:r>
              <a:rPr lang="zh-CN" sz="14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DPR + BART</a:t>
            </a:r>
            <a:endParaRPr lang="zh-CN" sz="1400"/>
          </a:p>
        </p:txBody>
      </p:sp>
      <p:sp>
        <p:nvSpPr>
          <p:cNvPr id="14" name="rect 14"/>
          <p:cNvSpPr/>
          <p:nvPr/>
        </p:nvSpPr>
        <p:spPr>
          <a:xfrm>
            <a:off x="8366760" y="3337560"/>
            <a:ext cx="214884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8366760" y="3337560"/>
            <a:ext cx="73152" cy="65836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8439912" y="3337560"/>
            <a:ext cx="207568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实验结论</a:t>
            </a:r>
            <a:endParaRPr lang="zh-CN" sz="1400"/>
          </a:p>
          <a:p>
            <a:pPr algn="ctr"/>
            <a:r>
              <a:rPr lang="zh-CN" sz="14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效果与消融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1097280" y="5166360"/>
            <a:ext cx="10012680" cy="384048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11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来源：https://blog.csdn.net/weixin_43221845/article/details/142610477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1. 论文定位：RAG 解决什么问题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定位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914400" y="1234440"/>
            <a:ext cx="2971800" cy="41605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914400" y="1234440"/>
            <a:ext cx="73152" cy="41605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1014984" y="1234440"/>
            <a:ext cx="2852928" cy="416052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一句话简介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文章将该论文定位为 RAG 的开山之作。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论文提出将检索和生成结合的新模型架构。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目标是解决预训练模型在知识密集型 NLP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任务中的局限。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4617720" y="1234440"/>
            <a:ext cx="2971800" cy="416052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4617720" y="1234440"/>
            <a:ext cx="73152" cy="41605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4718304" y="1234440"/>
            <a:ext cx="2852928" cy="416052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背景问题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大型预训练模型能存储丰富知识。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但访问和精确操作知识仍受限。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知识更新困难，生成内容也可能出现幻觉。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8321040" y="1234440"/>
            <a:ext cx="2971800" cy="416052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8321040" y="1234440"/>
            <a:ext cx="73152" cy="416052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6" name="card 16"/>
          <p:cNvSpPr txBox="1"/>
          <p:nvPr/>
        </p:nvSpPr>
        <p:spPr>
          <a:xfrm>
            <a:off x="8421624" y="1234440"/>
            <a:ext cx="2852928" cy="416052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RAG 提法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同时使用参数化记忆和非参数化记忆。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参数化记忆来自预训练生成模型。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非参数化记忆来自外部文档库实时检索。</a:t>
            </a:r>
            <a:endParaRPr lang="zh-CN" sz="1100"/>
          </a:p>
        </p:txBody>
      </p:sp>
      <p:sp>
        <p:nvSpPr>
          <p:cNvPr id="17" name="text 17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事实依据：CSDN《RAG原始论文-针对知识密集型NLP任务的检索增强生成》｜对应章节：一、简介；二、摘要；三、引言</a:t>
            </a:r>
            <a:endParaRPr lang="zh-CN"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2. 总体执行方向：问题到答案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总流程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868680" y="1874519"/>
            <a:ext cx="1417320" cy="71323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868680" y="1874519"/>
            <a:ext cx="73152" cy="713232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941832" y="1874519"/>
            <a:ext cx="1344168" cy="71323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输入问题 x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2743200" y="1874519"/>
            <a:ext cx="1508760" cy="713232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2743200" y="1874519"/>
            <a:ext cx="73152" cy="713232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2816352" y="1874519"/>
            <a:ext cx="1435607" cy="71323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查询编码器</a:t>
            </a:r>
            <a:endParaRPr lang="zh-CN" sz="1200"/>
          </a:p>
          <a:p>
            <a:pPr algn="ctr"/>
            <a:r>
              <a:rPr lang="zh-CN" sz="9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q(x)</a:t>
            </a:r>
            <a:endParaRPr lang="zh-CN" sz="900"/>
          </a:p>
        </p:txBody>
      </p:sp>
      <p:sp>
        <p:nvSpPr>
          <p:cNvPr id="14" name="rect 14"/>
          <p:cNvSpPr/>
          <p:nvPr/>
        </p:nvSpPr>
        <p:spPr>
          <a:xfrm>
            <a:off x="4754880" y="1874519"/>
            <a:ext cx="1508760" cy="713232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4754880" y="1874519"/>
            <a:ext cx="73152" cy="71323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4828032" y="1874519"/>
            <a:ext cx="1435607" cy="71323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检索器</a:t>
            </a:r>
            <a:endParaRPr lang="zh-CN" sz="1200"/>
          </a:p>
          <a:p>
            <a:pPr algn="ctr"/>
            <a:r>
              <a:rPr lang="zh-CN" sz="9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MIPS top-K</a:t>
            </a:r>
            <a:endParaRPr lang="zh-CN" sz="900"/>
          </a:p>
        </p:txBody>
      </p:sp>
      <p:sp>
        <p:nvSpPr>
          <p:cNvPr id="17" name="rect 17"/>
          <p:cNvSpPr/>
          <p:nvPr/>
        </p:nvSpPr>
        <p:spPr>
          <a:xfrm>
            <a:off x="6766560" y="1874519"/>
            <a:ext cx="1600200" cy="713232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6766560" y="1874519"/>
            <a:ext cx="73152" cy="713232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6839712" y="1874519"/>
            <a:ext cx="1527048" cy="71323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生成器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pθ(y|x,z)</a:t>
            </a:r>
            <a:endParaRPr lang="zh-CN" sz="1200"/>
          </a:p>
        </p:txBody>
      </p:sp>
      <p:sp>
        <p:nvSpPr>
          <p:cNvPr id="20" name="rect 20"/>
          <p:cNvSpPr/>
          <p:nvPr/>
        </p:nvSpPr>
        <p:spPr>
          <a:xfrm>
            <a:off x="8869680" y="1874519"/>
            <a:ext cx="1417320" cy="71323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8869680" y="1874519"/>
            <a:ext cx="73152" cy="713232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8942832" y="1874519"/>
            <a:ext cx="1344168" cy="71323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最终输出 y</a:t>
            </a:r>
            <a:endParaRPr lang="zh-CN" sz="1200"/>
          </a:p>
        </p:txBody>
      </p:sp>
      <p:cxnSp>
        <p:nvCxnSpPr>
          <p:cNvPr id="23" name="arrow 23"/>
          <p:cNvCxnSpPr/>
          <p:nvPr/>
        </p:nvCxnSpPr>
        <p:spPr>
          <a:xfrm>
            <a:off x="2286000" y="2231136"/>
            <a:ext cx="457200" cy="1"/>
          </a:xfrm>
          <a:prstGeom prst="line">
            <a:avLst/>
          </a:prstGeom>
          <a:ln w="17000">
            <a:solidFill>
              <a:srgbClr val="D77757"/>
            </a:solidFill>
            <a:headEnd type="triangle"/>
          </a:ln>
        </p:spPr>
      </p:cxnSp>
      <p:cxnSp>
        <p:nvCxnSpPr>
          <p:cNvPr id="24" name="arrow 24"/>
          <p:cNvCxnSpPr/>
          <p:nvPr/>
        </p:nvCxnSpPr>
        <p:spPr>
          <a:xfrm>
            <a:off x="4251960" y="2231136"/>
            <a:ext cx="502919" cy="1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cxnSp>
        <p:nvCxnSpPr>
          <p:cNvPr id="25" name="arrow 25"/>
          <p:cNvCxnSpPr/>
          <p:nvPr/>
        </p:nvCxnSpPr>
        <p:spPr>
          <a:xfrm>
            <a:off x="6263640" y="2231136"/>
            <a:ext cx="502920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cxnSp>
        <p:nvCxnSpPr>
          <p:cNvPr id="26" name="arrow 26"/>
          <p:cNvCxnSpPr/>
          <p:nvPr/>
        </p:nvCxnSpPr>
        <p:spPr>
          <a:xfrm>
            <a:off x="8366760" y="2231136"/>
            <a:ext cx="502919" cy="1"/>
          </a:xfrm>
          <a:prstGeom prst="line">
            <a:avLst/>
          </a:prstGeom>
          <a:ln w="17000">
            <a:solidFill>
              <a:srgbClr val="A84F35"/>
            </a:solidFill>
            <a:headEnd type="triangle"/>
          </a:ln>
        </p:spPr>
      </p:cxnSp>
      <p:sp>
        <p:nvSpPr>
          <p:cNvPr id="27" name="rect 27"/>
          <p:cNvSpPr/>
          <p:nvPr/>
        </p:nvSpPr>
        <p:spPr>
          <a:xfrm>
            <a:off x="4754880" y="3246120"/>
            <a:ext cx="1508760" cy="56692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8" name="rect 28"/>
          <p:cNvSpPr/>
          <p:nvPr/>
        </p:nvSpPr>
        <p:spPr>
          <a:xfrm>
            <a:off x="4754880" y="3246120"/>
            <a:ext cx="73152" cy="56692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9" name="node text 29"/>
          <p:cNvSpPr txBox="1"/>
          <p:nvPr/>
        </p:nvSpPr>
        <p:spPr>
          <a:xfrm>
            <a:off x="4828032" y="3246120"/>
            <a:ext cx="1435607" cy="56692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文档 z1...zk</a:t>
            </a:r>
            <a:endParaRPr lang="zh-CN" sz="1100"/>
          </a:p>
        </p:txBody>
      </p:sp>
      <p:cxnSp>
        <p:nvCxnSpPr>
          <p:cNvPr id="30" name="arrow 30"/>
          <p:cNvCxnSpPr/>
          <p:nvPr/>
        </p:nvCxnSpPr>
        <p:spPr>
          <a:xfrm>
            <a:off x="5532120" y="2587752"/>
            <a:ext cx="1" cy="658367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cxnSp>
        <p:nvCxnSpPr>
          <p:cNvPr id="31" name="arrow 31"/>
          <p:cNvCxnSpPr/>
          <p:nvPr/>
        </p:nvCxnSpPr>
        <p:spPr>
          <a:xfrm flipV="1">
            <a:off x="6263640" y="2331720"/>
            <a:ext cx="502920" cy="1197864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sp>
        <p:nvSpPr>
          <p:cNvPr id="32" name="rect 32"/>
          <p:cNvSpPr/>
          <p:nvPr/>
        </p:nvSpPr>
        <p:spPr>
          <a:xfrm>
            <a:off x="7178040" y="3977639"/>
            <a:ext cx="1920240" cy="64008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3" name="rect 33"/>
          <p:cNvSpPr/>
          <p:nvPr/>
        </p:nvSpPr>
        <p:spPr>
          <a:xfrm>
            <a:off x="7178040" y="3977639"/>
            <a:ext cx="73152" cy="64008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34" name="node text 34"/>
          <p:cNvSpPr txBox="1"/>
          <p:nvPr/>
        </p:nvSpPr>
        <p:spPr>
          <a:xfrm>
            <a:off x="7251192" y="3977639"/>
            <a:ext cx="1847088" cy="64008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边缘化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综合多个文档结果</a:t>
            </a:r>
            <a:endParaRPr lang="zh-CN" sz="1200"/>
          </a:p>
        </p:txBody>
      </p:sp>
      <p:cxnSp>
        <p:nvCxnSpPr>
          <p:cNvPr id="35" name="arrow 35"/>
          <p:cNvCxnSpPr/>
          <p:nvPr/>
        </p:nvCxnSpPr>
        <p:spPr>
          <a:xfrm>
            <a:off x="7562088" y="2587752"/>
            <a:ext cx="347472" cy="1389887"/>
          </a:xfrm>
          <a:prstGeom prst="line">
            <a:avLst/>
          </a:prstGeom>
          <a:ln w="17000">
            <a:solidFill>
              <a:srgbClr val="A84F35"/>
            </a:solidFill>
            <a:headEnd type="triangle"/>
          </a:ln>
        </p:spPr>
      </p:cxnSp>
      <p:cxnSp>
        <p:nvCxnSpPr>
          <p:cNvPr id="36" name="arrow 36"/>
          <p:cNvCxnSpPr/>
          <p:nvPr/>
        </p:nvCxnSpPr>
        <p:spPr>
          <a:xfrm flipV="1">
            <a:off x="9098280" y="2587752"/>
            <a:ext cx="457200" cy="1709928"/>
          </a:xfrm>
          <a:prstGeom prst="line">
            <a:avLst/>
          </a:prstGeom>
          <a:ln w="17000">
            <a:solidFill>
              <a:srgbClr val="A84F35"/>
            </a:solidFill>
            <a:headEnd type="triangle"/>
          </a:ln>
        </p:spPr>
      </p:cxnSp>
      <p:sp>
        <p:nvSpPr>
          <p:cNvPr id="37" name="rect 37"/>
          <p:cNvSpPr/>
          <p:nvPr/>
        </p:nvSpPr>
        <p:spPr>
          <a:xfrm>
            <a:off x="1143000" y="4206240"/>
            <a:ext cx="4069080" cy="96012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8" name="rect 38"/>
          <p:cNvSpPr/>
          <p:nvPr/>
        </p:nvSpPr>
        <p:spPr>
          <a:xfrm>
            <a:off x="1143000" y="4206240"/>
            <a:ext cx="73152" cy="9601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9" name="card 39"/>
          <p:cNvSpPr txBox="1"/>
          <p:nvPr/>
        </p:nvSpPr>
        <p:spPr>
          <a:xfrm>
            <a:off x="1243584" y="4206240"/>
            <a:ext cx="3950208" cy="96012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原文例子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问题：谁是《神曲》的作者？检索相关文档后，生成器综合多个文档，输出“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但丁”。</a:t>
            </a:r>
            <a:endParaRPr lang="zh-CN" sz="1100"/>
          </a:p>
        </p:txBody>
      </p:sp>
      <p:sp>
        <p:nvSpPr>
          <p:cNvPr id="40" name="text 40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事实依据：CSDN《RAG原始论文-针对知识密集型NLP任务的检索增强生成》｜对应章节：四、整体架构（用一个例子来阐明）</a:t>
            </a:r>
            <a:endParaRPr lang="zh-CN"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3. RAG-Sequence：同一文档生成整段序列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模型一</a:t>
            </a:r>
            <a:endParaRPr lang="zh-CN" sz="1000"/>
          </a:p>
        </p:txBody>
      </p:sp>
      <p:sp>
        <p:nvSpPr>
          <p:cNvPr id="8" name="text 8"/>
          <p:cNvSpPr txBox="1"/>
          <p:nvPr/>
        </p:nvSpPr>
        <p:spPr>
          <a:xfrm>
            <a:off x="960120" y="1051560"/>
            <a:ext cx="10287000" cy="502920"/>
          </a:xfrm>
          <a:prstGeom prst="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2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p_RAG-Sequence(y|x) ≈ Σ_z pη(z|x) · pθ(y|x,z)</a:t>
            </a:r>
            <a:endParaRPr lang="zh-CN" sz="2000"/>
          </a:p>
        </p:txBody>
      </p:sp>
      <p:sp>
        <p:nvSpPr>
          <p:cNvPr id="9" name="rect 9"/>
          <p:cNvSpPr/>
          <p:nvPr/>
        </p:nvSpPr>
        <p:spPr>
          <a:xfrm>
            <a:off x="914400" y="2148840"/>
            <a:ext cx="164592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0" name="rect 10"/>
          <p:cNvSpPr/>
          <p:nvPr/>
        </p:nvSpPr>
        <p:spPr>
          <a:xfrm>
            <a:off x="914400" y="214884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1" name="node text 11"/>
          <p:cNvSpPr txBox="1"/>
          <p:nvPr/>
        </p:nvSpPr>
        <p:spPr>
          <a:xfrm>
            <a:off x="987552" y="2148840"/>
            <a:ext cx="157276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查询 x</a:t>
            </a:r>
            <a:endParaRPr lang="zh-CN" sz="1100"/>
          </a:p>
        </p:txBody>
      </p:sp>
      <p:sp>
        <p:nvSpPr>
          <p:cNvPr id="12" name="rect 12"/>
          <p:cNvSpPr/>
          <p:nvPr/>
        </p:nvSpPr>
        <p:spPr>
          <a:xfrm>
            <a:off x="3200400" y="2148840"/>
            <a:ext cx="173736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3" name="rect 13"/>
          <p:cNvSpPr/>
          <p:nvPr/>
        </p:nvSpPr>
        <p:spPr>
          <a:xfrm>
            <a:off x="3200400" y="214884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4" name="node text 14"/>
          <p:cNvSpPr txBox="1"/>
          <p:nvPr/>
        </p:nvSpPr>
        <p:spPr>
          <a:xfrm>
            <a:off x="3273552" y="2148840"/>
            <a:ext cx="1664207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8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检索 top-K</a:t>
            </a:r>
            <a:endParaRPr lang="zh-CN" sz="8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文档 z</a:t>
            </a:r>
            <a:endParaRPr lang="zh-CN" sz="1100"/>
          </a:p>
        </p:txBody>
      </p:sp>
      <p:sp>
        <p:nvSpPr>
          <p:cNvPr id="15" name="rect 15"/>
          <p:cNvSpPr/>
          <p:nvPr/>
        </p:nvSpPr>
        <p:spPr>
          <a:xfrm>
            <a:off x="5577840" y="2148840"/>
            <a:ext cx="178308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6" name="rect 16"/>
          <p:cNvSpPr/>
          <p:nvPr/>
        </p:nvSpPr>
        <p:spPr>
          <a:xfrm>
            <a:off x="5577840" y="214884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7" name="node text 17"/>
          <p:cNvSpPr txBox="1"/>
          <p:nvPr/>
        </p:nvSpPr>
        <p:spPr>
          <a:xfrm>
            <a:off x="5650992" y="2148840"/>
            <a:ext cx="17099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每个文档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生成完整 y</a:t>
            </a:r>
            <a:endParaRPr lang="zh-CN" sz="1100"/>
          </a:p>
        </p:txBody>
      </p:sp>
      <p:sp>
        <p:nvSpPr>
          <p:cNvPr id="18" name="rect 18"/>
          <p:cNvSpPr/>
          <p:nvPr/>
        </p:nvSpPr>
        <p:spPr>
          <a:xfrm>
            <a:off x="8001000" y="2148840"/>
            <a:ext cx="178308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9" name="rect 19"/>
          <p:cNvSpPr/>
          <p:nvPr/>
        </p:nvSpPr>
        <p:spPr>
          <a:xfrm>
            <a:off x="8001000" y="2148840"/>
            <a:ext cx="73152" cy="6858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20" name="node text 20"/>
          <p:cNvSpPr txBox="1"/>
          <p:nvPr/>
        </p:nvSpPr>
        <p:spPr>
          <a:xfrm>
            <a:off x="8074152" y="2148840"/>
            <a:ext cx="17099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对所有文档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边缘化</a:t>
            </a:r>
            <a:endParaRPr lang="zh-CN" sz="1100"/>
          </a:p>
        </p:txBody>
      </p:sp>
      <p:sp>
        <p:nvSpPr>
          <p:cNvPr id="21" name="rect 21"/>
          <p:cNvSpPr/>
          <p:nvPr/>
        </p:nvSpPr>
        <p:spPr>
          <a:xfrm>
            <a:off x="10104120" y="2148840"/>
            <a:ext cx="114300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2" name="rect 22"/>
          <p:cNvSpPr/>
          <p:nvPr/>
        </p:nvSpPr>
        <p:spPr>
          <a:xfrm>
            <a:off x="10104120" y="214884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3" name="node text 23"/>
          <p:cNvSpPr txBox="1"/>
          <p:nvPr/>
        </p:nvSpPr>
        <p:spPr>
          <a:xfrm>
            <a:off x="10177272" y="2148840"/>
            <a:ext cx="10698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输出 y</a:t>
            </a:r>
            <a:endParaRPr lang="zh-CN" sz="1100"/>
          </a:p>
        </p:txBody>
      </p:sp>
      <p:cxnSp>
        <p:nvCxnSpPr>
          <p:cNvPr id="24" name="arrow 24"/>
          <p:cNvCxnSpPr/>
          <p:nvPr/>
        </p:nvCxnSpPr>
        <p:spPr>
          <a:xfrm>
            <a:off x="2560320" y="2491740"/>
            <a:ext cx="640080" cy="1"/>
          </a:xfrm>
          <a:prstGeom prst="line">
            <a:avLst/>
          </a:prstGeom>
          <a:ln w="17000">
            <a:solidFill>
              <a:srgbClr val="D77757"/>
            </a:solidFill>
            <a:headEnd type="triangle"/>
          </a:ln>
        </p:spPr>
      </p:cxnSp>
      <p:cxnSp>
        <p:nvCxnSpPr>
          <p:cNvPr id="25" name="arrow 25"/>
          <p:cNvCxnSpPr/>
          <p:nvPr/>
        </p:nvCxnSpPr>
        <p:spPr>
          <a:xfrm>
            <a:off x="4937760" y="2491740"/>
            <a:ext cx="640079" cy="1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cxnSp>
        <p:nvCxnSpPr>
          <p:cNvPr id="26" name="arrow 26"/>
          <p:cNvCxnSpPr/>
          <p:nvPr/>
        </p:nvCxnSpPr>
        <p:spPr>
          <a:xfrm>
            <a:off x="7360919" y="2491740"/>
            <a:ext cx="640080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cxnSp>
        <p:nvCxnSpPr>
          <p:cNvPr id="27" name="arrow 27"/>
          <p:cNvCxnSpPr/>
          <p:nvPr/>
        </p:nvCxnSpPr>
        <p:spPr>
          <a:xfrm>
            <a:off x="9784080" y="2491740"/>
            <a:ext cx="320040" cy="1"/>
          </a:xfrm>
          <a:prstGeom prst="line">
            <a:avLst/>
          </a:prstGeom>
          <a:ln w="17000">
            <a:solidFill>
              <a:srgbClr val="A84F35"/>
            </a:solidFill>
            <a:headEnd type="triangle"/>
          </a:ln>
        </p:spPr>
      </p:cxnSp>
      <p:sp>
        <p:nvSpPr>
          <p:cNvPr id="28" name="rect 28"/>
          <p:cNvSpPr/>
          <p:nvPr/>
        </p:nvSpPr>
        <p:spPr>
          <a:xfrm>
            <a:off x="1143000" y="3886200"/>
            <a:ext cx="4343400" cy="128016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29" name="rect 29"/>
          <p:cNvSpPr/>
          <p:nvPr/>
        </p:nvSpPr>
        <p:spPr>
          <a:xfrm>
            <a:off x="1143000" y="3886200"/>
            <a:ext cx="73152" cy="12801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0" name="card 30"/>
          <p:cNvSpPr txBox="1"/>
          <p:nvPr/>
        </p:nvSpPr>
        <p:spPr>
          <a:xfrm>
            <a:off x="1243584" y="3886200"/>
            <a:ext cx="4224528" cy="128016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原文直觉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像从图书馆找几本相关书，助手基于同一本书生成整个回答。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生成后比较多个文档对应的回答，再给出最终答案。</a:t>
            </a:r>
            <a:endParaRPr lang="zh-CN" sz="1100"/>
          </a:p>
        </p:txBody>
      </p:sp>
      <p:sp>
        <p:nvSpPr>
          <p:cNvPr id="31" name="rect 31"/>
          <p:cNvSpPr/>
          <p:nvPr/>
        </p:nvSpPr>
        <p:spPr>
          <a:xfrm>
            <a:off x="6355080" y="3886200"/>
            <a:ext cx="4343400" cy="12801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32" name="rect 32"/>
          <p:cNvSpPr/>
          <p:nvPr/>
        </p:nvSpPr>
        <p:spPr>
          <a:xfrm>
            <a:off x="6355080" y="3886200"/>
            <a:ext cx="73152" cy="12801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3" name="card 33"/>
          <p:cNvSpPr txBox="1"/>
          <p:nvPr/>
        </p:nvSpPr>
        <p:spPr>
          <a:xfrm>
            <a:off x="6455664" y="3886200"/>
            <a:ext cx="4224528" cy="128016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关键区别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RAG-Sequence 在整个生成过程中使用同一个检索文档。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边缘化发生在整段序列层面。</a:t>
            </a:r>
            <a:endParaRPr lang="zh-CN" sz="1100"/>
          </a:p>
        </p:txBody>
      </p:sp>
      <p:sp>
        <p:nvSpPr>
          <p:cNvPr id="34" name="text 34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事实依据：CSDN《RAG原始论文-针对知识密集型NLP任务的检索增强生成》｜对应章节：五、方法 5.1 模型：RAG-Sequence Model</a:t>
            </a:r>
            <a:endParaRPr lang="zh-CN"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4. RAG-Token：每个 token 可使用不同文档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模型二</a:t>
            </a:r>
            <a:endParaRPr lang="zh-CN" sz="1000"/>
          </a:p>
        </p:txBody>
      </p:sp>
      <p:sp>
        <p:nvSpPr>
          <p:cNvPr id="8" name="text 8"/>
          <p:cNvSpPr txBox="1"/>
          <p:nvPr/>
        </p:nvSpPr>
        <p:spPr>
          <a:xfrm>
            <a:off x="868680" y="1005840"/>
            <a:ext cx="10469880" cy="548640"/>
          </a:xfrm>
          <a:prstGeom prst="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19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p_RAG-Token(y|x) ≈ Π_i Σ_z pη(z|x) · pθ(y_i|x,z,y_&lt;i)</a:t>
            </a:r>
            <a:endParaRPr lang="zh-CN" sz="1900"/>
          </a:p>
        </p:txBody>
      </p:sp>
      <p:sp>
        <p:nvSpPr>
          <p:cNvPr id="9" name="rect 9"/>
          <p:cNvSpPr/>
          <p:nvPr/>
        </p:nvSpPr>
        <p:spPr>
          <a:xfrm>
            <a:off x="914400" y="2148840"/>
            <a:ext cx="155448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0" name="rect 10"/>
          <p:cNvSpPr/>
          <p:nvPr/>
        </p:nvSpPr>
        <p:spPr>
          <a:xfrm>
            <a:off x="914400" y="2148840"/>
            <a:ext cx="73152" cy="65836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1" name="node text 11"/>
          <p:cNvSpPr txBox="1"/>
          <p:nvPr/>
        </p:nvSpPr>
        <p:spPr>
          <a:xfrm>
            <a:off x="987552" y="2148840"/>
            <a:ext cx="148132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查询 x</a:t>
            </a:r>
            <a:endParaRPr lang="zh-CN" sz="1300"/>
          </a:p>
        </p:txBody>
      </p:sp>
      <p:cxnSp>
        <p:nvCxnSpPr>
          <p:cNvPr id="12" name="arrow 12"/>
          <p:cNvCxnSpPr/>
          <p:nvPr/>
        </p:nvCxnSpPr>
        <p:spPr>
          <a:xfrm>
            <a:off x="2468880" y="2487168"/>
            <a:ext cx="594359" cy="1"/>
          </a:xfrm>
          <a:prstGeom prst="line">
            <a:avLst/>
          </a:prstGeom>
          <a:ln w="17000">
            <a:solidFill>
              <a:srgbClr val="D77757"/>
            </a:solidFill>
            <a:headEnd type="triangle"/>
          </a:ln>
        </p:spPr>
      </p:cxnSp>
      <p:sp>
        <p:nvSpPr>
          <p:cNvPr id="13" name="rect 13"/>
          <p:cNvSpPr/>
          <p:nvPr/>
        </p:nvSpPr>
        <p:spPr>
          <a:xfrm>
            <a:off x="3063240" y="2148840"/>
            <a:ext cx="1737360" cy="658368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4" name="rect 14"/>
          <p:cNvSpPr/>
          <p:nvPr/>
        </p:nvSpPr>
        <p:spPr>
          <a:xfrm>
            <a:off x="3063240" y="2148840"/>
            <a:ext cx="73152" cy="65836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5" name="node text 15"/>
          <p:cNvSpPr txBox="1"/>
          <p:nvPr/>
        </p:nvSpPr>
        <p:spPr>
          <a:xfrm>
            <a:off x="3136392" y="2148840"/>
            <a:ext cx="1664207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检索 top-K</a:t>
            </a:r>
            <a:endParaRPr lang="zh-CN" sz="10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文档集合</a:t>
            </a:r>
            <a:endParaRPr lang="zh-CN" sz="1300"/>
          </a:p>
        </p:txBody>
      </p:sp>
      <p:sp>
        <p:nvSpPr>
          <p:cNvPr id="16" name="rect 16"/>
          <p:cNvSpPr/>
          <p:nvPr/>
        </p:nvSpPr>
        <p:spPr>
          <a:xfrm>
            <a:off x="5486400" y="1600200"/>
            <a:ext cx="1508760" cy="5943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7" name="rect 17"/>
          <p:cNvSpPr/>
          <p:nvPr/>
        </p:nvSpPr>
        <p:spPr>
          <a:xfrm>
            <a:off x="5486400" y="1600200"/>
            <a:ext cx="73152" cy="5943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8" name="node text 18"/>
          <p:cNvSpPr txBox="1"/>
          <p:nvPr/>
        </p:nvSpPr>
        <p:spPr>
          <a:xfrm>
            <a:off x="5559552" y="1600200"/>
            <a:ext cx="1435607" cy="5943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生成 y1</a:t>
            </a:r>
            <a:endParaRPr lang="zh-CN" sz="1000"/>
          </a:p>
          <a:p>
            <a:pPr algn="ctr"/>
            <a:r>
              <a:rPr lang="zh-CN" sz="10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综合文档分布</a:t>
            </a:r>
            <a:endParaRPr lang="zh-CN" sz="1000"/>
          </a:p>
        </p:txBody>
      </p:sp>
      <p:sp>
        <p:nvSpPr>
          <p:cNvPr id="19" name="rect 19"/>
          <p:cNvSpPr/>
          <p:nvPr/>
        </p:nvSpPr>
        <p:spPr>
          <a:xfrm>
            <a:off x="7360920" y="1600200"/>
            <a:ext cx="1508760" cy="5943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0" name="rect 20"/>
          <p:cNvSpPr/>
          <p:nvPr/>
        </p:nvSpPr>
        <p:spPr>
          <a:xfrm>
            <a:off x="7360920" y="1600200"/>
            <a:ext cx="73152" cy="5943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1" name="node text 21"/>
          <p:cNvSpPr txBox="1"/>
          <p:nvPr/>
        </p:nvSpPr>
        <p:spPr>
          <a:xfrm>
            <a:off x="7434072" y="1600200"/>
            <a:ext cx="1435607" cy="5943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生成 y2</a:t>
            </a:r>
            <a:endParaRPr lang="zh-CN" sz="1000"/>
          </a:p>
          <a:p>
            <a:pPr algn="ctr"/>
            <a:r>
              <a:rPr lang="zh-CN" sz="10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综合文档分布</a:t>
            </a:r>
            <a:endParaRPr lang="zh-CN" sz="1000"/>
          </a:p>
        </p:txBody>
      </p:sp>
      <p:sp>
        <p:nvSpPr>
          <p:cNvPr id="22" name="rect 22"/>
          <p:cNvSpPr/>
          <p:nvPr/>
        </p:nvSpPr>
        <p:spPr>
          <a:xfrm>
            <a:off x="9235440" y="1600200"/>
            <a:ext cx="1508760" cy="5943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3" name="rect 23"/>
          <p:cNvSpPr/>
          <p:nvPr/>
        </p:nvSpPr>
        <p:spPr>
          <a:xfrm>
            <a:off x="9235440" y="1600200"/>
            <a:ext cx="73152" cy="5943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4" name="node text 24"/>
          <p:cNvSpPr txBox="1"/>
          <p:nvPr/>
        </p:nvSpPr>
        <p:spPr>
          <a:xfrm>
            <a:off x="9308592" y="1600200"/>
            <a:ext cx="1435607" cy="5943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生成 y3</a:t>
            </a:r>
            <a:endParaRPr lang="zh-CN" sz="1000"/>
          </a:p>
          <a:p>
            <a:pPr algn="ctr"/>
            <a:r>
              <a:rPr lang="zh-CN" sz="10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综合文档分布</a:t>
            </a:r>
            <a:endParaRPr lang="zh-CN" sz="1000"/>
          </a:p>
        </p:txBody>
      </p:sp>
      <p:cxnSp>
        <p:nvCxnSpPr>
          <p:cNvPr id="25" name="arrow 25"/>
          <p:cNvCxnSpPr/>
          <p:nvPr/>
        </p:nvCxnSpPr>
        <p:spPr>
          <a:xfrm flipV="1">
            <a:off x="4800600" y="1901952"/>
            <a:ext cx="685800" cy="585216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cxnSp>
        <p:nvCxnSpPr>
          <p:cNvPr id="26" name="arrow 26"/>
          <p:cNvCxnSpPr/>
          <p:nvPr/>
        </p:nvCxnSpPr>
        <p:spPr>
          <a:xfrm flipV="1">
            <a:off x="4800600" y="1901952"/>
            <a:ext cx="2560320" cy="585216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cxnSp>
        <p:nvCxnSpPr>
          <p:cNvPr id="27" name="arrow 27"/>
          <p:cNvCxnSpPr/>
          <p:nvPr/>
        </p:nvCxnSpPr>
        <p:spPr>
          <a:xfrm flipV="1">
            <a:off x="4800600" y="1901952"/>
            <a:ext cx="4434840" cy="585216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cxnSp>
        <p:nvCxnSpPr>
          <p:cNvPr id="28" name="arrow 28"/>
          <p:cNvCxnSpPr/>
          <p:nvPr/>
        </p:nvCxnSpPr>
        <p:spPr>
          <a:xfrm>
            <a:off x="6995160" y="1901952"/>
            <a:ext cx="365760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cxnSp>
        <p:nvCxnSpPr>
          <p:cNvPr id="29" name="arrow 29"/>
          <p:cNvCxnSpPr/>
          <p:nvPr/>
        </p:nvCxnSpPr>
        <p:spPr>
          <a:xfrm>
            <a:off x="8869680" y="1901952"/>
            <a:ext cx="365760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sp>
        <p:nvSpPr>
          <p:cNvPr id="30" name="rect 30"/>
          <p:cNvSpPr/>
          <p:nvPr/>
        </p:nvSpPr>
        <p:spPr>
          <a:xfrm>
            <a:off x="7360920" y="3154680"/>
            <a:ext cx="1508760" cy="5943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1" name="rect 31"/>
          <p:cNvSpPr/>
          <p:nvPr/>
        </p:nvSpPr>
        <p:spPr>
          <a:xfrm>
            <a:off x="7360920" y="3154680"/>
            <a:ext cx="73152" cy="59436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32" name="node text 32"/>
          <p:cNvSpPr txBox="1"/>
          <p:nvPr/>
        </p:nvSpPr>
        <p:spPr>
          <a:xfrm>
            <a:off x="7434072" y="3154680"/>
            <a:ext cx="1435607" cy="59436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组合成完整答案 y</a:t>
            </a:r>
            <a:endParaRPr lang="zh-CN" sz="1100"/>
          </a:p>
        </p:txBody>
      </p:sp>
      <p:cxnSp>
        <p:nvCxnSpPr>
          <p:cNvPr id="33" name="arrow 33"/>
          <p:cNvCxnSpPr/>
          <p:nvPr/>
        </p:nvCxnSpPr>
        <p:spPr>
          <a:xfrm>
            <a:off x="8110727" y="2194560"/>
            <a:ext cx="1" cy="960120"/>
          </a:xfrm>
          <a:prstGeom prst="line">
            <a:avLst/>
          </a:prstGeom>
          <a:ln w="17000">
            <a:solidFill>
              <a:srgbClr val="A84F35"/>
            </a:solidFill>
            <a:headEnd type="triangle"/>
          </a:ln>
        </p:spPr>
      </p:cxnSp>
      <p:sp>
        <p:nvSpPr>
          <p:cNvPr id="34" name="rect 34"/>
          <p:cNvSpPr/>
          <p:nvPr/>
        </p:nvSpPr>
        <p:spPr>
          <a:xfrm>
            <a:off x="1097280" y="4297680"/>
            <a:ext cx="4572000" cy="96012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5" name="rect 35"/>
          <p:cNvSpPr/>
          <p:nvPr/>
        </p:nvSpPr>
        <p:spPr>
          <a:xfrm>
            <a:off x="1097280" y="4297680"/>
            <a:ext cx="73152" cy="96012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6" name="card 36"/>
          <p:cNvSpPr txBox="1"/>
          <p:nvPr/>
        </p:nvSpPr>
        <p:spPr>
          <a:xfrm>
            <a:off x="1197864" y="4297680"/>
            <a:ext cx="4453128" cy="96012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原文直觉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助手不只用一本书，每生成一个词时都可以从不同书中获取信息。</a:t>
            </a:r>
            <a:endParaRPr lang="zh-CN" sz="1100"/>
          </a:p>
        </p:txBody>
      </p:sp>
      <p:sp>
        <p:nvSpPr>
          <p:cNvPr id="37" name="rect 37"/>
          <p:cNvSpPr/>
          <p:nvPr/>
        </p:nvSpPr>
        <p:spPr>
          <a:xfrm>
            <a:off x="6400800" y="4297680"/>
            <a:ext cx="3794760" cy="96012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38" name="rect 38"/>
          <p:cNvSpPr/>
          <p:nvPr/>
        </p:nvSpPr>
        <p:spPr>
          <a:xfrm>
            <a:off x="6400800" y="4297680"/>
            <a:ext cx="73152" cy="9601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9" name="card 39"/>
          <p:cNvSpPr txBox="1"/>
          <p:nvPr/>
        </p:nvSpPr>
        <p:spPr>
          <a:xfrm>
            <a:off x="6501384" y="4297680"/>
            <a:ext cx="3675888" cy="96012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适用理解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适合需要从多个来源获取答案的复杂问题，更灵活。</a:t>
            </a:r>
            <a:endParaRPr lang="zh-CN" sz="1100"/>
          </a:p>
        </p:txBody>
      </p:sp>
      <p:sp>
        <p:nvSpPr>
          <p:cNvPr id="40" name="text 40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事实依据：CSDN《RAG原始论文-针对知识密集型NLP任务的检索增强生成》｜对应章节：五、方法 5.1 模型：RAG-Token Model</a:t>
            </a:r>
            <a:endParaRPr lang="zh-CN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5. DPR 检索器：查询与文档如何匹配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DPR</a:t>
            </a:r>
            <a:endParaRPr lang="zh-CN" sz="1000"/>
          </a:p>
        </p:txBody>
      </p:sp>
      <p:sp>
        <p:nvSpPr>
          <p:cNvPr id="8" name="text 8"/>
          <p:cNvSpPr txBox="1"/>
          <p:nvPr/>
        </p:nvSpPr>
        <p:spPr>
          <a:xfrm>
            <a:off x="960120" y="1024128"/>
            <a:ext cx="10241280" cy="502920"/>
          </a:xfrm>
          <a:prstGeom prst="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23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pη(z|x) ∝ exp(d(z)^T q(x))</a:t>
            </a:r>
            <a:endParaRPr lang="zh-CN" sz="2300"/>
          </a:p>
        </p:txBody>
      </p:sp>
      <p:sp>
        <p:nvSpPr>
          <p:cNvPr id="9" name="rect 9"/>
          <p:cNvSpPr/>
          <p:nvPr/>
        </p:nvSpPr>
        <p:spPr>
          <a:xfrm>
            <a:off x="1051560" y="2148840"/>
            <a:ext cx="182880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0" name="rect 10"/>
          <p:cNvSpPr/>
          <p:nvPr/>
        </p:nvSpPr>
        <p:spPr>
          <a:xfrm>
            <a:off x="1051560" y="2148840"/>
            <a:ext cx="73152" cy="65836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1" name="node text 11"/>
          <p:cNvSpPr txBox="1"/>
          <p:nvPr/>
        </p:nvSpPr>
        <p:spPr>
          <a:xfrm>
            <a:off x="1124712" y="21488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问题 x</a:t>
            </a:r>
            <a:endParaRPr lang="zh-CN" sz="1300"/>
          </a:p>
        </p:txBody>
      </p:sp>
      <p:cxnSp>
        <p:nvCxnSpPr>
          <p:cNvPr id="12" name="arrow 12"/>
          <p:cNvCxnSpPr/>
          <p:nvPr/>
        </p:nvCxnSpPr>
        <p:spPr>
          <a:xfrm>
            <a:off x="2880360" y="2487168"/>
            <a:ext cx="640080" cy="1"/>
          </a:xfrm>
          <a:prstGeom prst="line">
            <a:avLst/>
          </a:prstGeom>
          <a:ln w="17000">
            <a:solidFill>
              <a:srgbClr val="D77757"/>
            </a:solidFill>
            <a:headEnd type="triangle"/>
          </a:ln>
        </p:spPr>
      </p:cxnSp>
      <p:sp>
        <p:nvSpPr>
          <p:cNvPr id="13" name="rect 13"/>
          <p:cNvSpPr/>
          <p:nvPr/>
        </p:nvSpPr>
        <p:spPr>
          <a:xfrm>
            <a:off x="3520440" y="2148840"/>
            <a:ext cx="1828800" cy="658368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4" name="rect 14"/>
          <p:cNvSpPr/>
          <p:nvPr/>
        </p:nvSpPr>
        <p:spPr>
          <a:xfrm>
            <a:off x="3520440" y="2148840"/>
            <a:ext cx="73152" cy="65836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5" name="node text 15"/>
          <p:cNvSpPr txBox="1"/>
          <p:nvPr/>
        </p:nvSpPr>
        <p:spPr>
          <a:xfrm>
            <a:off x="3593592" y="21488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查询编码器</a:t>
            </a:r>
            <a:endParaRPr lang="zh-CN" sz="1100"/>
          </a:p>
          <a:p>
            <a:pPr algn="ctr"/>
            <a:r>
              <a:rPr lang="zh-CN" sz="8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生成 q(x)</a:t>
            </a:r>
            <a:endParaRPr lang="zh-CN" sz="800"/>
          </a:p>
        </p:txBody>
      </p:sp>
      <p:sp>
        <p:nvSpPr>
          <p:cNvPr id="16" name="rect 16"/>
          <p:cNvSpPr/>
          <p:nvPr/>
        </p:nvSpPr>
        <p:spPr>
          <a:xfrm>
            <a:off x="1051560" y="3337560"/>
            <a:ext cx="182880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7" name="rect 17"/>
          <p:cNvSpPr/>
          <p:nvPr/>
        </p:nvSpPr>
        <p:spPr>
          <a:xfrm>
            <a:off x="1051560" y="3337560"/>
            <a:ext cx="73152" cy="65836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8" name="node text 18"/>
          <p:cNvSpPr txBox="1"/>
          <p:nvPr/>
        </p:nvSpPr>
        <p:spPr>
          <a:xfrm>
            <a:off x="1124712" y="333756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文档 z</a:t>
            </a:r>
            <a:endParaRPr lang="zh-CN" sz="1300"/>
          </a:p>
        </p:txBody>
      </p:sp>
      <p:cxnSp>
        <p:nvCxnSpPr>
          <p:cNvPr id="19" name="arrow 19"/>
          <p:cNvCxnSpPr/>
          <p:nvPr/>
        </p:nvCxnSpPr>
        <p:spPr>
          <a:xfrm>
            <a:off x="2880360" y="3675887"/>
            <a:ext cx="640080" cy="1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sp>
        <p:nvSpPr>
          <p:cNvPr id="20" name="rect 20"/>
          <p:cNvSpPr/>
          <p:nvPr/>
        </p:nvSpPr>
        <p:spPr>
          <a:xfrm>
            <a:off x="3520440" y="3337560"/>
            <a:ext cx="1828800" cy="658368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3520440" y="3337560"/>
            <a:ext cx="73152" cy="65836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3593592" y="333756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文档编码器</a:t>
            </a:r>
            <a:endParaRPr lang="zh-CN" sz="1100"/>
          </a:p>
          <a:p>
            <a:pPr algn="ctr"/>
            <a:r>
              <a:rPr lang="zh-CN" sz="8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生成 d(z)</a:t>
            </a:r>
            <a:endParaRPr lang="zh-CN" sz="800"/>
          </a:p>
        </p:txBody>
      </p:sp>
      <p:cxnSp>
        <p:nvCxnSpPr>
          <p:cNvPr id="23" name="arrow 23"/>
          <p:cNvCxnSpPr/>
          <p:nvPr/>
        </p:nvCxnSpPr>
        <p:spPr>
          <a:xfrm>
            <a:off x="5349240" y="2487168"/>
            <a:ext cx="914400" cy="512063"/>
          </a:xfrm>
          <a:prstGeom prst="line">
            <a:avLst/>
          </a:prstGeom>
          <a:ln w="17000">
            <a:solidFill>
              <a:srgbClr val="D77757"/>
            </a:solidFill>
            <a:headEnd type="triangle"/>
          </a:ln>
        </p:spPr>
      </p:cxnSp>
      <p:cxnSp>
        <p:nvCxnSpPr>
          <p:cNvPr id="24" name="arrow 24"/>
          <p:cNvCxnSpPr/>
          <p:nvPr/>
        </p:nvCxnSpPr>
        <p:spPr>
          <a:xfrm flipV="1">
            <a:off x="5349240" y="3200400"/>
            <a:ext cx="914400" cy="475487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sp>
        <p:nvSpPr>
          <p:cNvPr id="25" name="rect 25"/>
          <p:cNvSpPr/>
          <p:nvPr/>
        </p:nvSpPr>
        <p:spPr>
          <a:xfrm>
            <a:off x="6263640" y="2788920"/>
            <a:ext cx="173736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6" name="rect 26"/>
          <p:cNvSpPr/>
          <p:nvPr/>
        </p:nvSpPr>
        <p:spPr>
          <a:xfrm>
            <a:off x="6263640" y="2788920"/>
            <a:ext cx="73152" cy="65836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27" name="node text 27"/>
          <p:cNvSpPr txBox="1"/>
          <p:nvPr/>
        </p:nvSpPr>
        <p:spPr>
          <a:xfrm>
            <a:off x="6336792" y="2788920"/>
            <a:ext cx="1664207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向量点积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相关性得分</a:t>
            </a:r>
            <a:endParaRPr lang="zh-CN" sz="1100"/>
          </a:p>
        </p:txBody>
      </p:sp>
      <p:cxnSp>
        <p:nvCxnSpPr>
          <p:cNvPr id="28" name="arrow 28"/>
          <p:cNvCxnSpPr/>
          <p:nvPr/>
        </p:nvCxnSpPr>
        <p:spPr>
          <a:xfrm>
            <a:off x="8001000" y="3127248"/>
            <a:ext cx="594360" cy="1"/>
          </a:xfrm>
          <a:prstGeom prst="line">
            <a:avLst/>
          </a:prstGeom>
          <a:ln w="17000">
            <a:solidFill>
              <a:srgbClr val="A84F35"/>
            </a:solidFill>
            <a:headEnd type="triangle"/>
          </a:ln>
        </p:spPr>
      </p:cxnSp>
      <p:sp>
        <p:nvSpPr>
          <p:cNvPr id="29" name="rect 29"/>
          <p:cNvSpPr/>
          <p:nvPr/>
        </p:nvSpPr>
        <p:spPr>
          <a:xfrm>
            <a:off x="8595360" y="2788920"/>
            <a:ext cx="1600200" cy="658368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8595360" y="2788920"/>
            <a:ext cx="73152" cy="65836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1" name="node text 31"/>
          <p:cNvSpPr txBox="1"/>
          <p:nvPr/>
        </p:nvSpPr>
        <p:spPr>
          <a:xfrm>
            <a:off x="8668512" y="2788920"/>
            <a:ext cx="15270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MIPS</a:t>
            </a:r>
            <a:endParaRPr lang="zh-CN" sz="1100"/>
          </a:p>
          <a:p>
            <a:pPr algn="ctr"/>
            <a:r>
              <a:rPr lang="zh-CN" sz="8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快速 top-K</a:t>
            </a:r>
            <a:endParaRPr lang="zh-CN" sz="800"/>
          </a:p>
        </p:txBody>
      </p:sp>
      <p:cxnSp>
        <p:nvCxnSpPr>
          <p:cNvPr id="32" name="arrow 32"/>
          <p:cNvCxnSpPr/>
          <p:nvPr/>
        </p:nvCxnSpPr>
        <p:spPr>
          <a:xfrm>
            <a:off x="10195560" y="3127248"/>
            <a:ext cx="457200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sp>
        <p:nvSpPr>
          <p:cNvPr id="33" name="rect 33"/>
          <p:cNvSpPr/>
          <p:nvPr/>
        </p:nvSpPr>
        <p:spPr>
          <a:xfrm>
            <a:off x="10652760" y="2788920"/>
            <a:ext cx="77724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4" name="rect 34"/>
          <p:cNvSpPr/>
          <p:nvPr/>
        </p:nvSpPr>
        <p:spPr>
          <a:xfrm>
            <a:off x="10652760" y="2788920"/>
            <a:ext cx="73152" cy="65836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5" name="node text 35"/>
          <p:cNvSpPr txBox="1"/>
          <p:nvPr/>
        </p:nvSpPr>
        <p:spPr>
          <a:xfrm>
            <a:off x="10725912" y="2788920"/>
            <a:ext cx="70408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证据</a:t>
            </a:r>
            <a:endParaRPr lang="zh-CN" sz="1300"/>
          </a:p>
        </p:txBody>
      </p:sp>
      <p:sp>
        <p:nvSpPr>
          <p:cNvPr id="36" name="rect 36"/>
          <p:cNvSpPr/>
          <p:nvPr/>
        </p:nvSpPr>
        <p:spPr>
          <a:xfrm>
            <a:off x="1234440" y="4617720"/>
            <a:ext cx="9326880" cy="713232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37" name="rect 37"/>
          <p:cNvSpPr/>
          <p:nvPr/>
        </p:nvSpPr>
        <p:spPr>
          <a:xfrm>
            <a:off x="1234440" y="4617720"/>
            <a:ext cx="73152" cy="71323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8" name="card 38"/>
          <p:cNvSpPr txBox="1"/>
          <p:nvPr/>
        </p:nvSpPr>
        <p:spPr>
          <a:xfrm>
            <a:off x="1335024" y="4617720"/>
            <a:ext cx="9208007" cy="713232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原文要点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DPR 使用双编码器架构；MIPS 用于从大量文档中快速找到最相关的前 K 个文档；文档索引就是非参数化记忆。</a:t>
            </a:r>
            <a:endParaRPr lang="zh-CN" sz="1100"/>
          </a:p>
        </p:txBody>
      </p:sp>
      <p:sp>
        <p:nvSpPr>
          <p:cNvPr id="39" name="text 39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事实依据：CSDN《RAG原始论文-针对知识密集型NLP任务的检索增强生成》｜对应章节：五、方法 5.2 检索器：DPR</a:t>
            </a:r>
            <a:endParaRPr lang="zh-CN"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6. BART 生成器：把问题和证据写成答案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BART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1005840" y="2011680"/>
            <a:ext cx="160020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1005840" y="2011680"/>
            <a:ext cx="73152" cy="65836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1078992" y="2011680"/>
            <a:ext cx="15270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输入问题 x</a:t>
            </a:r>
            <a:endParaRPr lang="zh-CN" sz="1300"/>
          </a:p>
        </p:txBody>
      </p:sp>
      <p:sp>
        <p:nvSpPr>
          <p:cNvPr id="11" name="rect 11"/>
          <p:cNvSpPr/>
          <p:nvPr/>
        </p:nvSpPr>
        <p:spPr>
          <a:xfrm>
            <a:off x="1005840" y="3063240"/>
            <a:ext cx="1600200" cy="658368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1005840" y="3063240"/>
            <a:ext cx="73152" cy="65836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1078992" y="3063240"/>
            <a:ext cx="152704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检索文档 z</a:t>
            </a:r>
            <a:endParaRPr lang="zh-CN" sz="1300"/>
          </a:p>
        </p:txBody>
      </p:sp>
      <p:cxnSp>
        <p:nvCxnSpPr>
          <p:cNvPr id="14" name="arrow 14"/>
          <p:cNvCxnSpPr/>
          <p:nvPr/>
        </p:nvCxnSpPr>
        <p:spPr>
          <a:xfrm>
            <a:off x="2606040" y="2340864"/>
            <a:ext cx="1280160" cy="356616"/>
          </a:xfrm>
          <a:prstGeom prst="line">
            <a:avLst/>
          </a:prstGeom>
          <a:ln w="17000">
            <a:solidFill>
              <a:srgbClr val="D77757"/>
            </a:solidFill>
            <a:headEnd type="triangle"/>
          </a:ln>
        </p:spPr>
      </p:cxnSp>
      <p:cxnSp>
        <p:nvCxnSpPr>
          <p:cNvPr id="15" name="arrow 15"/>
          <p:cNvCxnSpPr/>
          <p:nvPr/>
        </p:nvCxnSpPr>
        <p:spPr>
          <a:xfrm flipV="1">
            <a:off x="2606040" y="2935224"/>
            <a:ext cx="1280160" cy="457200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sp>
        <p:nvSpPr>
          <p:cNvPr id="16" name="rect 16"/>
          <p:cNvSpPr/>
          <p:nvPr/>
        </p:nvSpPr>
        <p:spPr>
          <a:xfrm>
            <a:off x="3886200" y="2423160"/>
            <a:ext cx="1920240" cy="749808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7" name="rect 17"/>
          <p:cNvSpPr/>
          <p:nvPr/>
        </p:nvSpPr>
        <p:spPr>
          <a:xfrm>
            <a:off x="3886200" y="2423160"/>
            <a:ext cx="73152" cy="74980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8" name="node text 18"/>
          <p:cNvSpPr txBox="1"/>
          <p:nvPr/>
        </p:nvSpPr>
        <p:spPr>
          <a:xfrm>
            <a:off x="3959352" y="2423160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BART-large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seq2seq 生成器</a:t>
            </a:r>
            <a:endParaRPr lang="zh-CN" sz="1200"/>
          </a:p>
        </p:txBody>
      </p:sp>
      <p:cxnSp>
        <p:nvCxnSpPr>
          <p:cNvPr id="19" name="arrow 19"/>
          <p:cNvCxnSpPr/>
          <p:nvPr/>
        </p:nvCxnSpPr>
        <p:spPr>
          <a:xfrm>
            <a:off x="5806440" y="2798064"/>
            <a:ext cx="731520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sp>
        <p:nvSpPr>
          <p:cNvPr id="20" name="rect 20"/>
          <p:cNvSpPr/>
          <p:nvPr/>
        </p:nvSpPr>
        <p:spPr>
          <a:xfrm>
            <a:off x="6537960" y="2423160"/>
            <a:ext cx="1920240" cy="74980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6537960" y="2423160"/>
            <a:ext cx="73152" cy="74980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6611112" y="2423160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生成回答 y</a:t>
            </a:r>
            <a:endParaRPr lang="zh-CN" sz="1400"/>
          </a:p>
        </p:txBody>
      </p:sp>
      <p:cxnSp>
        <p:nvCxnSpPr>
          <p:cNvPr id="23" name="arrow 23"/>
          <p:cNvCxnSpPr/>
          <p:nvPr/>
        </p:nvCxnSpPr>
        <p:spPr>
          <a:xfrm>
            <a:off x="8458200" y="2798064"/>
            <a:ext cx="731520" cy="1"/>
          </a:xfrm>
          <a:prstGeom prst="line">
            <a:avLst/>
          </a:prstGeom>
          <a:ln w="17000">
            <a:solidFill>
              <a:srgbClr val="A84F35"/>
            </a:solidFill>
            <a:headEnd type="triangle"/>
          </a:ln>
        </p:spPr>
      </p:cxnSp>
      <p:sp>
        <p:nvSpPr>
          <p:cNvPr id="24" name="rect 24"/>
          <p:cNvSpPr/>
          <p:nvPr/>
        </p:nvSpPr>
        <p:spPr>
          <a:xfrm>
            <a:off x="9189720" y="2423160"/>
            <a:ext cx="1920240" cy="749808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25" name="rect 25"/>
          <p:cNvSpPr/>
          <p:nvPr/>
        </p:nvSpPr>
        <p:spPr>
          <a:xfrm>
            <a:off x="9189720" y="2423160"/>
            <a:ext cx="73152" cy="74980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6" name="node text 26"/>
          <p:cNvSpPr txBox="1"/>
          <p:nvPr/>
        </p:nvSpPr>
        <p:spPr>
          <a:xfrm>
            <a:off x="9262872" y="2423160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最终文本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更准确/更丰富</a:t>
            </a:r>
            <a:endParaRPr lang="zh-CN" sz="1200"/>
          </a:p>
        </p:txBody>
      </p:sp>
      <p:sp>
        <p:nvSpPr>
          <p:cNvPr id="27" name="rect 27"/>
          <p:cNvSpPr/>
          <p:nvPr/>
        </p:nvSpPr>
        <p:spPr>
          <a:xfrm>
            <a:off x="1143000" y="4389120"/>
            <a:ext cx="4389120" cy="9144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8" name="rect 28"/>
          <p:cNvSpPr/>
          <p:nvPr/>
        </p:nvSpPr>
        <p:spPr>
          <a:xfrm>
            <a:off x="1143000" y="4389120"/>
            <a:ext cx="73152" cy="9144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9" name="card 29"/>
          <p:cNvSpPr txBox="1"/>
          <p:nvPr/>
        </p:nvSpPr>
        <p:spPr>
          <a:xfrm>
            <a:off x="1243584" y="4389120"/>
            <a:ext cx="4270248" cy="9144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原文说明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BART 是 seq2seq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模型，预训练时使用去噪目标，可以从不完整信息中恢复完整答案。</a:t>
            </a:r>
            <a:endParaRPr lang="zh-CN" sz="1100"/>
          </a:p>
        </p:txBody>
      </p:sp>
      <p:sp>
        <p:nvSpPr>
          <p:cNvPr id="30" name="rect 30"/>
          <p:cNvSpPr/>
          <p:nvPr/>
        </p:nvSpPr>
        <p:spPr>
          <a:xfrm>
            <a:off x="6355080" y="4389120"/>
            <a:ext cx="4389120" cy="9144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1" name="rect 31"/>
          <p:cNvSpPr/>
          <p:nvPr/>
        </p:nvSpPr>
        <p:spPr>
          <a:xfrm>
            <a:off x="6355080" y="4389120"/>
            <a:ext cx="73152" cy="9144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2" name="card 32"/>
          <p:cNvSpPr txBox="1"/>
          <p:nvPr/>
        </p:nvSpPr>
        <p:spPr>
          <a:xfrm>
            <a:off x="6455664" y="4389120"/>
            <a:ext cx="4270248" cy="9144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记忆归类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BART 生成部分被称为参数化记忆，因为知识存储在模型参数中。</a:t>
            </a:r>
            <a:endParaRPr lang="zh-CN" sz="1100"/>
          </a:p>
        </p:txBody>
      </p:sp>
      <p:sp>
        <p:nvSpPr>
          <p:cNvPr id="33" name="text 33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事实依据：CSDN《RAG原始论文-针对知识密集型NLP任务的检索增强生成》｜对应章节：五、方法 5.3 生成器：BART</a:t>
            </a:r>
            <a:endParaRPr lang="zh-CN"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7. 训练流程：联合训练但固定文档编码器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训练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822960" y="1691640"/>
            <a:ext cx="160020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822960" y="169164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896112" y="1691640"/>
            <a:ext cx="15270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输入/输出对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(x,y)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2971800" y="1691640"/>
            <a:ext cx="178308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2971800" y="169164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3044952" y="1691640"/>
            <a:ext cx="17099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检索相关文档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无显式文档标注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5349240" y="1691640"/>
            <a:ext cx="178308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5349240" y="169164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5422392" y="1691640"/>
            <a:ext cx="17099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生成答案概率</a:t>
            </a:r>
            <a:endParaRPr lang="zh-CN" sz="1100"/>
          </a:p>
        </p:txBody>
      </p:sp>
      <p:sp>
        <p:nvSpPr>
          <p:cNvPr id="17" name="rect 17"/>
          <p:cNvSpPr/>
          <p:nvPr/>
        </p:nvSpPr>
        <p:spPr>
          <a:xfrm>
            <a:off x="7726679" y="1691640"/>
            <a:ext cx="178308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7726679" y="1691640"/>
            <a:ext cx="73152" cy="685800"/>
          </a:xfrm>
          <a:prstGeom prst="rect">
            <a:avLst/>
          </a:prstGeom>
          <a:solidFill>
            <a:srgbClr val="B85C5C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7799831" y="1691640"/>
            <a:ext cx="170992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负对数似然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NLL</a:t>
            </a:r>
            <a:endParaRPr lang="zh-CN" sz="1100"/>
          </a:p>
        </p:txBody>
      </p:sp>
      <p:sp>
        <p:nvSpPr>
          <p:cNvPr id="20" name="rect 20"/>
          <p:cNvSpPr/>
          <p:nvPr/>
        </p:nvSpPr>
        <p:spPr>
          <a:xfrm>
            <a:off x="10012680" y="1691640"/>
            <a:ext cx="123444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10012680" y="1691640"/>
            <a:ext cx="73152" cy="6858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10085832" y="1691640"/>
            <a:ext cx="116128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Adam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优化</a:t>
            </a:r>
            <a:endParaRPr lang="zh-CN" sz="1100"/>
          </a:p>
        </p:txBody>
      </p:sp>
      <p:cxnSp>
        <p:nvCxnSpPr>
          <p:cNvPr id="23" name="arrow 23"/>
          <p:cNvCxnSpPr/>
          <p:nvPr/>
        </p:nvCxnSpPr>
        <p:spPr>
          <a:xfrm>
            <a:off x="2423160" y="2034540"/>
            <a:ext cx="548640" cy="1"/>
          </a:xfrm>
          <a:prstGeom prst="line">
            <a:avLst/>
          </a:prstGeom>
          <a:ln w="17000">
            <a:solidFill>
              <a:srgbClr val="D77757"/>
            </a:solidFill>
            <a:headEnd type="triangle"/>
          </a:ln>
        </p:spPr>
      </p:cxnSp>
      <p:cxnSp>
        <p:nvCxnSpPr>
          <p:cNvPr id="24" name="arrow 24"/>
          <p:cNvCxnSpPr/>
          <p:nvPr/>
        </p:nvCxnSpPr>
        <p:spPr>
          <a:xfrm>
            <a:off x="4754880" y="2034540"/>
            <a:ext cx="594359" cy="1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cxnSp>
        <p:nvCxnSpPr>
          <p:cNvPr id="25" name="arrow 25"/>
          <p:cNvCxnSpPr/>
          <p:nvPr/>
        </p:nvCxnSpPr>
        <p:spPr>
          <a:xfrm>
            <a:off x="7132320" y="2034540"/>
            <a:ext cx="594359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cxnSp>
        <p:nvCxnSpPr>
          <p:cNvPr id="26" name="arrow 26"/>
          <p:cNvCxnSpPr/>
          <p:nvPr/>
        </p:nvCxnSpPr>
        <p:spPr>
          <a:xfrm>
            <a:off x="9509759" y="2034540"/>
            <a:ext cx="502920" cy="1"/>
          </a:xfrm>
          <a:prstGeom prst="line">
            <a:avLst/>
          </a:prstGeom>
          <a:ln w="17000">
            <a:solidFill>
              <a:srgbClr val="B85C5C"/>
            </a:solidFill>
            <a:headEnd type="triangle"/>
          </a:ln>
        </p:spPr>
      </p:cxnSp>
      <p:sp>
        <p:nvSpPr>
          <p:cNvPr id="27" name="rect 27"/>
          <p:cNvSpPr/>
          <p:nvPr/>
        </p:nvSpPr>
        <p:spPr>
          <a:xfrm>
            <a:off x="2057400" y="3520440"/>
            <a:ext cx="233172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28" name="rect 28"/>
          <p:cNvSpPr/>
          <p:nvPr/>
        </p:nvSpPr>
        <p:spPr>
          <a:xfrm>
            <a:off x="2057400" y="352044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9" name="node text 29"/>
          <p:cNvSpPr txBox="1"/>
          <p:nvPr/>
        </p:nvSpPr>
        <p:spPr>
          <a:xfrm>
            <a:off x="2130552" y="3520440"/>
            <a:ext cx="225856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更新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查询编码器 BERT_q</a:t>
            </a:r>
            <a:endParaRPr lang="zh-CN" sz="1100"/>
          </a:p>
        </p:txBody>
      </p:sp>
      <p:sp>
        <p:nvSpPr>
          <p:cNvPr id="30" name="rect 30"/>
          <p:cNvSpPr/>
          <p:nvPr/>
        </p:nvSpPr>
        <p:spPr>
          <a:xfrm>
            <a:off x="4937760" y="3520440"/>
            <a:ext cx="233172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1" name="rect 31"/>
          <p:cNvSpPr/>
          <p:nvPr/>
        </p:nvSpPr>
        <p:spPr>
          <a:xfrm>
            <a:off x="4937760" y="352044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2" name="node text 32"/>
          <p:cNvSpPr txBox="1"/>
          <p:nvPr/>
        </p:nvSpPr>
        <p:spPr>
          <a:xfrm>
            <a:off x="5010912" y="3520440"/>
            <a:ext cx="225856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更新</a:t>
            </a:r>
            <a:endParaRPr lang="zh-CN" sz="1200"/>
          </a:p>
          <a:p>
            <a:pPr algn="ctr"/>
            <a:r>
              <a:rPr lang="zh-CN" sz="12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BART 生成器</a:t>
            </a:r>
            <a:endParaRPr lang="zh-CN" sz="1200"/>
          </a:p>
        </p:txBody>
      </p:sp>
      <p:sp>
        <p:nvSpPr>
          <p:cNvPr id="33" name="rect 33"/>
          <p:cNvSpPr/>
          <p:nvPr/>
        </p:nvSpPr>
        <p:spPr>
          <a:xfrm>
            <a:off x="7818120" y="3520440"/>
            <a:ext cx="233172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34" name="rect 34"/>
          <p:cNvSpPr/>
          <p:nvPr/>
        </p:nvSpPr>
        <p:spPr>
          <a:xfrm>
            <a:off x="7818120" y="3520440"/>
            <a:ext cx="73152" cy="68580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35" name="node text 35"/>
          <p:cNvSpPr txBox="1"/>
          <p:nvPr/>
        </p:nvSpPr>
        <p:spPr>
          <a:xfrm>
            <a:off x="7891272" y="3520440"/>
            <a:ext cx="225856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固定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文档编码器 BERT_d</a:t>
            </a:r>
            <a:endParaRPr lang="zh-CN" sz="1100"/>
          </a:p>
        </p:txBody>
      </p:sp>
      <p:cxnSp>
        <p:nvCxnSpPr>
          <p:cNvPr id="36" name="arrow 36"/>
          <p:cNvCxnSpPr/>
          <p:nvPr/>
        </p:nvCxnSpPr>
        <p:spPr>
          <a:xfrm flipH="1">
            <a:off x="3218688" y="2377440"/>
            <a:ext cx="7406640" cy="1143000"/>
          </a:xfrm>
          <a:prstGeom prst="line">
            <a:avLst/>
          </a:prstGeom>
          <a:ln w="11000">
            <a:solidFill>
              <a:srgbClr val="D77757"/>
            </a:solidFill>
            <a:headEnd type="triangle"/>
          </a:ln>
        </p:spPr>
      </p:cxnSp>
      <p:cxnSp>
        <p:nvCxnSpPr>
          <p:cNvPr id="37" name="arrow 37"/>
          <p:cNvCxnSpPr/>
          <p:nvPr/>
        </p:nvCxnSpPr>
        <p:spPr>
          <a:xfrm flipH="1">
            <a:off x="6108192" y="2377440"/>
            <a:ext cx="4517136" cy="1143000"/>
          </a:xfrm>
          <a:prstGeom prst="line">
            <a:avLst/>
          </a:prstGeom>
          <a:ln w="11000">
            <a:solidFill>
              <a:srgbClr val="4E8F6F"/>
            </a:solidFill>
            <a:headEnd type="triangle"/>
          </a:ln>
        </p:spPr>
      </p:cxnSp>
      <p:cxnSp>
        <p:nvCxnSpPr>
          <p:cNvPr id="38" name="arrow 38"/>
          <p:cNvCxnSpPr/>
          <p:nvPr/>
        </p:nvCxnSpPr>
        <p:spPr>
          <a:xfrm flipV="1">
            <a:off x="8979408" y="3017520"/>
            <a:ext cx="1" cy="502920"/>
          </a:xfrm>
          <a:prstGeom prst="line">
            <a:avLst/>
          </a:prstGeom>
          <a:ln w="11000">
            <a:solidFill>
              <a:srgbClr val="6F6761"/>
            </a:solidFill>
          </a:ln>
        </p:spPr>
      </p:cxnSp>
      <p:sp>
        <p:nvSpPr>
          <p:cNvPr id="39" name="rect 39"/>
          <p:cNvSpPr/>
          <p:nvPr/>
        </p:nvSpPr>
        <p:spPr>
          <a:xfrm>
            <a:off x="1143000" y="4800600"/>
            <a:ext cx="9601200" cy="64008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40" name="rect 40"/>
          <p:cNvSpPr/>
          <p:nvPr/>
        </p:nvSpPr>
        <p:spPr>
          <a:xfrm>
            <a:off x="1143000" y="4800600"/>
            <a:ext cx="73152" cy="64008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41" name="card 41"/>
          <p:cNvSpPr txBox="1"/>
          <p:nvPr/>
        </p:nvSpPr>
        <p:spPr>
          <a:xfrm>
            <a:off x="1243584" y="4800600"/>
            <a:ext cx="9482328" cy="64008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原文强调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训练会联合优化 Retriever 和 Generator；但 BERT_d 很难频繁更新，因此保持不变，主要微调 BERT_q 和 BART。</a:t>
            </a:r>
            <a:endParaRPr lang="zh-CN" sz="1100"/>
          </a:p>
        </p:txBody>
      </p:sp>
      <p:sp>
        <p:nvSpPr>
          <p:cNvPr id="42" name="text 42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事实依据：CSDN《RAG原始论文-针对知识密集型NLP任务的检索增强生成》｜对应章节：五、方法 5.4 训练</a:t>
            </a:r>
            <a:endParaRPr lang="zh-CN"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8. 解码流程：Token 与 Sequence 的不同复杂度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推理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914400" y="1234440"/>
            <a:ext cx="4663440" cy="420624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914400" y="1234440"/>
            <a:ext cx="73152" cy="420624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1014984" y="1234440"/>
            <a:ext cx="4544568" cy="420624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RAG-Token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可视作标准自回归 seq2seq 生成器。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每一步 token 概率都是 top-K 文档概率的加权和。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解码时可插入标准束搜索。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6629400" y="1234440"/>
            <a:ext cx="4663440" cy="420624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6629400" y="1234440"/>
            <a:ext cx="73152" cy="420624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6729984" y="1234440"/>
            <a:ext cx="4544568" cy="420624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RAG-Sequence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整段序列概率不能用单一束搜索直接求解。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需要对每个文档运行束搜索，得到候选集合后再按文档概率打分。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彻底解码更完整但慢；快速解码用近似减少额外前向传播。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5257800" y="4617720"/>
            <a:ext cx="1691640" cy="47548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5257800" y="4617720"/>
            <a:ext cx="73152" cy="47548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5330952" y="4617720"/>
            <a:ext cx="1618488" cy="47548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对比重点</a:t>
            </a:r>
            <a:endParaRPr lang="zh-CN" sz="1000"/>
          </a:p>
          <a:p>
            <a:pPr algn="ctr"/>
            <a:r>
              <a:rPr lang="zh-CN" sz="10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逐 token vs</a:t>
            </a:r>
            <a:endParaRPr lang="zh-CN" sz="1000"/>
          </a:p>
          <a:p>
            <a:pPr algn="ctr"/>
            <a:r>
              <a:rPr lang="zh-CN" sz="10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整序列</a:t>
            </a:r>
            <a:endParaRPr lang="zh-CN" sz="1000"/>
          </a:p>
        </p:txBody>
      </p:sp>
      <p:sp>
        <p:nvSpPr>
          <p:cNvPr id="17" name="text 17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事实依据：CSDN《RAG原始论文-针对知识密集型NLP任务的检索增强生成》｜对应章节：五、方法 5.5 解码（推理）</a:t>
            </a:r>
            <a:endParaRPr lang="zh-CN"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9. 实验设置：知识库与任务覆盖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实验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914400" y="1234440"/>
            <a:ext cx="1965960" cy="658368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914400" y="1234440"/>
            <a:ext cx="73152" cy="65836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987552" y="1234440"/>
            <a:ext cx="1892807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知识源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2018年12月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Wikipedia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3566160" y="1234440"/>
            <a:ext cx="1965960" cy="658368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3566160" y="1234440"/>
            <a:ext cx="73152" cy="65836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3639312" y="1234440"/>
            <a:ext cx="1892807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切块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每块约 100 个词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6217920" y="1234440"/>
            <a:ext cx="1965960" cy="658368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6217920" y="1234440"/>
            <a:ext cx="73152" cy="65836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6291072" y="1234440"/>
            <a:ext cx="1892807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规模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约 2100 万文档</a:t>
            </a:r>
            <a:endParaRPr lang="zh-CN" sz="1100"/>
          </a:p>
        </p:txBody>
      </p:sp>
      <p:sp>
        <p:nvSpPr>
          <p:cNvPr id="17" name="rect 17"/>
          <p:cNvSpPr/>
          <p:nvPr/>
        </p:nvSpPr>
        <p:spPr>
          <a:xfrm>
            <a:off x="8869680" y="1234440"/>
            <a:ext cx="196596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8869680" y="1234440"/>
            <a:ext cx="73152" cy="65836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8942832" y="1234440"/>
            <a:ext cx="1892807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检索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MIPS + FAISS</a:t>
            </a:r>
            <a:endParaRPr lang="zh-CN" sz="1100"/>
          </a:p>
        </p:txBody>
      </p:sp>
      <p:cxnSp>
        <p:nvCxnSpPr>
          <p:cNvPr id="20" name="arrow 20"/>
          <p:cNvCxnSpPr/>
          <p:nvPr/>
        </p:nvCxnSpPr>
        <p:spPr>
          <a:xfrm>
            <a:off x="2880360" y="1563624"/>
            <a:ext cx="685800" cy="1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5532120" y="1563624"/>
            <a:ext cx="685800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cxnSp>
        <p:nvCxnSpPr>
          <p:cNvPr id="22" name="arrow 22"/>
          <p:cNvCxnSpPr/>
          <p:nvPr/>
        </p:nvCxnSpPr>
        <p:spPr>
          <a:xfrm>
            <a:off x="8183879" y="1563624"/>
            <a:ext cx="685800" cy="1"/>
          </a:xfrm>
          <a:prstGeom prst="line">
            <a:avLst/>
          </a:prstGeom>
          <a:ln w="17000">
            <a:solidFill>
              <a:srgbClr val="D77757"/>
            </a:solidFill>
            <a:headEnd type="triangle"/>
          </a:ln>
        </p:spPr>
      </p:cxnSp>
      <p:sp>
        <p:nvSpPr>
          <p:cNvPr id="23" name="rect 23"/>
          <p:cNvSpPr/>
          <p:nvPr/>
        </p:nvSpPr>
        <p:spPr>
          <a:xfrm>
            <a:off x="914400" y="2743200"/>
            <a:ext cx="2331720" cy="20574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914400" y="2743200"/>
            <a:ext cx="73152" cy="20574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5" name="card 25"/>
          <p:cNvSpPr txBox="1"/>
          <p:nvPr/>
        </p:nvSpPr>
        <p:spPr>
          <a:xfrm>
            <a:off x="1014984" y="2743200"/>
            <a:ext cx="2212848" cy="20574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开放领域问答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NQ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TriviaQA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WebQuestions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CuratedTrec</a:t>
            </a:r>
            <a:endParaRPr lang="zh-CN" sz="1100"/>
          </a:p>
        </p:txBody>
      </p:sp>
      <p:sp>
        <p:nvSpPr>
          <p:cNvPr id="26" name="rect 26"/>
          <p:cNvSpPr/>
          <p:nvPr/>
        </p:nvSpPr>
        <p:spPr>
          <a:xfrm>
            <a:off x="3611880" y="2743200"/>
            <a:ext cx="2331720" cy="20574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3611880" y="2743200"/>
            <a:ext cx="73152" cy="20574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8" name="card 28"/>
          <p:cNvSpPr txBox="1"/>
          <p:nvPr/>
        </p:nvSpPr>
        <p:spPr>
          <a:xfrm>
            <a:off x="3712464" y="2743200"/>
            <a:ext cx="2212848" cy="20574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抽象问答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MS-MARCO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测试生成能力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不使用给定参考段落</a:t>
            </a:r>
            <a:endParaRPr lang="zh-CN" sz="1100"/>
          </a:p>
        </p:txBody>
      </p:sp>
      <p:sp>
        <p:nvSpPr>
          <p:cNvPr id="29" name="rect 29"/>
          <p:cNvSpPr/>
          <p:nvPr/>
        </p:nvSpPr>
        <p:spPr>
          <a:xfrm>
            <a:off x="6309360" y="2743200"/>
            <a:ext cx="2331720" cy="20574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6309360" y="2743200"/>
            <a:ext cx="73152" cy="20574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1" name="card 31"/>
          <p:cNvSpPr txBox="1"/>
          <p:nvPr/>
        </p:nvSpPr>
        <p:spPr>
          <a:xfrm>
            <a:off x="6409944" y="2743200"/>
            <a:ext cx="2212848" cy="20574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问题生成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SearchQA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Jeopardy 风格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看事实性/具体性</a:t>
            </a:r>
            <a:endParaRPr lang="zh-CN" sz="1100"/>
          </a:p>
        </p:txBody>
      </p:sp>
      <p:sp>
        <p:nvSpPr>
          <p:cNvPr id="32" name="rect 32"/>
          <p:cNvSpPr/>
          <p:nvPr/>
        </p:nvSpPr>
        <p:spPr>
          <a:xfrm>
            <a:off x="9006840" y="2743200"/>
            <a:ext cx="1874519" cy="20574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3" name="rect 33"/>
          <p:cNvSpPr/>
          <p:nvPr/>
        </p:nvSpPr>
        <p:spPr>
          <a:xfrm>
            <a:off x="9006840" y="2743200"/>
            <a:ext cx="73152" cy="20574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34" name="card 34"/>
          <p:cNvSpPr txBox="1"/>
          <p:nvPr/>
        </p:nvSpPr>
        <p:spPr>
          <a:xfrm>
            <a:off x="9107424" y="2743200"/>
            <a:ext cx="1755648" cy="20574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A84F35"/>
                </a:solidFill>
                <a:latin typeface="Microsoft YaHei"/>
                <a:ea typeface="Microsoft YaHei"/>
                <a:cs typeface="Microsoft YaHei"/>
              </a:rPr>
              <a:t>事实校验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FEVER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检索证据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判断声明</a:t>
            </a:r>
            <a:endParaRPr lang="zh-CN" sz="1100"/>
          </a:p>
        </p:txBody>
      </p:sp>
      <p:sp>
        <p:nvSpPr>
          <p:cNvPr id="35" name="text 35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事实依据：CSDN《RAG原始论文-针对知识密集型NLP任务的检索增强生成》｜对应章节：六、实验</a:t>
            </a:r>
            <a:endParaRPr lang="zh-CN"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10. 结果：文章给出的主结论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结果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914400" y="1143000"/>
            <a:ext cx="3063240" cy="420624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914400" y="1143000"/>
            <a:ext cx="73152" cy="420624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1014984" y="1143000"/>
            <a:ext cx="2944368" cy="420624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开放领域 QA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Closed Book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依赖内部知识，复杂任务表现略弱。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Open Book 通过外部知识提升表现。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 结合生成和检索，表现更平衡；RAG-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Sequence 在多个数据集得分较高。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4572000" y="1143000"/>
            <a:ext cx="3063240" cy="420624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4572000" y="1143000"/>
            <a:ext cx="73152" cy="420624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4672584" y="1143000"/>
            <a:ext cx="2944368" cy="420624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生成/分类任务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RAG-Token 与 RAG-Sequence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在生成任务中优于 BART。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FEVER 任务中 RAG 接近最优模型。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即便不使用金标准证据训练，也能较好完成任务。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8229600" y="1143000"/>
            <a:ext cx="3063240" cy="420624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8229600" y="1143000"/>
            <a:ext cx="73152" cy="420624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6" name="card 16"/>
          <p:cNvSpPr txBox="1"/>
          <p:nvPr/>
        </p:nvSpPr>
        <p:spPr>
          <a:xfrm>
            <a:off x="8330183" y="1143000"/>
            <a:ext cx="2944368" cy="420624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事实性与多样性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表3显示 RAG 比 BART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更少幻觉，通常更具体准确。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人类评估中 RAG 在事实性和具体性上更受偏好。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表5显示 RAG 生成内容比 BART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更具多样性。</a:t>
            </a:r>
            <a:endParaRPr lang="zh-CN" sz="1100"/>
          </a:p>
        </p:txBody>
      </p:sp>
      <p:sp>
        <p:nvSpPr>
          <p:cNvPr id="17" name="text 17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事实依据：CSDN《RAG原始论文-针对知识密集型NLP任务的检索增强生成》｜对应章节：七、结果 7.1-7.6</a:t>
            </a:r>
            <a:endParaRPr lang="zh-CN"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11. FEVER 与人类评估：关键数值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结果细节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1097280" y="1280160"/>
            <a:ext cx="2148840" cy="713232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1097280" y="1280160"/>
            <a:ext cx="73152" cy="713232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1170432" y="1280160"/>
            <a:ext cx="2075688" cy="71323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FEVER3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距复杂 SOTA 约 4.3%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3749039" y="1280160"/>
            <a:ext cx="2148840" cy="713232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3749039" y="1280160"/>
            <a:ext cx="73152" cy="71323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3822191" y="1280160"/>
            <a:ext cx="2075688" cy="71323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FEVER2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距 RoBERTa 约 2.7%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6400800" y="1280160"/>
            <a:ext cx="2148840" cy="713232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6400800" y="1280160"/>
            <a:ext cx="73152" cy="713232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6473952" y="1280160"/>
            <a:ext cx="2075688" cy="71323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Top-1 文档</a:t>
            </a:r>
            <a:endParaRPr lang="zh-CN" sz="1000"/>
          </a:p>
          <a:p>
            <a:pPr algn="ctr"/>
            <a:r>
              <a:rPr lang="zh-CN" sz="10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71% 命中黄金证据部分</a:t>
            </a:r>
            <a:endParaRPr lang="zh-CN" sz="1000"/>
          </a:p>
        </p:txBody>
      </p:sp>
      <p:sp>
        <p:nvSpPr>
          <p:cNvPr id="17" name="rect 17"/>
          <p:cNvSpPr/>
          <p:nvPr/>
        </p:nvSpPr>
        <p:spPr>
          <a:xfrm>
            <a:off x="9052560" y="1280160"/>
            <a:ext cx="2148840" cy="71323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9052560" y="1280160"/>
            <a:ext cx="73152" cy="713232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9125712" y="1280160"/>
            <a:ext cx="2075688" cy="71323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Top-10 文档</a:t>
            </a:r>
            <a:endParaRPr lang="zh-CN" sz="1000"/>
          </a:p>
          <a:p>
            <a:pPr algn="ctr"/>
            <a:r>
              <a:rPr lang="zh-CN" sz="10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90% 至少一个命中</a:t>
            </a:r>
            <a:endParaRPr lang="zh-CN" sz="1000"/>
          </a:p>
        </p:txBody>
      </p:sp>
      <p:sp>
        <p:nvSpPr>
          <p:cNvPr id="20" name="rect 20"/>
          <p:cNvSpPr/>
          <p:nvPr/>
        </p:nvSpPr>
        <p:spPr>
          <a:xfrm>
            <a:off x="1005840" y="2926080"/>
            <a:ext cx="4617720" cy="155448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1005840" y="2926080"/>
            <a:ext cx="73152" cy="155448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2" name="card 22"/>
          <p:cNvSpPr txBox="1"/>
          <p:nvPr/>
        </p:nvSpPr>
        <p:spPr>
          <a:xfrm>
            <a:off x="1106424" y="2926080"/>
            <a:ext cx="4498848" cy="155448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Jeopardy 人类评估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事实性：42.7% 评估认为 RAG 比 BART 更好；只有 7.1% 认为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BART 更好。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具体性：37.4% 认为 RAG 更具体；16.8% 认为 BART 更好。</a:t>
            </a:r>
            <a:endParaRPr lang="zh-CN" sz="1100"/>
          </a:p>
        </p:txBody>
      </p:sp>
      <p:sp>
        <p:nvSpPr>
          <p:cNvPr id="23" name="rect 23"/>
          <p:cNvSpPr/>
          <p:nvPr/>
        </p:nvSpPr>
        <p:spPr>
          <a:xfrm>
            <a:off x="6537960" y="2926080"/>
            <a:ext cx="4617720" cy="155448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6537960" y="2926080"/>
            <a:ext cx="73152" cy="155448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5" name="card 25"/>
          <p:cNvSpPr txBox="1"/>
          <p:nvPr/>
        </p:nvSpPr>
        <p:spPr>
          <a:xfrm>
            <a:off x="6638544" y="2926080"/>
            <a:ext cx="4498848" cy="155448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文章解释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RAG-Token 在 Jeopardy 任务中表现优于 RAG-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Sequence，原因是问题常包含多个信息片段。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RAG-Token 能结合多个文档中的内容。</a:t>
            </a:r>
            <a:endParaRPr lang="zh-CN" sz="1100"/>
          </a:p>
        </p:txBody>
      </p:sp>
      <p:sp>
        <p:nvSpPr>
          <p:cNvPr id="26" name="text 26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事实依据：CSDN《RAG原始论文-针对知识密集型NLP任务的检索增强生成》｜对应章节：七、结果 7.2-7.5</a:t>
            </a:r>
            <a:endParaRPr lang="zh-CN"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12. 消融实验：检索机制贡献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消融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914400" y="1417320"/>
            <a:ext cx="205740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914400" y="141732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987552" y="141732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完整 RAG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稠密检索器可学习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3657600" y="1417320"/>
            <a:ext cx="205740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3657600" y="1417320"/>
            <a:ext cx="73152" cy="68580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3730752" y="141732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Frozen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冻结检索器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6400800" y="1417320"/>
            <a:ext cx="205740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6400800" y="141732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6473952" y="141732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BM25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词频匹配替代</a:t>
            </a:r>
            <a:endParaRPr lang="zh-CN" sz="1100"/>
          </a:p>
        </p:txBody>
      </p:sp>
      <p:sp>
        <p:nvSpPr>
          <p:cNvPr id="17" name="rect 17"/>
          <p:cNvSpPr/>
          <p:nvPr/>
        </p:nvSpPr>
        <p:spPr>
          <a:xfrm>
            <a:off x="9144000" y="1417320"/>
            <a:ext cx="205740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9144000" y="141732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9217152" y="141732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比较任务表现</a:t>
            </a:r>
            <a:endParaRPr lang="zh-CN" sz="1100"/>
          </a:p>
          <a:p>
            <a:pPr algn="ctr"/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解释组件贡献</a:t>
            </a:r>
            <a:endParaRPr lang="zh-CN" sz="1100"/>
          </a:p>
        </p:txBody>
      </p:sp>
      <p:cxnSp>
        <p:nvCxnSpPr>
          <p:cNvPr id="20" name="arrow 20"/>
          <p:cNvCxnSpPr/>
          <p:nvPr/>
        </p:nvCxnSpPr>
        <p:spPr>
          <a:xfrm>
            <a:off x="2971800" y="1755648"/>
            <a:ext cx="685800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5715000" y="1755648"/>
            <a:ext cx="685800" cy="1"/>
          </a:xfrm>
          <a:prstGeom prst="line">
            <a:avLst/>
          </a:prstGeom>
          <a:ln w="17000">
            <a:solidFill>
              <a:srgbClr val="6F6761"/>
            </a:solidFill>
            <a:headEnd type="triangle"/>
          </a:ln>
        </p:spPr>
      </p:cxnSp>
      <p:cxnSp>
        <p:nvCxnSpPr>
          <p:cNvPr id="22" name="arrow 22"/>
          <p:cNvCxnSpPr/>
          <p:nvPr/>
        </p:nvCxnSpPr>
        <p:spPr>
          <a:xfrm>
            <a:off x="8458200" y="1755648"/>
            <a:ext cx="685800" cy="1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sp>
        <p:nvSpPr>
          <p:cNvPr id="23" name="rect 23"/>
          <p:cNvSpPr/>
          <p:nvPr/>
        </p:nvSpPr>
        <p:spPr>
          <a:xfrm>
            <a:off x="1005840" y="2971800"/>
            <a:ext cx="2971800" cy="16002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1005840" y="2971800"/>
            <a:ext cx="73152" cy="16002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5" name="card 25"/>
          <p:cNvSpPr txBox="1"/>
          <p:nvPr/>
        </p:nvSpPr>
        <p:spPr>
          <a:xfrm>
            <a:off x="1106424" y="2971800"/>
            <a:ext cx="2852928" cy="16002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结论 A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冻结检索器后性能显著下降。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允许检索器在训练中更新，对整体性能关键。</a:t>
            </a:r>
            <a:endParaRPr lang="zh-CN" sz="1100"/>
          </a:p>
        </p:txBody>
      </p:sp>
      <p:sp>
        <p:nvSpPr>
          <p:cNvPr id="26" name="rect 26"/>
          <p:cNvSpPr/>
          <p:nvPr/>
        </p:nvSpPr>
        <p:spPr>
          <a:xfrm>
            <a:off x="4572000" y="2971800"/>
            <a:ext cx="2971800" cy="16002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4572000" y="2971800"/>
            <a:ext cx="73152" cy="16002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8" name="card 28"/>
          <p:cNvSpPr txBox="1"/>
          <p:nvPr/>
        </p:nvSpPr>
        <p:spPr>
          <a:xfrm>
            <a:off x="4672584" y="2971800"/>
            <a:ext cx="2852928" cy="16002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结论 B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开放域问答中，RAG 稠密检索器通常优于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BM25。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说明语义检索对开放问题有价值。</a:t>
            </a:r>
            <a:endParaRPr lang="zh-CN" sz="1100"/>
          </a:p>
        </p:txBody>
      </p:sp>
      <p:sp>
        <p:nvSpPr>
          <p:cNvPr id="29" name="rect 29"/>
          <p:cNvSpPr/>
          <p:nvPr/>
        </p:nvSpPr>
        <p:spPr>
          <a:xfrm>
            <a:off x="8138160" y="2971800"/>
            <a:ext cx="2971800" cy="16002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8138160" y="2971800"/>
            <a:ext cx="73152" cy="16002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1" name="card 31"/>
          <p:cNvSpPr txBox="1"/>
          <p:nvPr/>
        </p:nvSpPr>
        <p:spPr>
          <a:xfrm>
            <a:off x="8238744" y="2971800"/>
            <a:ext cx="2852928" cy="16002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FEVER 例外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FEVER 声明常与实体密切相关。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词语重叠明显时，BM25 可能表现很好。</a:t>
            </a:r>
            <a:endParaRPr lang="zh-CN" sz="1100"/>
          </a:p>
        </p:txBody>
      </p:sp>
      <p:sp>
        <p:nvSpPr>
          <p:cNvPr id="32" name="text 32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事实依据：CSDN《RAG原始论文-针对知识密集型NLP任务的检索增强生成》｜对应章节：七、结果 7.7 表6的解读-消融实验</a:t>
            </a:r>
            <a:endParaRPr lang="zh-CN"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13. K 值与索引热交换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工程价值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914400" y="1143000"/>
            <a:ext cx="4800600" cy="19659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914400" y="1143000"/>
            <a:ext cx="73152" cy="19659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1014984" y="1143000"/>
            <a:ext cx="4681728" cy="196596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检索更多文档的效果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NQ：RAG-Sequence 随 K 增加通常提升，接近 K=30 后趋于平稳。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NQ：RAG-Token 在检索 10 个文档时达到峰值。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MS-MARCO：更多文档提升 Rouge-L，但可能牺牲 BLEU-1。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6446520" y="1143000"/>
            <a:ext cx="4800600" cy="196596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6446520" y="1143000"/>
            <a:ext cx="73152" cy="19659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6547104" y="1143000"/>
            <a:ext cx="4681728" cy="196596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索引热交换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非参数记忆可在测试时更新知识库。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只需替换文档索引，不必重新训练参数模型。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2016/2018 Wikipedia 索引用于验证世界领导人问题。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1463040" y="4160520"/>
            <a:ext cx="201168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1463040" y="4160520"/>
            <a:ext cx="73152" cy="65836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1536192" y="4160520"/>
            <a:ext cx="193852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世界知识变化</a:t>
            </a:r>
            <a:endParaRPr lang="zh-CN" sz="1300"/>
          </a:p>
        </p:txBody>
      </p:sp>
      <p:cxnSp>
        <p:nvCxnSpPr>
          <p:cNvPr id="17" name="arrow 17"/>
          <p:cNvCxnSpPr/>
          <p:nvPr/>
        </p:nvCxnSpPr>
        <p:spPr>
          <a:xfrm>
            <a:off x="3474720" y="4489704"/>
            <a:ext cx="731519" cy="1"/>
          </a:xfrm>
          <a:prstGeom prst="line">
            <a:avLst/>
          </a:prstGeom>
          <a:ln w="17000">
            <a:solidFill>
              <a:srgbClr val="D77757"/>
            </a:solidFill>
            <a:headEnd type="triangle"/>
          </a:ln>
        </p:spPr>
      </p:cxnSp>
      <p:sp>
        <p:nvSpPr>
          <p:cNvPr id="18" name="rect 18"/>
          <p:cNvSpPr/>
          <p:nvPr/>
        </p:nvSpPr>
        <p:spPr>
          <a:xfrm>
            <a:off x="4206240" y="4160520"/>
            <a:ext cx="2011680" cy="658368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9" name="rect 19"/>
          <p:cNvSpPr/>
          <p:nvPr/>
        </p:nvSpPr>
        <p:spPr>
          <a:xfrm>
            <a:off x="4206240" y="4160520"/>
            <a:ext cx="73152" cy="65836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0" name="node text 20"/>
          <p:cNvSpPr txBox="1"/>
          <p:nvPr/>
        </p:nvSpPr>
        <p:spPr>
          <a:xfrm>
            <a:off x="4279392" y="4160520"/>
            <a:ext cx="193852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替换索引</a:t>
            </a:r>
            <a:endParaRPr lang="zh-CN" sz="1300"/>
          </a:p>
          <a:p>
            <a:pPr algn="ctr"/>
            <a:r>
              <a:rPr lang="zh-CN" sz="13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非参数记忆</a:t>
            </a:r>
            <a:endParaRPr lang="zh-CN" sz="1300"/>
          </a:p>
        </p:txBody>
      </p:sp>
      <p:cxnSp>
        <p:nvCxnSpPr>
          <p:cNvPr id="21" name="arrow 21"/>
          <p:cNvCxnSpPr/>
          <p:nvPr/>
        </p:nvCxnSpPr>
        <p:spPr>
          <a:xfrm>
            <a:off x="6217920" y="4489704"/>
            <a:ext cx="731519" cy="1"/>
          </a:xfrm>
          <a:prstGeom prst="line">
            <a:avLst/>
          </a:prstGeom>
          <a:ln w="17000">
            <a:solidFill>
              <a:srgbClr val="4E8F6F"/>
            </a:solidFill>
            <a:headEnd type="triangle"/>
          </a:ln>
        </p:spPr>
      </p:cxnSp>
      <p:sp>
        <p:nvSpPr>
          <p:cNvPr id="22" name="rect 22"/>
          <p:cNvSpPr/>
          <p:nvPr/>
        </p:nvSpPr>
        <p:spPr>
          <a:xfrm>
            <a:off x="6949440" y="4160520"/>
            <a:ext cx="2011680" cy="658368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3" name="rect 23"/>
          <p:cNvSpPr/>
          <p:nvPr/>
        </p:nvSpPr>
        <p:spPr>
          <a:xfrm>
            <a:off x="6949440" y="4160520"/>
            <a:ext cx="73152" cy="65836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4" name="node text 24"/>
          <p:cNvSpPr txBox="1"/>
          <p:nvPr/>
        </p:nvSpPr>
        <p:spPr>
          <a:xfrm>
            <a:off x="7022592" y="4160520"/>
            <a:ext cx="1938528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模型不重训</a:t>
            </a:r>
            <a:endParaRPr lang="zh-CN" sz="1300"/>
          </a:p>
        </p:txBody>
      </p:sp>
      <p:cxnSp>
        <p:nvCxnSpPr>
          <p:cNvPr id="25" name="arrow 25"/>
          <p:cNvCxnSpPr/>
          <p:nvPr/>
        </p:nvCxnSpPr>
        <p:spPr>
          <a:xfrm>
            <a:off x="8961120" y="4489704"/>
            <a:ext cx="731519" cy="1"/>
          </a:xfrm>
          <a:prstGeom prst="line">
            <a:avLst/>
          </a:prstGeom>
          <a:ln w="17000">
            <a:solidFill>
              <a:srgbClr val="5769F7"/>
            </a:solidFill>
            <a:headEnd type="triangle"/>
          </a:ln>
        </p:spPr>
      </p:cxnSp>
      <p:sp>
        <p:nvSpPr>
          <p:cNvPr id="26" name="rect 26"/>
          <p:cNvSpPr/>
          <p:nvPr/>
        </p:nvSpPr>
        <p:spPr>
          <a:xfrm>
            <a:off x="9692640" y="4160520"/>
            <a:ext cx="128016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9692640" y="4160520"/>
            <a:ext cx="73152" cy="65836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28" name="node text 28"/>
          <p:cNvSpPr txBox="1"/>
          <p:nvPr/>
        </p:nvSpPr>
        <p:spPr>
          <a:xfrm>
            <a:off x="9765792" y="4160520"/>
            <a:ext cx="1207007" cy="658368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回答更新</a:t>
            </a:r>
            <a:endParaRPr lang="zh-CN" sz="1300"/>
          </a:p>
        </p:txBody>
      </p:sp>
      <p:sp>
        <p:nvSpPr>
          <p:cNvPr id="29" name="text 29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事实依据：CSDN《RAG原始论文-针对知识密集型NLP任务的检索增强生成》｜对应章节：七、结果 7.8 图3；7.9 索引热交换</a:t>
            </a:r>
            <a:endParaRPr lang="zh-CN" sz="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14. 相关工作与创新点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相关工作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914400" y="1143000"/>
            <a:ext cx="2971800" cy="4114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914400" y="1143000"/>
            <a:ext cx="73152" cy="4114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1014984" y="1143000"/>
            <a:ext cx="2852928" cy="41148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单任务检索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此前很多 NLP 任务会用检索增强。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但通常针对具体任务设计专门架构。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本文展示单一检索架构可服务多种任务。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4617720" y="1143000"/>
            <a:ext cx="2971800" cy="4114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4617720" y="1143000"/>
            <a:ext cx="73152" cy="4114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4718304" y="1143000"/>
            <a:ext cx="2852928" cy="41148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基于记忆的架构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文档索引可看作大型外部记忆。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本文使用原始文本作为记忆。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原始文本具有人类可读性和可写性。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8321040" y="1143000"/>
            <a:ext cx="2971800" cy="4114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8321040" y="1143000"/>
            <a:ext cx="73152" cy="4114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6" name="card 16"/>
          <p:cNvSpPr txBox="1"/>
          <p:nvPr/>
        </p:nvSpPr>
        <p:spPr>
          <a:xfrm>
            <a:off x="8421624" y="1143000"/>
            <a:ext cx="2852928" cy="411480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检索与编辑方法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传统方法常检索相似训练对再编辑。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 检索支持输入的证据文档。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RAG 学习潜在检索，并汇总多个检索内容。</a:t>
            </a:r>
            <a:endParaRPr lang="zh-CN" sz="1100"/>
          </a:p>
        </p:txBody>
      </p:sp>
      <p:sp>
        <p:nvSpPr>
          <p:cNvPr id="17" name="text 17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事实依据：CSDN《RAG原始论文-针对知识密集型NLP任务的检索增强生成》｜对应章节：八、相关工作</a:t>
            </a:r>
            <a:endParaRPr lang="zh-CN"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256032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15. 贡献、风险与复盘路线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804672"/>
            <a:ext cx="114300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464040" y="256032"/>
            <a:ext cx="2057400" cy="34747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464040" y="256032"/>
            <a:ext cx="73152" cy="347472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537192" y="256032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wrap="square" lIns="55000" tIns="55000" rIns="55000" bIns="55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总结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914400" y="1097280"/>
            <a:ext cx="2971800" cy="42519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914400" y="1097280"/>
            <a:ext cx="73152" cy="42519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0" name="card 10"/>
          <p:cNvSpPr txBox="1"/>
          <p:nvPr/>
        </p:nvSpPr>
        <p:spPr>
          <a:xfrm>
            <a:off x="1014984" y="1097280"/>
            <a:ext cx="2852928" cy="425196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4E8F6F"/>
                </a:solidFill>
                <a:latin typeface="Microsoft YaHei"/>
                <a:ea typeface="Microsoft YaHei"/>
                <a:cs typeface="Microsoft YaHei"/>
              </a:rPr>
              <a:t>本文贡献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提出参数化记忆与非参数化记忆结合的混合生成模型。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展示开放领域问答中的强表现。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验证检索组件有效，并说明索引替换可更新知识。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4617720" y="1097280"/>
            <a:ext cx="2971800" cy="425196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4617720" y="1097280"/>
            <a:ext cx="73152" cy="42519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card 13"/>
          <p:cNvSpPr txBox="1"/>
          <p:nvPr/>
        </p:nvSpPr>
        <p:spPr>
          <a:xfrm>
            <a:off x="4718304" y="1097280"/>
            <a:ext cx="2852928" cy="425196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D77757"/>
                </a:solidFill>
                <a:latin typeface="Microsoft YaHei"/>
                <a:ea typeface="Microsoft YaHei"/>
                <a:cs typeface="Microsoft YaHei"/>
              </a:rPr>
              <a:t>广泛影响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积极面：基于事实知识生成，提升可追溯和可信度。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风险面：外部知识库可能有偏见或错误。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滥用面：也可能生成误导性内容。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8321040" y="1097280"/>
            <a:ext cx="2971800" cy="425196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8321040" y="1097280"/>
            <a:ext cx="73152" cy="42519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6" name="card 16"/>
          <p:cNvSpPr txBox="1"/>
          <p:nvPr/>
        </p:nvSpPr>
        <p:spPr>
          <a:xfrm>
            <a:off x="8421624" y="1097280"/>
            <a:ext cx="2852928" cy="4251960"/>
          </a:xfrm>
          <a:prstGeom prst="rect">
            <a:avLst/>
          </a:prstGeom>
          <a:noFill/>
          <a:ln>
            <a:noFill/>
          </a:ln>
        </p:spPr>
        <p:txBody>
          <a:bodyPr wrap="square" lIns="85000" tIns="85000" rIns="85000" bIns="85000" anchor="t"/>
          <a:lstStyle/>
          <a:p>
            <a:pPr algn="l">
              <a:spcAft>
                <a:spcPts val="320"/>
              </a:spcAft>
            </a:pPr>
            <a:r>
              <a:rPr lang="zh-CN" sz="1600" b="1">
                <a:solidFill>
                  <a:srgbClr val="5769F7"/>
                </a:solidFill>
                <a:latin typeface="Microsoft YaHei"/>
                <a:ea typeface="Microsoft YaHei"/>
                <a:cs typeface="Microsoft YaHei"/>
              </a:rPr>
              <a:t>复盘路线</a:t>
            </a:r>
            <a:endParaRPr lang="zh-CN" sz="16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先理解两类记忆。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再分清 RAG-Sequence 与 RAG-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Token。</a:t>
            </a:r>
            <a:endParaRPr lang="zh-CN" sz="1100"/>
          </a:p>
          <a:p>
            <a:pPr algn="l">
              <a:spcAft>
                <a:spcPts val="140"/>
              </a:spcAft>
            </a:pPr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• 最后看训练、解码、实验、消融和索引热交换。</a:t>
            </a:r>
            <a:endParaRPr lang="zh-CN" sz="1100"/>
          </a:p>
        </p:txBody>
      </p:sp>
      <p:sp>
        <p:nvSpPr>
          <p:cNvPr id="17" name="text 17"/>
          <p:cNvSpPr txBox="1"/>
          <p:nvPr/>
        </p:nvSpPr>
        <p:spPr>
          <a:xfrm>
            <a:off x="777240" y="6272784"/>
            <a:ext cx="10652760" cy="256032"/>
          </a:xfrm>
          <a:prstGeom prst="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  <p:txBody>
          <a:bodyPr wrap="square" lIns="55000" tIns="55000" rIns="55000" bIns="55000" anchor="ctr"/>
          <a:lstStyle/>
          <a:p>
            <a:pPr algn="l"/>
            <a:r>
              <a:rPr lang="zh-CN" sz="7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事实依据：CSDN《RAG原始论文-针对知识密集型NLP任务的检索增强生成》｜对应章节：九、讨论；十、更广泛的影响</a:t>
            </a:r>
            <a:endParaRPr lang="zh-CN"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ntered RAG Theme">
  <a:themeElements>
    <a:clrScheme name="Centered RAG">
      <a:dk1>
        <a:srgbClr val="231F20"/>
      </a:dk1>
      <a:lt1>
        <a:srgbClr val="FAF7F2"/>
      </a:lt1>
      <a:dk2>
        <a:srgbClr val="6F6761"/>
      </a:dk2>
      <a:lt2>
        <a:srgbClr val="FFFDF8"/>
      </a:lt2>
      <a:accent1>
        <a:srgbClr val="D77757"/>
      </a:accent1>
      <a:accent2>
        <a:srgbClr val="5769F7"/>
      </a:accent2>
      <a:accent3>
        <a:srgbClr val="4E8F6F"/>
      </a:accent3>
      <a:accent4>
        <a:srgbClr val="A84F35"/>
      </a:accent4>
      <a:accent5>
        <a:srgbClr val="E7DED6"/>
      </a:accent5>
      <a:accent6>
        <a:srgbClr val="F1ECE6"/>
      </a:accent6>
      <a:hlink>
        <a:srgbClr val="5769F7"/>
      </a:hlink>
      <a:folHlink>
        <a:srgbClr val="A84F35"/>
      </a:folHlink>
    </a:clrScheme>
    <a:fontScheme name="RAG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RAG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RAG 原始论文精读-严格依据 CSDN</dc:title>
  <dc:creator>Codex</dc:creator>
  <dcterms:created xsi:type="dcterms:W3CDTF">2026-05-02T18:27:11Z</dcterms:created>
  <dcterms:modified xsi:type="dcterms:W3CDTF">2026-05-02T18:27:11Z</dcterms:modified>
</cp:coreProperties>
</file>