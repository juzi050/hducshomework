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3333500" cy="7500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Claude Code 记忆机制总览流程图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全局架构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594360" y="1051560"/>
            <a:ext cx="1828800" cy="621792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594360" y="1051560"/>
            <a:ext cx="73152" cy="62179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667512" y="1051560"/>
            <a:ext cx="1755648" cy="62179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  <a:endParaRPr lang="zh-CN" sz="1400"/>
          </a:p>
        </p:txBody>
      </p:sp>
      <p:sp>
        <p:nvSpPr>
          <p:cNvPr id="11" name="rect 11"/>
          <p:cNvSpPr/>
          <p:nvPr/>
        </p:nvSpPr>
        <p:spPr>
          <a:xfrm>
            <a:off x="594360" y="1965960"/>
            <a:ext cx="1828800" cy="62179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594360" y="1965960"/>
            <a:ext cx="73152" cy="62179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667512" y="1965960"/>
            <a:ext cx="1755648" cy="62179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CLAUDE.md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与 rules</a:t>
            </a:r>
            <a:endParaRPr lang="zh-CN" sz="1400"/>
          </a:p>
        </p:txBody>
      </p:sp>
      <p:sp>
        <p:nvSpPr>
          <p:cNvPr id="14" name="rect 14"/>
          <p:cNvSpPr/>
          <p:nvPr/>
        </p:nvSpPr>
        <p:spPr>
          <a:xfrm>
            <a:off x="594360" y="2880360"/>
            <a:ext cx="1828800" cy="621792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594360" y="2880360"/>
            <a:ext cx="73152" cy="62179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667512" y="2880360"/>
            <a:ext cx="1755648" cy="62179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长期记忆目录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MEMORY.md</a:t>
            </a:r>
            <a:endParaRPr lang="zh-CN" sz="1400"/>
          </a:p>
        </p:txBody>
      </p:sp>
      <p:sp>
        <p:nvSpPr>
          <p:cNvPr id="17" name="rect 17"/>
          <p:cNvSpPr/>
          <p:nvPr/>
        </p:nvSpPr>
        <p:spPr>
          <a:xfrm>
            <a:off x="594360" y="3794760"/>
            <a:ext cx="1828800" cy="621792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594360" y="3794760"/>
            <a:ext cx="73152" cy="621792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667512" y="3794760"/>
            <a:ext cx="1755648" cy="62179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会话摘要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summary.md</a:t>
            </a:r>
            <a:endParaRPr lang="zh-CN" sz="1400"/>
          </a:p>
        </p:txBody>
      </p:sp>
      <p:sp>
        <p:nvSpPr>
          <p:cNvPr id="20" name="rect 20"/>
          <p:cNvSpPr/>
          <p:nvPr/>
        </p:nvSpPr>
        <p:spPr>
          <a:xfrm>
            <a:off x="3246120" y="1188720"/>
            <a:ext cx="2286000" cy="77724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3246120" y="1188720"/>
            <a:ext cx="73152" cy="77724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3319272" y="1188720"/>
            <a:ext cx="221284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上下文构建层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读取指令与日期</a:t>
            </a:r>
            <a:endParaRPr lang="zh-CN" sz="1400"/>
          </a:p>
        </p:txBody>
      </p:sp>
      <p:sp>
        <p:nvSpPr>
          <p:cNvPr id="23" name="rect 23"/>
          <p:cNvSpPr/>
          <p:nvPr/>
        </p:nvSpPr>
        <p:spPr>
          <a:xfrm>
            <a:off x="3246120" y="2514600"/>
            <a:ext cx="2286000" cy="77724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3246120" y="2514600"/>
            <a:ext cx="73152" cy="77724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5" name="node text 25"/>
          <p:cNvSpPr txBox="1"/>
          <p:nvPr/>
        </p:nvSpPr>
        <p:spPr>
          <a:xfrm>
            <a:off x="3319272" y="2514600"/>
            <a:ext cx="221284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动态召回层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旁路选择相关记忆</a:t>
            </a:r>
            <a:endParaRPr lang="zh-CN" sz="1400"/>
          </a:p>
        </p:txBody>
      </p:sp>
      <p:sp>
        <p:nvSpPr>
          <p:cNvPr id="26" name="rect 26"/>
          <p:cNvSpPr/>
          <p:nvPr/>
        </p:nvSpPr>
        <p:spPr>
          <a:xfrm>
            <a:off x="3246120" y="3840480"/>
            <a:ext cx="2286000" cy="77724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3246120" y="3840480"/>
            <a:ext cx="73152" cy="77724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8" name="node text 28"/>
          <p:cNvSpPr txBox="1"/>
          <p:nvPr/>
        </p:nvSpPr>
        <p:spPr>
          <a:xfrm>
            <a:off x="3319272" y="3840480"/>
            <a:ext cx="221284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后台沉淀层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forked agent 写记忆</a:t>
            </a:r>
            <a:endParaRPr lang="zh-CN" sz="1400"/>
          </a:p>
        </p:txBody>
      </p:sp>
      <p:sp>
        <p:nvSpPr>
          <p:cNvPr id="29" name="rect 29"/>
          <p:cNvSpPr/>
          <p:nvPr/>
        </p:nvSpPr>
        <p:spPr>
          <a:xfrm>
            <a:off x="6400800" y="1965960"/>
            <a:ext cx="2057400" cy="86868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6400800" y="1965960"/>
            <a:ext cx="73152" cy="86868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1" name="node text 31"/>
          <p:cNvSpPr txBox="1"/>
          <p:nvPr/>
        </p:nvSpPr>
        <p:spPr>
          <a:xfrm>
            <a:off x="6473952" y="1965960"/>
            <a:ext cx="1984248" cy="86868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消息组装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prepend +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attachment</a:t>
            </a:r>
            <a:endParaRPr lang="zh-CN" sz="1400"/>
          </a:p>
        </p:txBody>
      </p:sp>
      <p:sp>
        <p:nvSpPr>
          <p:cNvPr id="32" name="rect 32"/>
          <p:cNvSpPr/>
          <p:nvPr/>
        </p:nvSpPr>
        <p:spPr>
          <a:xfrm>
            <a:off x="9189720" y="1965960"/>
            <a:ext cx="2057400" cy="86868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3" name="rect 33"/>
          <p:cNvSpPr/>
          <p:nvPr/>
        </p:nvSpPr>
        <p:spPr>
          <a:xfrm>
            <a:off x="9189720" y="1965960"/>
            <a:ext cx="73152" cy="86868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4" name="node text 34"/>
          <p:cNvSpPr txBox="1"/>
          <p:nvPr/>
        </p:nvSpPr>
        <p:spPr>
          <a:xfrm>
            <a:off x="9262872" y="1965960"/>
            <a:ext cx="1984248" cy="86868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Claude API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流式模型调用</a:t>
            </a:r>
            <a:endParaRPr lang="zh-CN" sz="1400"/>
          </a:p>
        </p:txBody>
      </p:sp>
      <p:sp>
        <p:nvSpPr>
          <p:cNvPr id="35" name="rect 35"/>
          <p:cNvSpPr/>
          <p:nvPr/>
        </p:nvSpPr>
        <p:spPr>
          <a:xfrm>
            <a:off x="9189720" y="3657600"/>
            <a:ext cx="2057400" cy="71323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36" name="rect 36"/>
          <p:cNvSpPr/>
          <p:nvPr/>
        </p:nvSpPr>
        <p:spPr>
          <a:xfrm>
            <a:off x="9189720" y="3657600"/>
            <a:ext cx="73152" cy="713232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37" name="node text 37"/>
          <p:cNvSpPr txBox="1"/>
          <p:nvPr/>
        </p:nvSpPr>
        <p:spPr>
          <a:xfrm>
            <a:off x="9262872" y="3657600"/>
            <a:ext cx="198424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4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工具结果</a:t>
            </a:r>
            <a:endParaRPr lang="zh-CN" sz="1400"/>
          </a:p>
          <a:p>
            <a:pPr algn="ctr"/>
            <a:r>
              <a:rPr lang="zh-CN" sz="14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stop hooks</a:t>
            </a:r>
            <a:endParaRPr lang="zh-CN" sz="1400"/>
          </a:p>
        </p:txBody>
      </p:sp>
      <p:cxnSp>
        <p:nvCxnSpPr>
          <p:cNvPr id="38" name="arrow 38"/>
          <p:cNvCxnSpPr/>
          <p:nvPr/>
        </p:nvCxnSpPr>
        <p:spPr>
          <a:xfrm>
            <a:off x="2423160" y="1362456"/>
            <a:ext cx="82295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39" name="arrow 39"/>
          <p:cNvCxnSpPr/>
          <p:nvPr/>
        </p:nvCxnSpPr>
        <p:spPr>
          <a:xfrm>
            <a:off x="2423160" y="2276856"/>
            <a:ext cx="82295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>
            <a:off x="2423160" y="3191256"/>
            <a:ext cx="82295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41" name="arrow 41"/>
          <p:cNvCxnSpPr/>
          <p:nvPr/>
        </p:nvCxnSpPr>
        <p:spPr>
          <a:xfrm>
            <a:off x="2423160" y="4105656"/>
            <a:ext cx="822959" cy="11887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42" name="arrow 42"/>
          <p:cNvCxnSpPr/>
          <p:nvPr/>
        </p:nvCxnSpPr>
        <p:spPr>
          <a:xfrm>
            <a:off x="5532120" y="1572768"/>
            <a:ext cx="868680" cy="667512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43" name="arrow 43"/>
          <p:cNvCxnSpPr/>
          <p:nvPr/>
        </p:nvCxnSpPr>
        <p:spPr>
          <a:xfrm flipV="1">
            <a:off x="5532120" y="2395728"/>
            <a:ext cx="868680" cy="512064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44" name="arrow 44"/>
          <p:cNvCxnSpPr/>
          <p:nvPr/>
        </p:nvCxnSpPr>
        <p:spPr>
          <a:xfrm flipV="1">
            <a:off x="5532120" y="2542032"/>
            <a:ext cx="868680" cy="1682496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cxnSp>
        <p:nvCxnSpPr>
          <p:cNvPr id="45" name="arrow 45"/>
          <p:cNvCxnSpPr/>
          <p:nvPr/>
        </p:nvCxnSpPr>
        <p:spPr>
          <a:xfrm>
            <a:off x="8458200" y="2395728"/>
            <a:ext cx="73152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46" name="arrow 46"/>
          <p:cNvCxnSpPr/>
          <p:nvPr/>
        </p:nvCxnSpPr>
        <p:spPr>
          <a:xfrm>
            <a:off x="10222992" y="2834640"/>
            <a:ext cx="1" cy="822959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cxnSp>
        <p:nvCxnSpPr>
          <p:cNvPr id="47" name="arrow 47"/>
          <p:cNvCxnSpPr/>
          <p:nvPr/>
        </p:nvCxnSpPr>
        <p:spPr>
          <a:xfrm flipH="1">
            <a:off x="5532120" y="4041648"/>
            <a:ext cx="3657600" cy="182880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48" name="rect 48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9" name="rect 49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50" name="node text 50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类比支撑：MemGPT 2023（分层记忆/虚拟上下文）；RAG 2020、RETRO 2022（检索增强）；ReAct 2023（工具循环）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每轮上下文注入流程图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主调用链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2057400"/>
            <a:ext cx="141732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2057400"/>
            <a:ext cx="73152" cy="960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758952" y="2057400"/>
            <a:ext cx="1344168" cy="9601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真实用户消息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2468880" y="2057400"/>
            <a:ext cx="164592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2468880" y="2057400"/>
            <a:ext cx="73152" cy="960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2542032" y="205740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getUserContex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t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构造用户上下文</a:t>
            </a:r>
            <a:endParaRPr lang="zh-CN" sz="1100"/>
          </a:p>
          <a:p>
            <a:pPr algn="ctr"/>
            <a:r>
              <a:rPr lang="zh-CN" sz="8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[src/context.</a:t>
            </a:r>
            <a:endParaRPr lang="zh-CN" sz="8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ts]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4526280" y="2057400"/>
            <a:ext cx="164592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4526280" y="2057400"/>
            <a:ext cx="73152" cy="960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4599432" y="205740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getMemoryFile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发现记忆文件</a:t>
            </a:r>
            <a:endParaRPr lang="zh-CN" sz="1100"/>
          </a:p>
          <a:p>
            <a:pPr algn="ctr"/>
            <a:r>
              <a:rPr lang="zh-CN" sz="800">
                <a:solidFill>
                  <a:srgbClr val="6F6761"/>
                </a:solidFill>
                <a:latin typeface="Cascadia Mono"/>
                <a:ea typeface="Cascadia Mono"/>
                <a:cs typeface="Cascadia Mono"/>
              </a:rPr>
              <a:t>[src/utils/cl</a:t>
            </a:r>
            <a:endParaRPr lang="zh-CN" sz="8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audemd.ts]</a:t>
            </a:r>
            <a:endParaRPr lang="zh-CN" sz="1100"/>
          </a:p>
        </p:txBody>
      </p:sp>
      <p:sp>
        <p:nvSpPr>
          <p:cNvPr id="17" name="rect 17"/>
          <p:cNvSpPr/>
          <p:nvPr/>
        </p:nvSpPr>
        <p:spPr>
          <a:xfrm>
            <a:off x="6629400" y="2057400"/>
            <a:ext cx="164592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6629400" y="2057400"/>
            <a:ext cx="73152" cy="960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6702552" y="205740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getClaudeMds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格式化来源说明</a:t>
            </a:r>
            <a:endParaRPr lang="zh-CN" sz="1100"/>
          </a:p>
        </p:txBody>
      </p:sp>
      <p:sp>
        <p:nvSpPr>
          <p:cNvPr id="20" name="rect 20"/>
          <p:cNvSpPr/>
          <p:nvPr/>
        </p:nvSpPr>
        <p:spPr>
          <a:xfrm>
            <a:off x="8549640" y="2057400"/>
            <a:ext cx="164592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8549640" y="2057400"/>
            <a:ext cx="73152" cy="960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8622792" y="205740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prependUserCo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ntext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前置注入消息</a:t>
            </a:r>
            <a:endParaRPr lang="zh-CN" sz="1100"/>
          </a:p>
        </p:txBody>
      </p:sp>
      <p:sp>
        <p:nvSpPr>
          <p:cNvPr id="23" name="rect 23"/>
          <p:cNvSpPr/>
          <p:nvPr/>
        </p:nvSpPr>
        <p:spPr>
          <a:xfrm>
            <a:off x="10287000" y="2057400"/>
            <a:ext cx="1417320" cy="9601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10287000" y="2057400"/>
            <a:ext cx="73152" cy="9601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5" name="node text 25"/>
          <p:cNvSpPr txBox="1"/>
          <p:nvPr/>
        </p:nvSpPr>
        <p:spPr>
          <a:xfrm>
            <a:off x="10360152" y="2057400"/>
            <a:ext cx="1344168" cy="9601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callModel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发送 API 请求</a:t>
            </a:r>
            <a:endParaRPr lang="zh-CN" sz="1100"/>
          </a:p>
        </p:txBody>
      </p:sp>
      <p:cxnSp>
        <p:nvCxnSpPr>
          <p:cNvPr id="26" name="arrow 26"/>
          <p:cNvCxnSpPr/>
          <p:nvPr/>
        </p:nvCxnSpPr>
        <p:spPr>
          <a:xfrm>
            <a:off x="2103120" y="2542032"/>
            <a:ext cx="36576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27" name="arrow 27"/>
          <p:cNvCxnSpPr/>
          <p:nvPr/>
        </p:nvCxnSpPr>
        <p:spPr>
          <a:xfrm>
            <a:off x="4114800" y="2542032"/>
            <a:ext cx="41148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28" name="arrow 28"/>
          <p:cNvCxnSpPr/>
          <p:nvPr/>
        </p:nvCxnSpPr>
        <p:spPr>
          <a:xfrm>
            <a:off x="6172200" y="2542032"/>
            <a:ext cx="45720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29" name="arrow 29"/>
          <p:cNvCxnSpPr/>
          <p:nvPr/>
        </p:nvCxnSpPr>
        <p:spPr>
          <a:xfrm>
            <a:off x="8275320" y="2542032"/>
            <a:ext cx="27431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30" name="arrow 30"/>
          <p:cNvCxnSpPr/>
          <p:nvPr/>
        </p:nvCxnSpPr>
        <p:spPr>
          <a:xfrm>
            <a:off x="10195560" y="2542032"/>
            <a:ext cx="9143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31" name="rect 31"/>
          <p:cNvSpPr/>
          <p:nvPr/>
        </p:nvSpPr>
        <p:spPr>
          <a:xfrm>
            <a:off x="2468880" y="3886200"/>
            <a:ext cx="1645920" cy="65836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32" name="rect 32"/>
          <p:cNvSpPr/>
          <p:nvPr/>
        </p:nvSpPr>
        <p:spPr>
          <a:xfrm>
            <a:off x="2468880" y="3886200"/>
            <a:ext cx="73152" cy="658368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33" name="node text 33"/>
          <p:cNvSpPr txBox="1"/>
          <p:nvPr/>
        </p:nvSpPr>
        <p:spPr>
          <a:xfrm>
            <a:off x="2542032" y="388620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currentDate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当前日期</a:t>
            </a:r>
            <a:endParaRPr lang="zh-CN" sz="1100"/>
          </a:p>
        </p:txBody>
      </p:sp>
      <p:cxnSp>
        <p:nvCxnSpPr>
          <p:cNvPr id="34" name="arrow 34"/>
          <p:cNvCxnSpPr/>
          <p:nvPr/>
        </p:nvCxnSpPr>
        <p:spPr>
          <a:xfrm flipV="1">
            <a:off x="3291840" y="3017520"/>
            <a:ext cx="1" cy="868680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35" name="decision 35"/>
          <p:cNvSpPr/>
          <p:nvPr/>
        </p:nvSpPr>
        <p:spPr>
          <a:xfrm>
            <a:off x="4526280" y="3657600"/>
            <a:ext cx="1645920" cy="960120"/>
          </a:xfrm>
          <a:prstGeom prst="diamond">
            <a:avLst/>
          </a:prstGeom>
          <a:solidFill>
            <a:srgbClr val="F7E7DD"/>
          </a:solidFill>
          <a:ln w="12000">
            <a:solidFill>
              <a:srgbClr val="A84F35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--bare 或环境变量
禁用 CLAUDE.md？</a:t>
            </a:r>
            <a:endParaRPr lang="zh-CN" sz="1300"/>
          </a:p>
        </p:txBody>
      </p:sp>
      <p:cxnSp>
        <p:nvCxnSpPr>
          <p:cNvPr id="36" name="arrow 36"/>
          <p:cNvCxnSpPr/>
          <p:nvPr/>
        </p:nvCxnSpPr>
        <p:spPr>
          <a:xfrm flipV="1">
            <a:off x="5349240" y="3017520"/>
            <a:ext cx="1" cy="640080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37" name="text 37"/>
          <p:cNvSpPr txBox="1"/>
          <p:nvPr/>
        </p:nvSpPr>
        <p:spPr>
          <a:xfrm>
            <a:off x="5623560" y="33101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9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lang="zh-CN" sz="900"/>
          </a:p>
        </p:txBody>
      </p:sp>
      <p:cxnSp>
        <p:nvCxnSpPr>
          <p:cNvPr id="38" name="arrow 38"/>
          <p:cNvCxnSpPr/>
          <p:nvPr/>
        </p:nvCxnSpPr>
        <p:spPr>
          <a:xfrm flipH="1">
            <a:off x="3794760" y="4133087"/>
            <a:ext cx="73151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39" name="text 39"/>
          <p:cNvSpPr txBox="1"/>
          <p:nvPr/>
        </p:nvSpPr>
        <p:spPr>
          <a:xfrm>
            <a:off x="3977639" y="385876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9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是</a:t>
            </a:r>
            <a:endParaRPr lang="zh-CN" sz="900"/>
          </a:p>
        </p:txBody>
      </p:sp>
      <p:sp>
        <p:nvSpPr>
          <p:cNvPr id="40" name="rect 40"/>
          <p:cNvSpPr/>
          <p:nvPr/>
        </p:nvSpPr>
        <p:spPr>
          <a:xfrm>
            <a:off x="731520" y="4709160"/>
            <a:ext cx="1920240" cy="65836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1" name="rect 41"/>
          <p:cNvSpPr/>
          <p:nvPr/>
        </p:nvSpPr>
        <p:spPr>
          <a:xfrm>
            <a:off x="731520" y="4709160"/>
            <a:ext cx="73152" cy="658368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42" name="node text 42"/>
          <p:cNvSpPr txBox="1"/>
          <p:nvPr/>
        </p:nvSpPr>
        <p:spPr>
          <a:xfrm>
            <a:off x="804672" y="4709160"/>
            <a:ext cx="1847088" cy="65836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只注入日期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不加载指令</a:t>
            </a:r>
            <a:endParaRPr lang="zh-CN" sz="1100"/>
          </a:p>
        </p:txBody>
      </p:sp>
      <p:cxnSp>
        <p:nvCxnSpPr>
          <p:cNvPr id="43" name="arrow 43"/>
          <p:cNvCxnSpPr/>
          <p:nvPr/>
        </p:nvCxnSpPr>
        <p:spPr>
          <a:xfrm flipV="1">
            <a:off x="2651760" y="2971800"/>
            <a:ext cx="5897879" cy="2057400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44" name="rect 44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5" name="rect 45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46" name="node text 46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类比支撑：MemGPT 2023：有限上下文窗口下的记忆分层与显式上下文管理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CLAUDE.md / rules 加载流程图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指令型记忆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40080" y="1325880"/>
            <a:ext cx="160020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40080" y="1325880"/>
            <a:ext cx="73152" cy="82296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713231" y="1325880"/>
            <a:ext cx="1527048" cy="82296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Managed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策略文件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2468880" y="1325880"/>
            <a:ext cx="160020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2468880" y="1325880"/>
            <a:ext cx="73152" cy="8229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2542032" y="1325880"/>
            <a:ext cx="1527048" cy="82296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User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全局指令</a:t>
            </a:r>
            <a:endParaRPr lang="zh-CN" sz="1200"/>
          </a:p>
        </p:txBody>
      </p:sp>
      <p:cxnSp>
        <p:nvCxnSpPr>
          <p:cNvPr id="14" name="arrow 14"/>
          <p:cNvCxnSpPr/>
          <p:nvPr/>
        </p:nvCxnSpPr>
        <p:spPr>
          <a:xfrm>
            <a:off x="2212848" y="1737360"/>
            <a:ext cx="256032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15" name="rect 15"/>
          <p:cNvSpPr/>
          <p:nvPr/>
        </p:nvSpPr>
        <p:spPr>
          <a:xfrm>
            <a:off x="4297680" y="1325880"/>
            <a:ext cx="160020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6" name="rect 16"/>
          <p:cNvSpPr/>
          <p:nvPr/>
        </p:nvSpPr>
        <p:spPr>
          <a:xfrm>
            <a:off x="4297680" y="1325880"/>
            <a:ext cx="73152" cy="8229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7" name="node text 17"/>
          <p:cNvSpPr txBox="1"/>
          <p:nvPr/>
        </p:nvSpPr>
        <p:spPr>
          <a:xfrm>
            <a:off x="4370832" y="1325880"/>
            <a:ext cx="1527048" cy="82296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Project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根目录到 CWD</a:t>
            </a:r>
            <a:endParaRPr lang="zh-CN" sz="1200"/>
          </a:p>
        </p:txBody>
      </p:sp>
      <p:cxnSp>
        <p:nvCxnSpPr>
          <p:cNvPr id="18" name="arrow 18"/>
          <p:cNvCxnSpPr/>
          <p:nvPr/>
        </p:nvCxnSpPr>
        <p:spPr>
          <a:xfrm>
            <a:off x="4041648" y="1737360"/>
            <a:ext cx="256032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19" name="rect 19"/>
          <p:cNvSpPr/>
          <p:nvPr/>
        </p:nvSpPr>
        <p:spPr>
          <a:xfrm>
            <a:off x="6126480" y="1325880"/>
            <a:ext cx="160020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0" name="rect 20"/>
          <p:cNvSpPr/>
          <p:nvPr/>
        </p:nvSpPr>
        <p:spPr>
          <a:xfrm>
            <a:off x="6126480" y="1325880"/>
            <a:ext cx="73152" cy="82296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21" name="node text 21"/>
          <p:cNvSpPr txBox="1"/>
          <p:nvPr/>
        </p:nvSpPr>
        <p:spPr>
          <a:xfrm>
            <a:off x="6199632" y="1325880"/>
            <a:ext cx="1527048" cy="82296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Local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CLAUDE.local.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md</a:t>
            </a:r>
            <a:endParaRPr lang="zh-CN" sz="1200"/>
          </a:p>
        </p:txBody>
      </p:sp>
      <p:cxnSp>
        <p:nvCxnSpPr>
          <p:cNvPr id="22" name="arrow 22"/>
          <p:cNvCxnSpPr/>
          <p:nvPr/>
        </p:nvCxnSpPr>
        <p:spPr>
          <a:xfrm>
            <a:off x="5870448" y="1737360"/>
            <a:ext cx="256032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23" name="rect 23"/>
          <p:cNvSpPr/>
          <p:nvPr/>
        </p:nvSpPr>
        <p:spPr>
          <a:xfrm>
            <a:off x="7955279" y="1325880"/>
            <a:ext cx="160020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7955279" y="1325880"/>
            <a:ext cx="73152" cy="82296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5" name="node text 25"/>
          <p:cNvSpPr txBox="1"/>
          <p:nvPr/>
        </p:nvSpPr>
        <p:spPr>
          <a:xfrm>
            <a:off x="8028431" y="1325880"/>
            <a:ext cx="1527048" cy="82296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--add-dir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显式目录</a:t>
            </a:r>
            <a:endParaRPr lang="zh-CN" sz="1200"/>
          </a:p>
        </p:txBody>
      </p:sp>
      <p:cxnSp>
        <p:nvCxnSpPr>
          <p:cNvPr id="26" name="arrow 26"/>
          <p:cNvCxnSpPr/>
          <p:nvPr/>
        </p:nvCxnSpPr>
        <p:spPr>
          <a:xfrm>
            <a:off x="7699248" y="1737360"/>
            <a:ext cx="256031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27" name="rect 27"/>
          <p:cNvSpPr/>
          <p:nvPr/>
        </p:nvSpPr>
        <p:spPr>
          <a:xfrm>
            <a:off x="9784080" y="1325880"/>
            <a:ext cx="1600200" cy="82296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9784080" y="1325880"/>
            <a:ext cx="73152" cy="8229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9" name="node text 29"/>
          <p:cNvSpPr txBox="1"/>
          <p:nvPr/>
        </p:nvSpPr>
        <p:spPr>
          <a:xfrm>
            <a:off x="9857232" y="1325880"/>
            <a:ext cx="1527048" cy="82296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AutoMem /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TeamMem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入口索引</a:t>
            </a:r>
            <a:endParaRPr lang="zh-CN" sz="1200"/>
          </a:p>
        </p:txBody>
      </p:sp>
      <p:cxnSp>
        <p:nvCxnSpPr>
          <p:cNvPr id="30" name="arrow 30"/>
          <p:cNvCxnSpPr/>
          <p:nvPr/>
        </p:nvCxnSpPr>
        <p:spPr>
          <a:xfrm>
            <a:off x="9528048" y="1737360"/>
            <a:ext cx="256031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31" name="rect 31"/>
          <p:cNvSpPr/>
          <p:nvPr/>
        </p:nvSpPr>
        <p:spPr>
          <a:xfrm>
            <a:off x="914400" y="3154680"/>
            <a:ext cx="2011680" cy="73152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2" name="rect 32"/>
          <p:cNvSpPr/>
          <p:nvPr/>
        </p:nvSpPr>
        <p:spPr>
          <a:xfrm>
            <a:off x="914400" y="3154680"/>
            <a:ext cx="73152" cy="7315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3" name="node text 33"/>
          <p:cNvSpPr txBox="1"/>
          <p:nvPr/>
        </p:nvSpPr>
        <p:spPr>
          <a:xfrm>
            <a:off x="987552" y="3154680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processMemoryFil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e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解析 include /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frontmatter</a:t>
            </a:r>
            <a:endParaRPr lang="zh-CN" sz="1100"/>
          </a:p>
        </p:txBody>
      </p:sp>
      <p:sp>
        <p:nvSpPr>
          <p:cNvPr id="34" name="rect 34"/>
          <p:cNvSpPr/>
          <p:nvPr/>
        </p:nvSpPr>
        <p:spPr>
          <a:xfrm>
            <a:off x="3520440" y="3154680"/>
            <a:ext cx="2011680" cy="73152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35" name="rect 35"/>
          <p:cNvSpPr/>
          <p:nvPr/>
        </p:nvSpPr>
        <p:spPr>
          <a:xfrm>
            <a:off x="3520440" y="3154680"/>
            <a:ext cx="73152" cy="73152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36" name="node text 36"/>
          <p:cNvSpPr txBox="1"/>
          <p:nvPr/>
        </p:nvSpPr>
        <p:spPr>
          <a:xfrm>
            <a:off x="3593592" y="3154680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processedPaths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去重</a:t>
            </a:r>
            <a:endParaRPr lang="zh-CN" sz="1200"/>
          </a:p>
        </p:txBody>
      </p:sp>
      <p:sp>
        <p:nvSpPr>
          <p:cNvPr id="37" name="rect 37"/>
          <p:cNvSpPr/>
          <p:nvPr/>
        </p:nvSpPr>
        <p:spPr>
          <a:xfrm>
            <a:off x="6126480" y="3154680"/>
            <a:ext cx="2011680" cy="73152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8" name="rect 38"/>
          <p:cNvSpPr/>
          <p:nvPr/>
        </p:nvSpPr>
        <p:spPr>
          <a:xfrm>
            <a:off x="6126480" y="3154680"/>
            <a:ext cx="73152" cy="73152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9" name="node text 39"/>
          <p:cNvSpPr txBox="1"/>
          <p:nvPr/>
        </p:nvSpPr>
        <p:spPr>
          <a:xfrm>
            <a:off x="6199632" y="3154680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filterInjected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按 gate 过滤索引</a:t>
            </a:r>
            <a:endParaRPr lang="zh-CN" sz="1100"/>
          </a:p>
        </p:txBody>
      </p:sp>
      <p:sp>
        <p:nvSpPr>
          <p:cNvPr id="40" name="rect 40"/>
          <p:cNvSpPr/>
          <p:nvPr/>
        </p:nvSpPr>
        <p:spPr>
          <a:xfrm>
            <a:off x="8732520" y="3154680"/>
            <a:ext cx="2011680" cy="73152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41" name="rect 41"/>
          <p:cNvSpPr/>
          <p:nvPr/>
        </p:nvSpPr>
        <p:spPr>
          <a:xfrm>
            <a:off x="8732520" y="3154680"/>
            <a:ext cx="73152" cy="73152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42" name="node text 42"/>
          <p:cNvSpPr txBox="1"/>
          <p:nvPr/>
        </p:nvSpPr>
        <p:spPr>
          <a:xfrm>
            <a:off x="8805672" y="3154680"/>
            <a:ext cx="1938528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getClaudeMds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生成 claudeMd 文本</a:t>
            </a:r>
            <a:endParaRPr lang="zh-CN" sz="1100"/>
          </a:p>
        </p:txBody>
      </p:sp>
      <p:cxnSp>
        <p:nvCxnSpPr>
          <p:cNvPr id="43" name="arrow 43"/>
          <p:cNvCxnSpPr/>
          <p:nvPr/>
        </p:nvCxnSpPr>
        <p:spPr>
          <a:xfrm flipH="1">
            <a:off x="1920240" y="2148840"/>
            <a:ext cx="320040" cy="1005840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44" name="arrow 44"/>
          <p:cNvCxnSpPr/>
          <p:nvPr/>
        </p:nvCxnSpPr>
        <p:spPr>
          <a:xfrm>
            <a:off x="2926080" y="3520440"/>
            <a:ext cx="59435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45" name="arrow 45"/>
          <p:cNvCxnSpPr/>
          <p:nvPr/>
        </p:nvCxnSpPr>
        <p:spPr>
          <a:xfrm>
            <a:off x="5532120" y="3520440"/>
            <a:ext cx="594360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46" name="arrow 46"/>
          <p:cNvCxnSpPr/>
          <p:nvPr/>
        </p:nvCxnSpPr>
        <p:spPr>
          <a:xfrm>
            <a:off x="8138160" y="3520440"/>
            <a:ext cx="594360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47" name="rect 47"/>
          <p:cNvSpPr/>
          <p:nvPr/>
        </p:nvSpPr>
        <p:spPr>
          <a:xfrm>
            <a:off x="3931920" y="4709160"/>
            <a:ext cx="4343400" cy="77724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48" name="rect 48"/>
          <p:cNvSpPr/>
          <p:nvPr/>
        </p:nvSpPr>
        <p:spPr>
          <a:xfrm>
            <a:off x="3931920" y="4709160"/>
            <a:ext cx="73152" cy="77724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49" name="node text 49"/>
          <p:cNvSpPr txBox="1"/>
          <p:nvPr/>
        </p:nvSpPr>
        <p:spPr>
          <a:xfrm>
            <a:off x="4005072" y="4709160"/>
            <a:ext cx="427024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InstructionsLoaded hook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只对 Managed/User/Project/Local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触发；AutoMem/TeamMem 另属记忆系统</a:t>
            </a:r>
            <a:endParaRPr lang="zh-CN" sz="1100"/>
          </a:p>
        </p:txBody>
      </p:sp>
      <p:cxnSp>
        <p:nvCxnSpPr>
          <p:cNvPr id="50" name="arrow 50"/>
          <p:cNvCxnSpPr/>
          <p:nvPr/>
        </p:nvCxnSpPr>
        <p:spPr>
          <a:xfrm>
            <a:off x="6080760" y="3886200"/>
            <a:ext cx="1" cy="822960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51" name="rect 51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52" name="rect 52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53" name="node text 53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类比支撑：MemGPT 2023：显式管理上下文；ReAct 2023：工具/环境信息进入推理循环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Auto-memory 长期记忆闭环流程图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长期记忆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40080" y="1371600"/>
            <a:ext cx="2011680" cy="77724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40080" y="1371600"/>
            <a:ext cx="73152" cy="77724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713231" y="1371600"/>
            <a:ext cx="193852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系统提示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给出记忆目录与写入协议</a:t>
            </a:r>
            <a:endParaRPr lang="zh-CN" sz="1200"/>
          </a:p>
        </p:txBody>
      </p:sp>
      <p:sp>
        <p:nvSpPr>
          <p:cNvPr id="11" name="rect 11"/>
          <p:cNvSpPr/>
          <p:nvPr/>
        </p:nvSpPr>
        <p:spPr>
          <a:xfrm>
            <a:off x="3246120" y="1371600"/>
            <a:ext cx="1920240" cy="77724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3246120" y="1371600"/>
            <a:ext cx="73152" cy="77724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3319272" y="1371600"/>
            <a:ext cx="184708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主 agent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显式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remember/forget</a:t>
            </a:r>
            <a:endParaRPr lang="zh-CN" sz="1200"/>
          </a:p>
        </p:txBody>
      </p:sp>
      <p:sp>
        <p:nvSpPr>
          <p:cNvPr id="14" name="rect 14"/>
          <p:cNvSpPr/>
          <p:nvPr/>
        </p:nvSpPr>
        <p:spPr>
          <a:xfrm>
            <a:off x="5760720" y="1371600"/>
            <a:ext cx="2057400" cy="77724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5760720" y="1371600"/>
            <a:ext cx="73152" cy="77724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5833872" y="1371600"/>
            <a:ext cx="198424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写主题文件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frontmatter + 内容</a:t>
            </a:r>
            <a:endParaRPr lang="zh-CN" sz="1200"/>
          </a:p>
        </p:txBody>
      </p:sp>
      <p:sp>
        <p:nvSpPr>
          <p:cNvPr id="17" name="rect 17"/>
          <p:cNvSpPr/>
          <p:nvPr/>
        </p:nvSpPr>
        <p:spPr>
          <a:xfrm>
            <a:off x="8458200" y="1371600"/>
            <a:ext cx="1920240" cy="77724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8458200" y="1371600"/>
            <a:ext cx="73152" cy="77724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8531352" y="1371600"/>
            <a:ext cx="184708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更新 MEMORY.md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轻量索引</a:t>
            </a:r>
            <a:endParaRPr lang="zh-CN" sz="1200"/>
          </a:p>
        </p:txBody>
      </p:sp>
      <p:cxnSp>
        <p:nvCxnSpPr>
          <p:cNvPr id="20" name="arrow 20"/>
          <p:cNvCxnSpPr/>
          <p:nvPr/>
        </p:nvCxnSpPr>
        <p:spPr>
          <a:xfrm>
            <a:off x="2651760" y="1755648"/>
            <a:ext cx="59435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5166360" y="1755648"/>
            <a:ext cx="59435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7818120" y="1755648"/>
            <a:ext cx="640079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3" name="rect 23"/>
          <p:cNvSpPr/>
          <p:nvPr/>
        </p:nvSpPr>
        <p:spPr>
          <a:xfrm>
            <a:off x="8458200" y="2971800"/>
            <a:ext cx="1920240" cy="77724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8458200" y="2971800"/>
            <a:ext cx="73152" cy="77724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25" name="node text 25"/>
          <p:cNvSpPr txBox="1"/>
          <p:nvPr/>
        </p:nvSpPr>
        <p:spPr>
          <a:xfrm>
            <a:off x="8531352" y="2971800"/>
            <a:ext cx="184708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下一轮启动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加载索引</a:t>
            </a:r>
            <a:endParaRPr lang="zh-CN" sz="1200"/>
          </a:p>
        </p:txBody>
      </p:sp>
      <p:cxnSp>
        <p:nvCxnSpPr>
          <p:cNvPr id="26" name="arrow 26"/>
          <p:cNvCxnSpPr/>
          <p:nvPr/>
        </p:nvCxnSpPr>
        <p:spPr>
          <a:xfrm>
            <a:off x="9418320" y="2148840"/>
            <a:ext cx="1" cy="822959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7" name="rect 27"/>
          <p:cNvSpPr/>
          <p:nvPr/>
        </p:nvSpPr>
        <p:spPr>
          <a:xfrm>
            <a:off x="5760720" y="2971800"/>
            <a:ext cx="2057400" cy="77724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8" name="rect 28"/>
          <p:cNvSpPr/>
          <p:nvPr/>
        </p:nvSpPr>
        <p:spPr>
          <a:xfrm>
            <a:off x="5760720" y="2971800"/>
            <a:ext cx="73152" cy="77724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9" name="node text 29"/>
          <p:cNvSpPr txBox="1"/>
          <p:nvPr/>
        </p:nvSpPr>
        <p:spPr>
          <a:xfrm>
            <a:off x="5833872" y="2971800"/>
            <a:ext cx="198424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动态召回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读取具体主题文件</a:t>
            </a:r>
            <a:endParaRPr lang="zh-CN" sz="1200"/>
          </a:p>
        </p:txBody>
      </p:sp>
      <p:cxnSp>
        <p:nvCxnSpPr>
          <p:cNvPr id="30" name="arrow 30"/>
          <p:cNvCxnSpPr/>
          <p:nvPr/>
        </p:nvCxnSpPr>
        <p:spPr>
          <a:xfrm flipH="1">
            <a:off x="7818120" y="3364992"/>
            <a:ext cx="64007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31" name="rect 31"/>
          <p:cNvSpPr/>
          <p:nvPr/>
        </p:nvSpPr>
        <p:spPr>
          <a:xfrm>
            <a:off x="3246120" y="2971800"/>
            <a:ext cx="1920240" cy="77724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2" name="rect 32"/>
          <p:cNvSpPr/>
          <p:nvPr/>
        </p:nvSpPr>
        <p:spPr>
          <a:xfrm>
            <a:off x="3246120" y="2971800"/>
            <a:ext cx="73152" cy="77724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3" name="node text 33"/>
          <p:cNvSpPr txBox="1"/>
          <p:nvPr/>
        </p:nvSpPr>
        <p:spPr>
          <a:xfrm>
            <a:off x="3319272" y="2971800"/>
            <a:ext cx="184708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上下文注入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future turns</a:t>
            </a:r>
            <a:endParaRPr lang="zh-CN" sz="1200"/>
          </a:p>
        </p:txBody>
      </p:sp>
      <p:cxnSp>
        <p:nvCxnSpPr>
          <p:cNvPr id="34" name="arrow 34"/>
          <p:cNvCxnSpPr/>
          <p:nvPr/>
        </p:nvCxnSpPr>
        <p:spPr>
          <a:xfrm flipH="1">
            <a:off x="5166360" y="3364992"/>
            <a:ext cx="59435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35" name="rect 35"/>
          <p:cNvSpPr/>
          <p:nvPr/>
        </p:nvSpPr>
        <p:spPr>
          <a:xfrm>
            <a:off x="640080" y="2971800"/>
            <a:ext cx="2011680" cy="77724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6" name="rect 36"/>
          <p:cNvSpPr/>
          <p:nvPr/>
        </p:nvSpPr>
        <p:spPr>
          <a:xfrm>
            <a:off x="640080" y="2971800"/>
            <a:ext cx="73152" cy="77724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7" name="node text 37"/>
          <p:cNvSpPr txBox="1"/>
          <p:nvPr/>
        </p:nvSpPr>
        <p:spPr>
          <a:xfrm>
            <a:off x="713231" y="2971800"/>
            <a:ext cx="1938528" cy="77724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模型行为改变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记住偏好/反馈</a:t>
            </a:r>
            <a:endParaRPr lang="zh-CN" sz="1200"/>
          </a:p>
        </p:txBody>
      </p:sp>
      <p:cxnSp>
        <p:nvCxnSpPr>
          <p:cNvPr id="38" name="arrow 38"/>
          <p:cNvCxnSpPr/>
          <p:nvPr/>
        </p:nvCxnSpPr>
        <p:spPr>
          <a:xfrm flipH="1">
            <a:off x="2651760" y="3364992"/>
            <a:ext cx="59435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39" name="rect 39"/>
          <p:cNvSpPr/>
          <p:nvPr/>
        </p:nvSpPr>
        <p:spPr>
          <a:xfrm>
            <a:off x="3794760" y="4754880"/>
            <a:ext cx="365760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40" name="rect 40"/>
          <p:cNvSpPr/>
          <p:nvPr/>
        </p:nvSpPr>
        <p:spPr>
          <a:xfrm>
            <a:off x="3794760" y="4754880"/>
            <a:ext cx="73152" cy="6858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41" name="node text 41"/>
          <p:cNvSpPr txBox="1"/>
          <p:nvPr/>
        </p:nvSpPr>
        <p:spPr>
          <a:xfrm>
            <a:off x="3867912" y="4754880"/>
            <a:ext cx="358444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若主 agent 没写：Extract Memories 在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stop hook 后补写</a:t>
            </a:r>
            <a:endParaRPr lang="zh-CN" sz="1100"/>
          </a:p>
        </p:txBody>
      </p:sp>
      <p:cxnSp>
        <p:nvCxnSpPr>
          <p:cNvPr id="42" name="arrow 42"/>
          <p:cNvCxnSpPr/>
          <p:nvPr/>
        </p:nvCxnSpPr>
        <p:spPr>
          <a:xfrm>
            <a:off x="4389120" y="3749039"/>
            <a:ext cx="685800" cy="1005840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43" name="rect 43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4" name="rect 44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45" name="node text 45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类比支撑：Generative Agents 2023：经验记录→反思→动态检索；MemoryBank 2023：长期用户记忆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Relevant memories 动态召回流程图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查询期检索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594360" y="1417320"/>
            <a:ext cx="1645920" cy="71323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594360" y="1417320"/>
            <a:ext cx="73152" cy="71323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667512" y="1417320"/>
            <a:ext cx="157276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用户 query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最后真实用户消息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2743200" y="1417320"/>
            <a:ext cx="1783080" cy="713232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2743200" y="1417320"/>
            <a:ext cx="73152" cy="71323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2816352" y="1417320"/>
            <a:ext cx="170992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startRelevant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MemoryPrefetch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5074920" y="1417320"/>
            <a:ext cx="1691640" cy="713232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5074920" y="1417320"/>
            <a:ext cx="73152" cy="71323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5148072" y="1417320"/>
            <a:ext cx="161848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scanMemoryFil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es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扫描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frontmatter</a:t>
            </a:r>
            <a:endParaRPr lang="zh-CN" sz="1100"/>
          </a:p>
        </p:txBody>
      </p:sp>
      <p:sp>
        <p:nvSpPr>
          <p:cNvPr id="17" name="rect 17"/>
          <p:cNvSpPr/>
          <p:nvPr/>
        </p:nvSpPr>
        <p:spPr>
          <a:xfrm>
            <a:off x="7269480" y="1417320"/>
            <a:ext cx="1691640" cy="71323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7269480" y="1417320"/>
            <a:ext cx="73152" cy="713232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7342631" y="1417320"/>
            <a:ext cx="161848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sideQuery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选择最多 5 个</a:t>
            </a:r>
            <a:endParaRPr lang="zh-CN" sz="1100"/>
          </a:p>
        </p:txBody>
      </p:sp>
      <p:sp>
        <p:nvSpPr>
          <p:cNvPr id="20" name="rect 20"/>
          <p:cNvSpPr/>
          <p:nvPr/>
        </p:nvSpPr>
        <p:spPr>
          <a:xfrm>
            <a:off x="9464040" y="1417320"/>
            <a:ext cx="1691640" cy="713232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9464040" y="1417320"/>
            <a:ext cx="73152" cy="713232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9537192" y="1417320"/>
            <a:ext cx="161848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readMemories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读取正文片段</a:t>
            </a:r>
            <a:endParaRPr lang="zh-CN" sz="1100"/>
          </a:p>
        </p:txBody>
      </p:sp>
      <p:cxnSp>
        <p:nvCxnSpPr>
          <p:cNvPr id="23" name="arrow 23"/>
          <p:cNvCxnSpPr/>
          <p:nvPr/>
        </p:nvCxnSpPr>
        <p:spPr>
          <a:xfrm>
            <a:off x="2240280" y="1773936"/>
            <a:ext cx="50291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4526280" y="1773936"/>
            <a:ext cx="54863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6766560" y="1773936"/>
            <a:ext cx="502919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cxnSp>
        <p:nvCxnSpPr>
          <p:cNvPr id="26" name="arrow 26"/>
          <p:cNvCxnSpPr/>
          <p:nvPr/>
        </p:nvCxnSpPr>
        <p:spPr>
          <a:xfrm>
            <a:off x="8961120" y="1773936"/>
            <a:ext cx="502919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7" name="decision 27"/>
          <p:cNvSpPr/>
          <p:nvPr/>
        </p:nvSpPr>
        <p:spPr>
          <a:xfrm>
            <a:off x="2743200" y="2926080"/>
            <a:ext cx="1600200" cy="960120"/>
          </a:xfrm>
          <a:prstGeom prst="diamond">
            <a:avLst/>
          </a:prstGeom>
          <a:solidFill>
            <a:srgbClr val="F7E7DD"/>
          </a:solidFill>
          <a:ln w="12000">
            <a:solidFill>
              <a:srgbClr val="A84F35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gate / poor / 单词 query / 60KB 上限</a:t>
            </a:r>
            <a:endParaRPr lang="zh-CN" sz="1300"/>
          </a:p>
        </p:txBody>
      </p:sp>
      <p:cxnSp>
        <p:nvCxnSpPr>
          <p:cNvPr id="28" name="arrow 28"/>
          <p:cNvCxnSpPr/>
          <p:nvPr/>
        </p:nvCxnSpPr>
        <p:spPr>
          <a:xfrm>
            <a:off x="3547872" y="2130552"/>
            <a:ext cx="1" cy="795528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29" name="text 29"/>
          <p:cNvSpPr txBox="1"/>
          <p:nvPr/>
        </p:nvSpPr>
        <p:spPr>
          <a:xfrm>
            <a:off x="3703320" y="250545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9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不满足则跳过</a:t>
            </a:r>
            <a:endParaRPr lang="zh-CN" sz="900"/>
          </a:p>
        </p:txBody>
      </p:sp>
      <p:sp>
        <p:nvSpPr>
          <p:cNvPr id="30" name="rect 30"/>
          <p:cNvSpPr/>
          <p:nvPr/>
        </p:nvSpPr>
        <p:spPr>
          <a:xfrm>
            <a:off x="5074920" y="3035808"/>
            <a:ext cx="1691640" cy="713232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31" name="rect 31"/>
          <p:cNvSpPr/>
          <p:nvPr/>
        </p:nvSpPr>
        <p:spPr>
          <a:xfrm>
            <a:off x="5074920" y="3035808"/>
            <a:ext cx="73152" cy="713232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32" name="node text 32"/>
          <p:cNvSpPr txBox="1"/>
          <p:nvPr/>
        </p:nvSpPr>
        <p:spPr>
          <a:xfrm>
            <a:off x="5148072" y="3035808"/>
            <a:ext cx="161848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去重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alreadySurfac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ed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readFileState</a:t>
            </a:r>
            <a:endParaRPr lang="zh-CN" sz="1000"/>
          </a:p>
        </p:txBody>
      </p:sp>
      <p:cxnSp>
        <p:nvCxnSpPr>
          <p:cNvPr id="33" name="arrow 33"/>
          <p:cNvCxnSpPr/>
          <p:nvPr/>
        </p:nvCxnSpPr>
        <p:spPr>
          <a:xfrm>
            <a:off x="4343400" y="3401568"/>
            <a:ext cx="73151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34" name="rect 34"/>
          <p:cNvSpPr/>
          <p:nvPr/>
        </p:nvSpPr>
        <p:spPr>
          <a:xfrm>
            <a:off x="7269480" y="3035808"/>
            <a:ext cx="1691640" cy="713232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5" name="rect 35"/>
          <p:cNvSpPr/>
          <p:nvPr/>
        </p:nvSpPr>
        <p:spPr>
          <a:xfrm>
            <a:off x="7269480" y="3035808"/>
            <a:ext cx="73152" cy="71323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6" name="node text 36"/>
          <p:cNvSpPr txBox="1"/>
          <p:nvPr/>
        </p:nvSpPr>
        <p:spPr>
          <a:xfrm>
            <a:off x="7342631" y="3035808"/>
            <a:ext cx="161848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attachment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relevant_memo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ries</a:t>
            </a:r>
            <a:endParaRPr lang="zh-CN" sz="1000"/>
          </a:p>
        </p:txBody>
      </p:sp>
      <p:cxnSp>
        <p:nvCxnSpPr>
          <p:cNvPr id="37" name="arrow 37"/>
          <p:cNvCxnSpPr/>
          <p:nvPr/>
        </p:nvCxnSpPr>
        <p:spPr>
          <a:xfrm>
            <a:off x="6766560" y="3401568"/>
            <a:ext cx="5029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38" name="rect 38"/>
          <p:cNvSpPr/>
          <p:nvPr/>
        </p:nvSpPr>
        <p:spPr>
          <a:xfrm>
            <a:off x="9464040" y="3035808"/>
            <a:ext cx="1691640" cy="71323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9" name="rect 39"/>
          <p:cNvSpPr/>
          <p:nvPr/>
        </p:nvSpPr>
        <p:spPr>
          <a:xfrm>
            <a:off x="9464040" y="3035808"/>
            <a:ext cx="73152" cy="71323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40" name="node text 40"/>
          <p:cNvSpPr txBox="1"/>
          <p:nvPr/>
        </p:nvSpPr>
        <p:spPr>
          <a:xfrm>
            <a:off x="9537192" y="3035808"/>
            <a:ext cx="161848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下一轮模型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获得相关记忆</a:t>
            </a:r>
            <a:endParaRPr lang="zh-CN" sz="1100"/>
          </a:p>
        </p:txBody>
      </p:sp>
      <p:cxnSp>
        <p:nvCxnSpPr>
          <p:cNvPr id="41" name="arrow 41"/>
          <p:cNvCxnSpPr/>
          <p:nvPr/>
        </p:nvCxnSpPr>
        <p:spPr>
          <a:xfrm>
            <a:off x="8961120" y="3401568"/>
            <a:ext cx="50291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42" name="rect 42"/>
          <p:cNvSpPr/>
          <p:nvPr/>
        </p:nvSpPr>
        <p:spPr>
          <a:xfrm>
            <a:off x="4572000" y="4754880"/>
            <a:ext cx="2926080" cy="59436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43" name="rect 43"/>
          <p:cNvSpPr/>
          <p:nvPr/>
        </p:nvSpPr>
        <p:spPr>
          <a:xfrm>
            <a:off x="4572000" y="4754880"/>
            <a:ext cx="73152" cy="59436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44" name="node text 44"/>
          <p:cNvSpPr txBox="1"/>
          <p:nvPr/>
        </p:nvSpPr>
        <p:spPr>
          <a:xfrm>
            <a:off x="4645152" y="4754880"/>
            <a:ext cx="2852928" cy="59436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prefetch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与主模型流式响应并行；消费点不等待未完成检索</a:t>
            </a:r>
            <a:endParaRPr lang="zh-CN" sz="1000"/>
          </a:p>
        </p:txBody>
      </p:sp>
      <p:cxnSp>
        <p:nvCxnSpPr>
          <p:cNvPr id="45" name="arrow 45"/>
          <p:cNvCxnSpPr/>
          <p:nvPr/>
        </p:nvCxnSpPr>
        <p:spPr>
          <a:xfrm>
            <a:off x="3611880" y="2130552"/>
            <a:ext cx="2423159" cy="2624328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46" name="rect 46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7" name="rect 47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48" name="node text 48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类比支撑：RAG 2020、RETRO 2022、LongMem 2023：外部/长期记忆通过检索选择后注入上下文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Extract Memories 后台沉淀流程图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turn end 写入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594360" y="1234440"/>
            <a:ext cx="169164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594360" y="123444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667512" y="1234440"/>
            <a:ext cx="16184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stop hook</a:t>
            </a:r>
            <a:endParaRPr lang="zh-CN" sz="1200"/>
          </a:p>
          <a:p>
            <a:pPr algn="ctr"/>
            <a:r>
              <a:rPr lang="zh-CN" sz="12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一轮结束</a:t>
            </a:r>
            <a:endParaRPr lang="zh-CN" sz="1200"/>
          </a:p>
        </p:txBody>
      </p:sp>
      <p:sp>
        <p:nvSpPr>
          <p:cNvPr id="11" name="decision 11"/>
          <p:cNvSpPr/>
          <p:nvPr/>
        </p:nvSpPr>
        <p:spPr>
          <a:xfrm>
            <a:off x="2788920" y="1097280"/>
            <a:ext cx="1600200" cy="960120"/>
          </a:xfrm>
          <a:prstGeom prst="diamond">
            <a:avLst/>
          </a:prstGeom>
          <a:solidFill>
            <a:srgbClr val="F7E7DD"/>
          </a:solidFill>
          <a:ln w="12000">
            <a:solidFill>
              <a:srgbClr val="A84F35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主 agent？
feature/gate？
非 poor/bare？</a:t>
            </a:r>
            <a:endParaRPr lang="zh-CN" sz="1300"/>
          </a:p>
        </p:txBody>
      </p:sp>
      <p:cxnSp>
        <p:nvCxnSpPr>
          <p:cNvPr id="12" name="arrow 12"/>
          <p:cNvCxnSpPr/>
          <p:nvPr/>
        </p:nvCxnSpPr>
        <p:spPr>
          <a:xfrm>
            <a:off x="2286000" y="1572768"/>
            <a:ext cx="50291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13" name="rect 13"/>
          <p:cNvSpPr/>
          <p:nvPr/>
        </p:nvSpPr>
        <p:spPr>
          <a:xfrm>
            <a:off x="4892040" y="1234440"/>
            <a:ext cx="173736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14" name="rect 14"/>
          <p:cNvSpPr/>
          <p:nvPr/>
        </p:nvSpPr>
        <p:spPr>
          <a:xfrm>
            <a:off x="4892040" y="1234440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15" name="node text 15"/>
          <p:cNvSpPr txBox="1"/>
          <p:nvPr/>
        </p:nvSpPr>
        <p:spPr>
          <a:xfrm>
            <a:off x="4965192" y="1234440"/>
            <a:ext cx="1664207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统计新消息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lastMemoryMess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ageUuid</a:t>
            </a:r>
            <a:endParaRPr lang="zh-CN" sz="1000"/>
          </a:p>
        </p:txBody>
      </p:sp>
      <p:cxnSp>
        <p:nvCxnSpPr>
          <p:cNvPr id="16" name="arrow 16"/>
          <p:cNvCxnSpPr/>
          <p:nvPr/>
        </p:nvCxnSpPr>
        <p:spPr>
          <a:xfrm>
            <a:off x="4389120" y="1572768"/>
            <a:ext cx="50291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17" name="decision 17"/>
          <p:cNvSpPr/>
          <p:nvPr/>
        </p:nvSpPr>
        <p:spPr>
          <a:xfrm>
            <a:off x="7086600" y="1097280"/>
            <a:ext cx="1600200" cy="960120"/>
          </a:xfrm>
          <a:prstGeom prst="diamond">
            <a:avLst/>
          </a:prstGeom>
          <a:solidFill>
            <a:srgbClr val="F7E7DD"/>
          </a:solidFill>
          <a:ln w="12000">
            <a:solidFill>
              <a:srgbClr val="A84F35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主 agent 已写
memory？</a:t>
            </a:r>
            <a:endParaRPr lang="zh-CN" sz="1300"/>
          </a:p>
        </p:txBody>
      </p:sp>
      <p:cxnSp>
        <p:nvCxnSpPr>
          <p:cNvPr id="18" name="arrow 18"/>
          <p:cNvCxnSpPr/>
          <p:nvPr/>
        </p:nvCxnSpPr>
        <p:spPr>
          <a:xfrm>
            <a:off x="6629400" y="1572768"/>
            <a:ext cx="457200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19" name="rect 19"/>
          <p:cNvSpPr/>
          <p:nvPr/>
        </p:nvSpPr>
        <p:spPr>
          <a:xfrm>
            <a:off x="9235440" y="868680"/>
            <a:ext cx="1874519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20" name="rect 20"/>
          <p:cNvSpPr/>
          <p:nvPr/>
        </p:nvSpPr>
        <p:spPr>
          <a:xfrm>
            <a:off x="9235440" y="868680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21" name="node text 21"/>
          <p:cNvSpPr txBox="1"/>
          <p:nvPr/>
        </p:nvSpPr>
        <p:spPr>
          <a:xfrm>
            <a:off x="9308592" y="868680"/>
            <a:ext cx="1801367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跳过后台写入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推进游标</a:t>
            </a:r>
            <a:endParaRPr lang="zh-CN" sz="1100"/>
          </a:p>
        </p:txBody>
      </p:sp>
      <p:cxnSp>
        <p:nvCxnSpPr>
          <p:cNvPr id="22" name="arrow 22"/>
          <p:cNvCxnSpPr/>
          <p:nvPr/>
        </p:nvCxnSpPr>
        <p:spPr>
          <a:xfrm flipV="1">
            <a:off x="8686800" y="1207008"/>
            <a:ext cx="548639" cy="16459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23" name="text 23"/>
          <p:cNvSpPr txBox="1"/>
          <p:nvPr/>
        </p:nvSpPr>
        <p:spPr>
          <a:xfrm>
            <a:off x="8732520" y="10058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9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是</a:t>
            </a:r>
            <a:endParaRPr lang="zh-CN" sz="900"/>
          </a:p>
        </p:txBody>
      </p:sp>
      <p:sp>
        <p:nvSpPr>
          <p:cNvPr id="24" name="rect 24"/>
          <p:cNvSpPr/>
          <p:nvPr/>
        </p:nvSpPr>
        <p:spPr>
          <a:xfrm>
            <a:off x="7086600" y="2743200"/>
            <a:ext cx="1600200" cy="64008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5" name="rect 25"/>
          <p:cNvSpPr/>
          <p:nvPr/>
        </p:nvSpPr>
        <p:spPr>
          <a:xfrm>
            <a:off x="7086600" y="2743200"/>
            <a:ext cx="73152" cy="64008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6" name="node text 26"/>
          <p:cNvSpPr txBox="1"/>
          <p:nvPr/>
        </p:nvSpPr>
        <p:spPr>
          <a:xfrm>
            <a:off x="7159752" y="2743200"/>
            <a:ext cx="1527048" cy="64008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scan manifest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预注入目录清单</a:t>
            </a:r>
            <a:endParaRPr lang="zh-CN" sz="1000"/>
          </a:p>
        </p:txBody>
      </p:sp>
      <p:cxnSp>
        <p:nvCxnSpPr>
          <p:cNvPr id="27" name="arrow 27"/>
          <p:cNvCxnSpPr/>
          <p:nvPr/>
        </p:nvCxnSpPr>
        <p:spPr>
          <a:xfrm>
            <a:off x="7882127" y="2057400"/>
            <a:ext cx="1" cy="685800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28" name="text 28"/>
          <p:cNvSpPr txBox="1"/>
          <p:nvPr/>
        </p:nvSpPr>
        <p:spPr>
          <a:xfrm>
            <a:off x="8046720" y="22677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900">
                <a:solidFill>
                  <a:srgbClr val="6F6761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lang="zh-CN" sz="900"/>
          </a:p>
        </p:txBody>
      </p:sp>
      <p:sp>
        <p:nvSpPr>
          <p:cNvPr id="29" name="rect 29"/>
          <p:cNvSpPr/>
          <p:nvPr/>
        </p:nvSpPr>
        <p:spPr>
          <a:xfrm>
            <a:off x="4892040" y="2743200"/>
            <a:ext cx="1737360" cy="64008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4892040" y="2743200"/>
            <a:ext cx="73152" cy="64008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1" name="node text 31"/>
          <p:cNvSpPr txBox="1"/>
          <p:nvPr/>
        </p:nvSpPr>
        <p:spPr>
          <a:xfrm>
            <a:off x="4965192" y="2743200"/>
            <a:ext cx="1664207" cy="64008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buildExtractPr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ompt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自动/团队记忆</a:t>
            </a:r>
            <a:endParaRPr lang="zh-CN" sz="1000"/>
          </a:p>
        </p:txBody>
      </p:sp>
      <p:cxnSp>
        <p:nvCxnSpPr>
          <p:cNvPr id="32" name="arrow 32"/>
          <p:cNvCxnSpPr/>
          <p:nvPr/>
        </p:nvCxnSpPr>
        <p:spPr>
          <a:xfrm flipH="1">
            <a:off x="6629400" y="3063240"/>
            <a:ext cx="45720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33" name="rect 33"/>
          <p:cNvSpPr/>
          <p:nvPr/>
        </p:nvSpPr>
        <p:spPr>
          <a:xfrm>
            <a:off x="2788920" y="2743200"/>
            <a:ext cx="1600200" cy="64008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4" name="rect 34"/>
          <p:cNvSpPr/>
          <p:nvPr/>
        </p:nvSpPr>
        <p:spPr>
          <a:xfrm>
            <a:off x="2788920" y="2743200"/>
            <a:ext cx="73152" cy="64008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5" name="node text 35"/>
          <p:cNvSpPr txBox="1"/>
          <p:nvPr/>
        </p:nvSpPr>
        <p:spPr>
          <a:xfrm>
            <a:off x="2862072" y="2743200"/>
            <a:ext cx="1527048" cy="64008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runForkedAgen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t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maxTurns=5</a:t>
            </a:r>
            <a:endParaRPr lang="zh-CN" sz="1000"/>
          </a:p>
        </p:txBody>
      </p:sp>
      <p:cxnSp>
        <p:nvCxnSpPr>
          <p:cNvPr id="36" name="arrow 36"/>
          <p:cNvCxnSpPr/>
          <p:nvPr/>
        </p:nvCxnSpPr>
        <p:spPr>
          <a:xfrm flipH="1">
            <a:off x="4389120" y="3063240"/>
            <a:ext cx="502919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37" name="rect 37"/>
          <p:cNvSpPr/>
          <p:nvPr/>
        </p:nvSpPr>
        <p:spPr>
          <a:xfrm>
            <a:off x="594360" y="2743200"/>
            <a:ext cx="1691640" cy="64008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8" name="rect 38"/>
          <p:cNvSpPr/>
          <p:nvPr/>
        </p:nvSpPr>
        <p:spPr>
          <a:xfrm>
            <a:off x="594360" y="2743200"/>
            <a:ext cx="73152" cy="64008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9" name="node text 39"/>
          <p:cNvSpPr txBox="1"/>
          <p:nvPr/>
        </p:nvSpPr>
        <p:spPr>
          <a:xfrm>
            <a:off x="667512" y="2743200"/>
            <a:ext cx="1618488" cy="64008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Write/Edit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限定记忆目录</a:t>
            </a:r>
            <a:endParaRPr lang="zh-CN" sz="1100"/>
          </a:p>
        </p:txBody>
      </p:sp>
      <p:cxnSp>
        <p:nvCxnSpPr>
          <p:cNvPr id="40" name="arrow 40"/>
          <p:cNvCxnSpPr/>
          <p:nvPr/>
        </p:nvCxnSpPr>
        <p:spPr>
          <a:xfrm flipH="1">
            <a:off x="2286000" y="3063240"/>
            <a:ext cx="502919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41" name="rect 41"/>
          <p:cNvSpPr/>
          <p:nvPr/>
        </p:nvSpPr>
        <p:spPr>
          <a:xfrm>
            <a:off x="594360" y="4251960"/>
            <a:ext cx="210312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2" name="rect 42"/>
          <p:cNvSpPr/>
          <p:nvPr/>
        </p:nvSpPr>
        <p:spPr>
          <a:xfrm>
            <a:off x="594360" y="4251960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43" name="node text 43"/>
          <p:cNvSpPr txBox="1"/>
          <p:nvPr/>
        </p:nvSpPr>
        <p:spPr>
          <a:xfrm>
            <a:off x="667512" y="4251960"/>
            <a:ext cx="2029967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writtenPaths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过滤 MEMORY.md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提示“已保存记忆”</a:t>
            </a:r>
            <a:endParaRPr lang="zh-CN" sz="1000"/>
          </a:p>
        </p:txBody>
      </p:sp>
      <p:cxnSp>
        <p:nvCxnSpPr>
          <p:cNvPr id="44" name="arrow 44"/>
          <p:cNvCxnSpPr/>
          <p:nvPr/>
        </p:nvCxnSpPr>
        <p:spPr>
          <a:xfrm>
            <a:off x="1444752" y="3383280"/>
            <a:ext cx="1" cy="868680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45" name="rect 45"/>
          <p:cNvSpPr/>
          <p:nvPr/>
        </p:nvSpPr>
        <p:spPr>
          <a:xfrm>
            <a:off x="4206240" y="4251960"/>
            <a:ext cx="246888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46" name="rect 46"/>
          <p:cNvSpPr/>
          <p:nvPr/>
        </p:nvSpPr>
        <p:spPr>
          <a:xfrm>
            <a:off x="4206240" y="4251960"/>
            <a:ext cx="73152" cy="6858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47" name="node text 47"/>
          <p:cNvSpPr txBox="1"/>
          <p:nvPr/>
        </p:nvSpPr>
        <p:spPr>
          <a:xfrm>
            <a:off x="4279392" y="4251960"/>
            <a:ext cx="239572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inProgress 时暂存最新上下文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结束后 trailing run</a:t>
            </a:r>
            <a:endParaRPr lang="zh-CN" sz="1000"/>
          </a:p>
        </p:txBody>
      </p:sp>
      <p:cxnSp>
        <p:nvCxnSpPr>
          <p:cNvPr id="48" name="arrow 48"/>
          <p:cNvCxnSpPr/>
          <p:nvPr/>
        </p:nvCxnSpPr>
        <p:spPr>
          <a:xfrm>
            <a:off x="2788920" y="3337560"/>
            <a:ext cx="1417319" cy="1252727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49" name="rect 49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50" name="rect 50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51" name="node text 51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类比支撑：Reflexion 2023：语言反思写入 episodic memory；Generative Agents 2023：经验沉淀为可检索记忆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Session Memory 与 Compact 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会话摘要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594360" y="1325880"/>
            <a:ext cx="169164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594360" y="132588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667512" y="1325880"/>
            <a:ext cx="16184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post-sampling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hook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主 REPL 线程</a:t>
            </a:r>
            <a:endParaRPr lang="zh-CN" sz="1100"/>
          </a:p>
        </p:txBody>
      </p:sp>
      <p:sp>
        <p:nvSpPr>
          <p:cNvPr id="11" name="decision 11"/>
          <p:cNvSpPr/>
          <p:nvPr/>
        </p:nvSpPr>
        <p:spPr>
          <a:xfrm>
            <a:off x="2788920" y="1188720"/>
            <a:ext cx="1691640" cy="960120"/>
          </a:xfrm>
          <a:prstGeom prst="diamond">
            <a:avLst/>
          </a:prstGeom>
          <a:solidFill>
            <a:srgbClr val="F7E7DD"/>
          </a:solidFill>
          <a:ln w="12000">
            <a:solidFill>
              <a:srgbClr val="A84F35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auto compact
与 gate 开启？</a:t>
            </a:r>
            <a:endParaRPr lang="zh-CN" sz="1300"/>
          </a:p>
        </p:txBody>
      </p:sp>
      <p:cxnSp>
        <p:nvCxnSpPr>
          <p:cNvPr id="12" name="arrow 12"/>
          <p:cNvCxnSpPr/>
          <p:nvPr/>
        </p:nvCxnSpPr>
        <p:spPr>
          <a:xfrm>
            <a:off x="2286000" y="1664208"/>
            <a:ext cx="50291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13" name="rect 13"/>
          <p:cNvSpPr/>
          <p:nvPr/>
        </p:nvSpPr>
        <p:spPr>
          <a:xfrm>
            <a:off x="4983480" y="1325880"/>
            <a:ext cx="182880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4" name="rect 14"/>
          <p:cNvSpPr/>
          <p:nvPr/>
        </p:nvSpPr>
        <p:spPr>
          <a:xfrm>
            <a:off x="4983480" y="132588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5" name="node text 15"/>
          <p:cNvSpPr txBox="1"/>
          <p:nvPr/>
        </p:nvSpPr>
        <p:spPr>
          <a:xfrm>
            <a:off x="5056632" y="1325880"/>
            <a:ext cx="175564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shouldExtract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Token / 工具调用阈值</a:t>
            </a:r>
            <a:endParaRPr lang="zh-CN" sz="1000"/>
          </a:p>
        </p:txBody>
      </p:sp>
      <p:cxnSp>
        <p:nvCxnSpPr>
          <p:cNvPr id="16" name="arrow 16"/>
          <p:cNvCxnSpPr/>
          <p:nvPr/>
        </p:nvCxnSpPr>
        <p:spPr>
          <a:xfrm>
            <a:off x="4480560" y="1664208"/>
            <a:ext cx="5029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17" name="rect 17"/>
          <p:cNvSpPr/>
          <p:nvPr/>
        </p:nvSpPr>
        <p:spPr>
          <a:xfrm>
            <a:off x="7315200" y="1325880"/>
            <a:ext cx="178308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7315200" y="1325880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7388352" y="132588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setup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summary.md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0700 / 0600</a:t>
            </a:r>
            <a:endParaRPr lang="zh-CN" sz="1100"/>
          </a:p>
        </p:txBody>
      </p:sp>
      <p:cxnSp>
        <p:nvCxnSpPr>
          <p:cNvPr id="20" name="arrow 20"/>
          <p:cNvCxnSpPr/>
          <p:nvPr/>
        </p:nvCxnSpPr>
        <p:spPr>
          <a:xfrm>
            <a:off x="6812280" y="1664208"/>
            <a:ext cx="50291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21" name="rect 21"/>
          <p:cNvSpPr/>
          <p:nvPr/>
        </p:nvSpPr>
        <p:spPr>
          <a:xfrm>
            <a:off x="9646920" y="1325880"/>
            <a:ext cx="178308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2" name="rect 22"/>
          <p:cNvSpPr/>
          <p:nvPr/>
        </p:nvSpPr>
        <p:spPr>
          <a:xfrm>
            <a:off x="9646920" y="132588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3" name="node text 23"/>
          <p:cNvSpPr txBox="1"/>
          <p:nvPr/>
        </p:nvSpPr>
        <p:spPr>
          <a:xfrm>
            <a:off x="9720072" y="132588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forked agent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只允许 Edit 此文件</a:t>
            </a:r>
            <a:endParaRPr lang="zh-CN" sz="1100"/>
          </a:p>
        </p:txBody>
      </p:sp>
      <p:cxnSp>
        <p:nvCxnSpPr>
          <p:cNvPr id="24" name="arrow 24"/>
          <p:cNvCxnSpPr/>
          <p:nvPr/>
        </p:nvCxnSpPr>
        <p:spPr>
          <a:xfrm>
            <a:off x="9098280" y="1664208"/>
            <a:ext cx="548640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5" name="rect 25"/>
          <p:cNvSpPr/>
          <p:nvPr/>
        </p:nvSpPr>
        <p:spPr>
          <a:xfrm>
            <a:off x="9646920" y="3063240"/>
            <a:ext cx="178308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6" name="rect 26"/>
          <p:cNvSpPr/>
          <p:nvPr/>
        </p:nvSpPr>
        <p:spPr>
          <a:xfrm>
            <a:off x="9646920" y="306324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7" name="node text 27"/>
          <p:cNvSpPr txBox="1"/>
          <p:nvPr/>
        </p:nvSpPr>
        <p:spPr>
          <a:xfrm>
            <a:off x="9720072" y="306324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更新 summary.md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记录当前会话状态</a:t>
            </a:r>
            <a:endParaRPr lang="zh-CN" sz="1100"/>
          </a:p>
        </p:txBody>
      </p:sp>
      <p:cxnSp>
        <p:nvCxnSpPr>
          <p:cNvPr id="28" name="arrow 28"/>
          <p:cNvCxnSpPr/>
          <p:nvPr/>
        </p:nvCxnSpPr>
        <p:spPr>
          <a:xfrm>
            <a:off x="10533888" y="2011680"/>
            <a:ext cx="1" cy="1051560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9" name="rect 29"/>
          <p:cNvSpPr/>
          <p:nvPr/>
        </p:nvSpPr>
        <p:spPr>
          <a:xfrm>
            <a:off x="7315200" y="3063240"/>
            <a:ext cx="178308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7315200" y="306324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1" name="node text 31"/>
          <p:cNvSpPr txBox="1"/>
          <p:nvPr/>
        </p:nvSpPr>
        <p:spPr>
          <a:xfrm>
            <a:off x="7388352" y="3063240"/>
            <a:ext cx="170992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/summary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手动读取/触发</a:t>
            </a:r>
            <a:endParaRPr lang="zh-CN" sz="1100"/>
          </a:p>
        </p:txBody>
      </p:sp>
      <p:cxnSp>
        <p:nvCxnSpPr>
          <p:cNvPr id="32" name="arrow 32"/>
          <p:cNvCxnSpPr/>
          <p:nvPr/>
        </p:nvCxnSpPr>
        <p:spPr>
          <a:xfrm flipH="1">
            <a:off x="9098280" y="3401568"/>
            <a:ext cx="54864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33" name="rect 33"/>
          <p:cNvSpPr/>
          <p:nvPr/>
        </p:nvSpPr>
        <p:spPr>
          <a:xfrm>
            <a:off x="4983480" y="3063240"/>
            <a:ext cx="182880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4" name="rect 34"/>
          <p:cNvSpPr/>
          <p:nvPr/>
        </p:nvSpPr>
        <p:spPr>
          <a:xfrm>
            <a:off x="4983480" y="3063240"/>
            <a:ext cx="73152" cy="6858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5" name="node text 35"/>
          <p:cNvSpPr txBox="1"/>
          <p:nvPr/>
        </p:nvSpPr>
        <p:spPr>
          <a:xfrm>
            <a:off x="5056632" y="3063240"/>
            <a:ext cx="175564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compact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保留摘要信息</a:t>
            </a:r>
            <a:endParaRPr lang="zh-CN" sz="1100"/>
          </a:p>
        </p:txBody>
      </p:sp>
      <p:cxnSp>
        <p:nvCxnSpPr>
          <p:cNvPr id="36" name="arrow 36"/>
          <p:cNvCxnSpPr/>
          <p:nvPr/>
        </p:nvCxnSpPr>
        <p:spPr>
          <a:xfrm flipH="1">
            <a:off x="6812280" y="3401568"/>
            <a:ext cx="502919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37" name="rect 37"/>
          <p:cNvSpPr/>
          <p:nvPr/>
        </p:nvSpPr>
        <p:spPr>
          <a:xfrm>
            <a:off x="2377440" y="3063240"/>
            <a:ext cx="205740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38" name="rect 38"/>
          <p:cNvSpPr/>
          <p:nvPr/>
        </p:nvSpPr>
        <p:spPr>
          <a:xfrm>
            <a:off x="2377440" y="306324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9" name="node text 39"/>
          <p:cNvSpPr txBox="1"/>
          <p:nvPr/>
        </p:nvSpPr>
        <p:spPr>
          <a:xfrm>
            <a:off x="2450592" y="306324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下一段对话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用摘要维持连续性</a:t>
            </a:r>
            <a:endParaRPr lang="zh-CN" sz="1100"/>
          </a:p>
        </p:txBody>
      </p:sp>
      <p:cxnSp>
        <p:nvCxnSpPr>
          <p:cNvPr id="40" name="arrow 40"/>
          <p:cNvCxnSpPr/>
          <p:nvPr/>
        </p:nvCxnSpPr>
        <p:spPr>
          <a:xfrm flipH="1">
            <a:off x="4434840" y="3401568"/>
            <a:ext cx="548640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41" name="rect 41"/>
          <p:cNvSpPr/>
          <p:nvPr/>
        </p:nvSpPr>
        <p:spPr>
          <a:xfrm>
            <a:off x="640080" y="4526280"/>
            <a:ext cx="2194560" cy="65836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2" name="rect 42"/>
          <p:cNvSpPr/>
          <p:nvPr/>
        </p:nvSpPr>
        <p:spPr>
          <a:xfrm>
            <a:off x="640080" y="4526280"/>
            <a:ext cx="73152" cy="658368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43" name="node text 43"/>
          <p:cNvSpPr txBox="1"/>
          <p:nvPr/>
        </p:nvSpPr>
        <p:spPr>
          <a:xfrm>
            <a:off x="713231" y="4526280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不是长期记忆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作用域仅当前 session</a:t>
            </a:r>
            <a:endParaRPr lang="zh-CN" sz="1100"/>
          </a:p>
        </p:txBody>
      </p:sp>
      <p:cxnSp>
        <p:nvCxnSpPr>
          <p:cNvPr id="44" name="arrow 44"/>
          <p:cNvCxnSpPr/>
          <p:nvPr/>
        </p:nvCxnSpPr>
        <p:spPr>
          <a:xfrm flipH="1">
            <a:off x="1965960" y="3749039"/>
            <a:ext cx="1097280" cy="777240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45" name="rect 45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6" name="rect 46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47" name="node text 47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类比支撑：MemGPT 2023：虚拟上下文管理；Generative Agents 2023：定期反思/摘要促进后续行为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Team / Agent Memory 作用域路由流程图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作用域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731520" y="1143000"/>
            <a:ext cx="1828800" cy="73152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731520" y="1143000"/>
            <a:ext cx="73152" cy="73152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804672" y="1143000"/>
            <a:ext cx="1755648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2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记忆写入或召回请求</a:t>
            </a:r>
            <a:endParaRPr lang="zh-CN" sz="1200"/>
          </a:p>
        </p:txBody>
      </p:sp>
      <p:sp>
        <p:nvSpPr>
          <p:cNvPr id="11" name="decision 11"/>
          <p:cNvSpPr/>
          <p:nvPr/>
        </p:nvSpPr>
        <p:spPr>
          <a:xfrm>
            <a:off x="3063240" y="1005840"/>
            <a:ext cx="1645920" cy="960120"/>
          </a:xfrm>
          <a:prstGeom prst="diamond">
            <a:avLst/>
          </a:prstGeom>
          <a:solidFill>
            <a:srgbClr val="F7E7DD"/>
          </a:solidFill>
          <a:ln w="12000">
            <a:solidFill>
              <a:srgbClr val="A84F35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属于哪种
作用域？</a:t>
            </a:r>
            <a:endParaRPr lang="zh-CN" sz="1300"/>
          </a:p>
        </p:txBody>
      </p:sp>
      <p:cxnSp>
        <p:nvCxnSpPr>
          <p:cNvPr id="12" name="arrow 12"/>
          <p:cNvCxnSpPr/>
          <p:nvPr/>
        </p:nvCxnSpPr>
        <p:spPr>
          <a:xfrm>
            <a:off x="2560320" y="1508760"/>
            <a:ext cx="50292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13" name="rect 13"/>
          <p:cNvSpPr/>
          <p:nvPr/>
        </p:nvSpPr>
        <p:spPr>
          <a:xfrm>
            <a:off x="5486400" y="822960"/>
            <a:ext cx="210312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4" name="rect 14"/>
          <p:cNvSpPr/>
          <p:nvPr/>
        </p:nvSpPr>
        <p:spPr>
          <a:xfrm>
            <a:off x="5486400" y="82296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5" name="node text 15"/>
          <p:cNvSpPr txBox="1"/>
          <p:nvPr/>
        </p:nvSpPr>
        <p:spPr>
          <a:xfrm>
            <a:off x="5559552" y="822960"/>
            <a:ext cx="2029967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个人 AutoMem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&lt;project&gt;/memory/</a:t>
            </a:r>
            <a:endParaRPr lang="zh-CN" sz="1100"/>
          </a:p>
        </p:txBody>
      </p:sp>
      <p:sp>
        <p:nvSpPr>
          <p:cNvPr id="16" name="rect 16"/>
          <p:cNvSpPr/>
          <p:nvPr/>
        </p:nvSpPr>
        <p:spPr>
          <a:xfrm>
            <a:off x="5486400" y="1874519"/>
            <a:ext cx="210312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7" name="rect 17"/>
          <p:cNvSpPr/>
          <p:nvPr/>
        </p:nvSpPr>
        <p:spPr>
          <a:xfrm>
            <a:off x="5486400" y="1874519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8" name="node text 18"/>
          <p:cNvSpPr txBox="1"/>
          <p:nvPr/>
        </p:nvSpPr>
        <p:spPr>
          <a:xfrm>
            <a:off x="5559552" y="1874519"/>
            <a:ext cx="2029967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团队 TeamMem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&lt;memory&gt;/team/</a:t>
            </a:r>
            <a:endParaRPr lang="zh-CN" sz="1100"/>
          </a:p>
        </p:txBody>
      </p:sp>
      <p:sp>
        <p:nvSpPr>
          <p:cNvPr id="19" name="rect 19"/>
          <p:cNvSpPr/>
          <p:nvPr/>
        </p:nvSpPr>
        <p:spPr>
          <a:xfrm>
            <a:off x="5486400" y="2926080"/>
            <a:ext cx="210312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0" name="rect 20"/>
          <p:cNvSpPr/>
          <p:nvPr/>
        </p:nvSpPr>
        <p:spPr>
          <a:xfrm>
            <a:off x="5486400" y="292608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1" name="node text 21"/>
          <p:cNvSpPr txBox="1"/>
          <p:nvPr/>
        </p:nvSpPr>
        <p:spPr>
          <a:xfrm>
            <a:off x="5559552" y="2926080"/>
            <a:ext cx="2029967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Agent Memory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user/project/loca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l</a:t>
            </a:r>
            <a:endParaRPr lang="zh-CN" sz="1100"/>
          </a:p>
        </p:txBody>
      </p:sp>
      <p:cxnSp>
        <p:nvCxnSpPr>
          <p:cNvPr id="22" name="arrow 22"/>
          <p:cNvCxnSpPr/>
          <p:nvPr/>
        </p:nvCxnSpPr>
        <p:spPr>
          <a:xfrm flipV="1">
            <a:off x="4709160" y="1170432"/>
            <a:ext cx="777239" cy="155447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23" name="arrow 23"/>
          <p:cNvCxnSpPr/>
          <p:nvPr/>
        </p:nvCxnSpPr>
        <p:spPr>
          <a:xfrm>
            <a:off x="4709160" y="1508760"/>
            <a:ext cx="777239" cy="713232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4709160" y="1691640"/>
            <a:ext cx="777239" cy="1581912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5" name="rect 25"/>
          <p:cNvSpPr/>
          <p:nvPr/>
        </p:nvSpPr>
        <p:spPr>
          <a:xfrm>
            <a:off x="8321040" y="822960"/>
            <a:ext cx="224028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6" name="rect 26"/>
          <p:cNvSpPr/>
          <p:nvPr/>
        </p:nvSpPr>
        <p:spPr>
          <a:xfrm>
            <a:off x="8321040" y="82296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7" name="node text 27"/>
          <p:cNvSpPr txBox="1"/>
          <p:nvPr/>
        </p:nvSpPr>
        <p:spPr>
          <a:xfrm>
            <a:off x="8394192" y="822960"/>
            <a:ext cx="216712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getClaudeMds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作为用户上下文</a:t>
            </a:r>
            <a:endParaRPr lang="zh-CN" sz="1100"/>
          </a:p>
        </p:txBody>
      </p:sp>
      <p:sp>
        <p:nvSpPr>
          <p:cNvPr id="28" name="rect 28"/>
          <p:cNvSpPr/>
          <p:nvPr/>
        </p:nvSpPr>
        <p:spPr>
          <a:xfrm>
            <a:off x="8321040" y="1874519"/>
            <a:ext cx="224028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29" name="rect 29"/>
          <p:cNvSpPr/>
          <p:nvPr/>
        </p:nvSpPr>
        <p:spPr>
          <a:xfrm>
            <a:off x="8321040" y="1874519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0" name="node text 30"/>
          <p:cNvSpPr txBox="1"/>
          <p:nvPr/>
        </p:nvSpPr>
        <p:spPr>
          <a:xfrm>
            <a:off x="8394192" y="1874519"/>
            <a:ext cx="216712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&lt;team-memory-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content&gt;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共享标记</a:t>
            </a:r>
            <a:endParaRPr lang="zh-CN" sz="1000"/>
          </a:p>
        </p:txBody>
      </p:sp>
      <p:sp>
        <p:nvSpPr>
          <p:cNvPr id="31" name="rect 31"/>
          <p:cNvSpPr/>
          <p:nvPr/>
        </p:nvSpPr>
        <p:spPr>
          <a:xfrm>
            <a:off x="8321040" y="2926080"/>
            <a:ext cx="224028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2" name="rect 32"/>
          <p:cNvSpPr/>
          <p:nvPr/>
        </p:nvSpPr>
        <p:spPr>
          <a:xfrm>
            <a:off x="8321040" y="292608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3" name="node text 33"/>
          <p:cNvSpPr txBox="1"/>
          <p:nvPr/>
        </p:nvSpPr>
        <p:spPr>
          <a:xfrm>
            <a:off x="8394192" y="2926080"/>
            <a:ext cx="216712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loadAgentMemoryPro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mpt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仅给对应 agent</a:t>
            </a:r>
            <a:endParaRPr lang="zh-CN" sz="1000"/>
          </a:p>
        </p:txBody>
      </p:sp>
      <p:cxnSp>
        <p:nvCxnSpPr>
          <p:cNvPr id="34" name="arrow 34"/>
          <p:cNvCxnSpPr/>
          <p:nvPr/>
        </p:nvCxnSpPr>
        <p:spPr>
          <a:xfrm>
            <a:off x="7589520" y="1170432"/>
            <a:ext cx="731519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cxnSp>
        <p:nvCxnSpPr>
          <p:cNvPr id="35" name="arrow 35"/>
          <p:cNvCxnSpPr/>
          <p:nvPr/>
        </p:nvCxnSpPr>
        <p:spPr>
          <a:xfrm>
            <a:off x="7589520" y="2221992"/>
            <a:ext cx="7315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36" name="arrow 36"/>
          <p:cNvCxnSpPr/>
          <p:nvPr/>
        </p:nvCxnSpPr>
        <p:spPr>
          <a:xfrm>
            <a:off x="7589520" y="3273552"/>
            <a:ext cx="731519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37" name="rect 37"/>
          <p:cNvSpPr/>
          <p:nvPr/>
        </p:nvSpPr>
        <p:spPr>
          <a:xfrm>
            <a:off x="3063240" y="4572000"/>
            <a:ext cx="4572000" cy="65836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38" name="rect 38"/>
          <p:cNvSpPr/>
          <p:nvPr/>
        </p:nvSpPr>
        <p:spPr>
          <a:xfrm>
            <a:off x="3063240" y="4572000"/>
            <a:ext cx="73152" cy="658368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39" name="node text 39"/>
          <p:cNvSpPr txBox="1"/>
          <p:nvPr/>
        </p:nvSpPr>
        <p:spPr>
          <a:xfrm>
            <a:off x="3136392" y="4572000"/>
            <a:ext cx="4498848" cy="65836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路径校验：resolve / realpath / sanitize /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作用域前缀</a:t>
            </a:r>
            <a:endParaRPr lang="zh-CN" sz="1100"/>
          </a:p>
        </p:txBody>
      </p:sp>
      <p:cxnSp>
        <p:nvCxnSpPr>
          <p:cNvPr id="40" name="arrow 40"/>
          <p:cNvCxnSpPr/>
          <p:nvPr/>
        </p:nvCxnSpPr>
        <p:spPr>
          <a:xfrm flipH="1">
            <a:off x="5349240" y="2560320"/>
            <a:ext cx="1188720" cy="2011680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sp>
        <p:nvSpPr>
          <p:cNvPr id="41" name="rect 41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2" name="rect 42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43" name="node text 43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类比支撑：Generative Agents 2023：多 agent 记忆架构；MemGPT 2023：按作用域管理不同记忆层</a:t>
            </a:r>
            <a:endParaRPr lang="zh-C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安全、去重与成本控制流程图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边界控制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594360" y="1143000"/>
            <a:ext cx="1737360" cy="713232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594360" y="1143000"/>
            <a:ext cx="73152" cy="713232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667512" y="1143000"/>
            <a:ext cx="1664207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入口请求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读/写/召回/抽取</a:t>
            </a:r>
            <a:endParaRPr lang="zh-CN" sz="1100"/>
          </a:p>
        </p:txBody>
      </p:sp>
      <p:sp>
        <p:nvSpPr>
          <p:cNvPr id="11" name="decision 11"/>
          <p:cNvSpPr/>
          <p:nvPr/>
        </p:nvSpPr>
        <p:spPr>
          <a:xfrm>
            <a:off x="2788920" y="1005840"/>
            <a:ext cx="1691640" cy="960120"/>
          </a:xfrm>
          <a:prstGeom prst="diamond">
            <a:avLst/>
          </a:prstGeom>
          <a:solidFill>
            <a:srgbClr val="F7E7DD"/>
          </a:solidFill>
          <a:ln w="12000">
            <a:solidFill>
              <a:srgbClr val="A84F35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3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功能 gate
与模式允许？</a:t>
            </a:r>
            <a:endParaRPr lang="zh-CN" sz="1300"/>
          </a:p>
        </p:txBody>
      </p:sp>
      <p:cxnSp>
        <p:nvCxnSpPr>
          <p:cNvPr id="12" name="arrow 12"/>
          <p:cNvCxnSpPr/>
          <p:nvPr/>
        </p:nvCxnSpPr>
        <p:spPr>
          <a:xfrm>
            <a:off x="2331720" y="1499616"/>
            <a:ext cx="457200" cy="1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13" name="rect 13"/>
          <p:cNvSpPr/>
          <p:nvPr/>
        </p:nvSpPr>
        <p:spPr>
          <a:xfrm>
            <a:off x="4983480" y="1143000"/>
            <a:ext cx="1783080" cy="713232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14" name="rect 14"/>
          <p:cNvSpPr/>
          <p:nvPr/>
        </p:nvSpPr>
        <p:spPr>
          <a:xfrm>
            <a:off x="4983480" y="1143000"/>
            <a:ext cx="73152" cy="713232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15" name="node text 15"/>
          <p:cNvSpPr txBox="1"/>
          <p:nvPr/>
        </p:nvSpPr>
        <p:spPr>
          <a:xfrm>
            <a:off x="5056632" y="1143000"/>
            <a:ext cx="170992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路径归一化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拒绝危险目录</a:t>
            </a:r>
            <a:endParaRPr lang="zh-CN" sz="1100"/>
          </a:p>
        </p:txBody>
      </p:sp>
      <p:cxnSp>
        <p:nvCxnSpPr>
          <p:cNvPr id="16" name="arrow 16"/>
          <p:cNvCxnSpPr/>
          <p:nvPr/>
        </p:nvCxnSpPr>
        <p:spPr>
          <a:xfrm>
            <a:off x="4480560" y="1499616"/>
            <a:ext cx="502919" cy="1"/>
          </a:xfrm>
          <a:prstGeom prst="line">
            <a:avLst/>
          </a:prstGeom>
          <a:ln w="18000">
            <a:solidFill>
              <a:srgbClr val="A84F35"/>
            </a:solidFill>
            <a:headEnd type="triangle"/>
          </a:ln>
        </p:spPr>
      </p:cxnSp>
      <p:sp>
        <p:nvSpPr>
          <p:cNvPr id="17" name="rect 17"/>
          <p:cNvSpPr/>
          <p:nvPr/>
        </p:nvSpPr>
        <p:spPr>
          <a:xfrm>
            <a:off x="7269480" y="1143000"/>
            <a:ext cx="1783080" cy="713232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7269480" y="1143000"/>
            <a:ext cx="73152" cy="713232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7342631" y="1143000"/>
            <a:ext cx="170992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权限限定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精确目录/文件</a:t>
            </a:r>
            <a:endParaRPr lang="zh-CN" sz="1100"/>
          </a:p>
        </p:txBody>
      </p:sp>
      <p:cxnSp>
        <p:nvCxnSpPr>
          <p:cNvPr id="20" name="arrow 20"/>
          <p:cNvCxnSpPr/>
          <p:nvPr/>
        </p:nvCxnSpPr>
        <p:spPr>
          <a:xfrm>
            <a:off x="6766560" y="1499616"/>
            <a:ext cx="502919" cy="1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sp>
        <p:nvSpPr>
          <p:cNvPr id="21" name="rect 21"/>
          <p:cNvSpPr/>
          <p:nvPr/>
        </p:nvSpPr>
        <p:spPr>
          <a:xfrm>
            <a:off x="9555480" y="1143000"/>
            <a:ext cx="1783080" cy="713232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22" name="rect 22"/>
          <p:cNvSpPr/>
          <p:nvPr/>
        </p:nvSpPr>
        <p:spPr>
          <a:xfrm>
            <a:off x="9555480" y="1143000"/>
            <a:ext cx="73152" cy="713232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3" name="node text 23"/>
          <p:cNvSpPr txBox="1"/>
          <p:nvPr/>
        </p:nvSpPr>
        <p:spPr>
          <a:xfrm>
            <a:off x="9628632" y="1143000"/>
            <a:ext cx="1709928" cy="713232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允许执行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或静默跳过</a:t>
            </a:r>
            <a:endParaRPr lang="zh-CN" sz="1100"/>
          </a:p>
        </p:txBody>
      </p:sp>
      <p:cxnSp>
        <p:nvCxnSpPr>
          <p:cNvPr id="24" name="arrow 24"/>
          <p:cNvCxnSpPr/>
          <p:nvPr/>
        </p:nvCxnSpPr>
        <p:spPr>
          <a:xfrm>
            <a:off x="9052560" y="1499616"/>
            <a:ext cx="502919" cy="1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sp>
        <p:nvSpPr>
          <p:cNvPr id="25" name="rect 25"/>
          <p:cNvSpPr/>
          <p:nvPr/>
        </p:nvSpPr>
        <p:spPr>
          <a:xfrm>
            <a:off x="1097280" y="2971800"/>
            <a:ext cx="214884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26" name="rect 26"/>
          <p:cNvSpPr/>
          <p:nvPr/>
        </p:nvSpPr>
        <p:spPr>
          <a:xfrm>
            <a:off x="1097280" y="2971800"/>
            <a:ext cx="73152" cy="685800"/>
          </a:xfrm>
          <a:prstGeom prst="rect">
            <a:avLst/>
          </a:prstGeom>
          <a:solidFill>
            <a:srgbClr val="6F6761"/>
          </a:solidFill>
          <a:ln>
            <a:noFill/>
          </a:ln>
        </p:spPr>
      </p:sp>
      <p:sp>
        <p:nvSpPr>
          <p:cNvPr id="27" name="node text 27"/>
          <p:cNvSpPr txBox="1"/>
          <p:nvPr/>
        </p:nvSpPr>
        <p:spPr>
          <a:xfrm>
            <a:off x="1170432" y="2971800"/>
            <a:ext cx="20756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memoize cache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getUserContext /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Cascadia Mono"/>
                <a:ea typeface="Cascadia Mono"/>
                <a:cs typeface="Cascadia Mono"/>
              </a:rPr>
              <a:t>getMemoryFiles</a:t>
            </a:r>
            <a:endParaRPr lang="zh-CN" sz="1000"/>
          </a:p>
        </p:txBody>
      </p:sp>
      <p:sp>
        <p:nvSpPr>
          <p:cNvPr id="28" name="rect 28"/>
          <p:cNvSpPr/>
          <p:nvPr/>
        </p:nvSpPr>
        <p:spPr>
          <a:xfrm>
            <a:off x="3749039" y="2971800"/>
            <a:ext cx="2148840" cy="685800"/>
          </a:xfrm>
          <a:prstGeom prst="roundRect">
            <a:avLst/>
          </a:prstGeom>
          <a:solidFill>
            <a:srgbClr val="E9ECFF"/>
          </a:solidFill>
          <a:ln w="9500">
            <a:solidFill>
              <a:srgbClr val="E7DED6"/>
            </a:solidFill>
          </a:ln>
        </p:spPr>
      </p:sp>
      <p:sp>
        <p:nvSpPr>
          <p:cNvPr id="29" name="rect 29"/>
          <p:cNvSpPr/>
          <p:nvPr/>
        </p:nvSpPr>
        <p:spPr>
          <a:xfrm>
            <a:off x="3749039" y="297180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0" name="node text 30"/>
          <p:cNvSpPr txBox="1"/>
          <p:nvPr/>
        </p:nvSpPr>
        <p:spPr>
          <a:xfrm>
            <a:off x="3822191" y="2971800"/>
            <a:ext cx="20756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截断与上限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索引 200 行 / 25KB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召回 200 行 / 4KB</a:t>
            </a:r>
            <a:endParaRPr lang="zh-CN" sz="1000"/>
          </a:p>
        </p:txBody>
      </p:sp>
      <p:sp>
        <p:nvSpPr>
          <p:cNvPr id="31" name="rect 31"/>
          <p:cNvSpPr/>
          <p:nvPr/>
        </p:nvSpPr>
        <p:spPr>
          <a:xfrm>
            <a:off x="6400800" y="2971800"/>
            <a:ext cx="2148840" cy="685800"/>
          </a:xfrm>
          <a:prstGeom prst="roundRect">
            <a:avLst/>
          </a:prstGeom>
          <a:solidFill>
            <a:srgbClr val="E5F1EA"/>
          </a:solidFill>
          <a:ln w="9500">
            <a:solidFill>
              <a:srgbClr val="E7DED6"/>
            </a:solidFill>
          </a:ln>
        </p:spPr>
      </p:sp>
      <p:sp>
        <p:nvSpPr>
          <p:cNvPr id="32" name="rect 32"/>
          <p:cNvSpPr/>
          <p:nvPr/>
        </p:nvSpPr>
        <p:spPr>
          <a:xfrm>
            <a:off x="6400800" y="297180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33" name="node text 33"/>
          <p:cNvSpPr txBox="1"/>
          <p:nvPr/>
        </p:nvSpPr>
        <p:spPr>
          <a:xfrm>
            <a:off x="6473952" y="2971800"/>
            <a:ext cx="20756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去重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readFileState /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surfaced paths</a:t>
            </a:r>
            <a:endParaRPr lang="zh-CN" sz="1000"/>
          </a:p>
        </p:txBody>
      </p:sp>
      <p:sp>
        <p:nvSpPr>
          <p:cNvPr id="34" name="rect 34"/>
          <p:cNvSpPr/>
          <p:nvPr/>
        </p:nvSpPr>
        <p:spPr>
          <a:xfrm>
            <a:off x="9052560" y="2971800"/>
            <a:ext cx="2148840" cy="685800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35" name="rect 35"/>
          <p:cNvSpPr/>
          <p:nvPr/>
        </p:nvSpPr>
        <p:spPr>
          <a:xfrm>
            <a:off x="9052560" y="297180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6" name="node text 36"/>
          <p:cNvSpPr txBox="1"/>
          <p:nvPr/>
        </p:nvSpPr>
        <p:spPr>
          <a:xfrm>
            <a:off x="9125712" y="2971800"/>
            <a:ext cx="20756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取消与节流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AbortController /</a:t>
            </a:r>
            <a:endParaRPr lang="zh-CN" sz="1000"/>
          </a:p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poor mode</a:t>
            </a:r>
            <a:endParaRPr lang="zh-CN" sz="1000"/>
          </a:p>
        </p:txBody>
      </p:sp>
      <p:cxnSp>
        <p:nvCxnSpPr>
          <p:cNvPr id="37" name="arrow 37"/>
          <p:cNvCxnSpPr/>
          <p:nvPr/>
        </p:nvCxnSpPr>
        <p:spPr>
          <a:xfrm>
            <a:off x="2167128" y="1856231"/>
            <a:ext cx="1" cy="1115568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38" name="arrow 38"/>
          <p:cNvCxnSpPr/>
          <p:nvPr/>
        </p:nvCxnSpPr>
        <p:spPr>
          <a:xfrm flipH="1">
            <a:off x="4828032" y="1856231"/>
            <a:ext cx="1042415" cy="1115568"/>
          </a:xfrm>
          <a:prstGeom prst="line">
            <a:avLst/>
          </a:prstGeom>
          <a:ln w="18000">
            <a:solidFill>
              <a:srgbClr val="5769F7"/>
            </a:solidFill>
            <a:headEnd type="triangle"/>
          </a:ln>
        </p:spPr>
      </p:cxnSp>
      <p:cxnSp>
        <p:nvCxnSpPr>
          <p:cNvPr id="39" name="arrow 39"/>
          <p:cNvCxnSpPr/>
          <p:nvPr/>
        </p:nvCxnSpPr>
        <p:spPr>
          <a:xfrm flipH="1">
            <a:off x="7479792" y="1856231"/>
            <a:ext cx="676656" cy="1115568"/>
          </a:xfrm>
          <a:prstGeom prst="line">
            <a:avLst/>
          </a:prstGeom>
          <a:ln w="18000">
            <a:solidFill>
              <a:srgbClr val="4E8F6F"/>
            </a:solidFill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 flipH="1">
            <a:off x="10131552" y="1856231"/>
            <a:ext cx="310895" cy="1115568"/>
          </a:xfrm>
          <a:prstGeom prst="line">
            <a:avLst/>
          </a:prstGeom>
          <a:ln w="18000">
            <a:solidFill>
              <a:srgbClr val="D77757"/>
            </a:solidFill>
            <a:headEnd type="triangle"/>
          </a:ln>
        </p:spPr>
      </p:cxnSp>
      <p:sp>
        <p:nvSpPr>
          <p:cNvPr id="41" name="rect 41"/>
          <p:cNvSpPr/>
          <p:nvPr/>
        </p:nvSpPr>
        <p:spPr>
          <a:xfrm>
            <a:off x="3703320" y="4663440"/>
            <a:ext cx="4480560" cy="65836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42" name="rect 42"/>
          <p:cNvSpPr/>
          <p:nvPr/>
        </p:nvSpPr>
        <p:spPr>
          <a:xfrm>
            <a:off x="3703320" y="4663440"/>
            <a:ext cx="73152" cy="65836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43" name="node text 43"/>
          <p:cNvSpPr txBox="1"/>
          <p:nvPr/>
        </p:nvSpPr>
        <p:spPr>
          <a:xfrm>
            <a:off x="3776472" y="4663440"/>
            <a:ext cx="4407408" cy="65836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目标：把“可持久化的记忆能力”限制在可解释、可回收、可取消的路径内</a:t>
            </a:r>
            <a:endParaRPr lang="zh-CN" sz="1100"/>
          </a:p>
        </p:txBody>
      </p:sp>
      <p:sp>
        <p:nvSpPr>
          <p:cNvPr id="44" name="rect 44"/>
          <p:cNvSpPr/>
          <p:nvPr/>
        </p:nvSpPr>
        <p:spPr>
          <a:xfrm>
            <a:off x="502920" y="6199632"/>
            <a:ext cx="11155680" cy="384048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45" name="rect 45"/>
          <p:cNvSpPr/>
          <p:nvPr/>
        </p:nvSpPr>
        <p:spPr>
          <a:xfrm>
            <a:off x="502920" y="6199632"/>
            <a:ext cx="73152" cy="38404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46" name="node text 46"/>
          <p:cNvSpPr txBox="1"/>
          <p:nvPr/>
        </p:nvSpPr>
        <p:spPr>
          <a:xfrm>
            <a:off x="576072" y="6199632"/>
            <a:ext cx="1108252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论文依据 / 类比支撑：RAG 2020：选择性检索降低上下文噪音；MemGPT 2023：有限上下文下的分层管理</a:t>
            </a:r>
            <a:endParaRPr lang="zh-C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1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11480" y="16459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5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源码机制与论文支撑映射图</a:t>
            </a:r>
            <a:endParaRPr lang="zh-CN" sz="2500"/>
          </a:p>
        </p:txBody>
      </p:sp>
      <p:sp>
        <p:nvSpPr>
          <p:cNvPr id="4" name="rect 4"/>
          <p:cNvSpPr/>
          <p:nvPr/>
        </p:nvSpPr>
        <p:spPr>
          <a:xfrm>
            <a:off x="411480" y="667512"/>
            <a:ext cx="1051560" cy="32004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9281160" y="164592"/>
            <a:ext cx="2423160" cy="329184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6" name="rect 6"/>
          <p:cNvSpPr/>
          <p:nvPr/>
        </p:nvSpPr>
        <p:spPr>
          <a:xfrm>
            <a:off x="9281160" y="164592"/>
            <a:ext cx="73152" cy="329184"/>
          </a:xfrm>
          <a:prstGeom prst="rect">
            <a:avLst/>
          </a:prstGeom>
          <a:solidFill>
            <a:srgbClr val="E7DED6"/>
          </a:solidFill>
          <a:ln>
            <a:noFill/>
          </a:ln>
        </p:spPr>
      </p:sp>
      <p:sp>
        <p:nvSpPr>
          <p:cNvPr id="7" name="node text 7"/>
          <p:cNvSpPr txBox="1"/>
          <p:nvPr/>
        </p:nvSpPr>
        <p:spPr>
          <a:xfrm>
            <a:off x="9354312" y="164592"/>
            <a:ext cx="2350008" cy="329184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依据图谱</a:t>
            </a:r>
            <a:endParaRPr lang="zh-CN" sz="1000"/>
          </a:p>
        </p:txBody>
      </p:sp>
      <p:sp>
        <p:nvSpPr>
          <p:cNvPr id="8" name="rect 8"/>
          <p:cNvSpPr/>
          <p:nvPr/>
        </p:nvSpPr>
        <p:spPr>
          <a:xfrm>
            <a:off x="685800" y="960120"/>
            <a:ext cx="237744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9" name="rect 9"/>
          <p:cNvSpPr/>
          <p:nvPr/>
        </p:nvSpPr>
        <p:spPr>
          <a:xfrm>
            <a:off x="685800" y="96012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0" name="node text 10"/>
          <p:cNvSpPr txBox="1"/>
          <p:nvPr/>
        </p:nvSpPr>
        <p:spPr>
          <a:xfrm>
            <a:off x="758952" y="960120"/>
            <a:ext cx="23042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CLAUDE.md 注入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确定性指令上下文</a:t>
            </a:r>
            <a:endParaRPr lang="zh-CN" sz="1100"/>
          </a:p>
        </p:txBody>
      </p:sp>
      <p:sp>
        <p:nvSpPr>
          <p:cNvPr id="11" name="rect 11"/>
          <p:cNvSpPr/>
          <p:nvPr/>
        </p:nvSpPr>
        <p:spPr>
          <a:xfrm>
            <a:off x="685800" y="2057400"/>
            <a:ext cx="237744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685800" y="205740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3" name="node text 13"/>
          <p:cNvSpPr txBox="1"/>
          <p:nvPr/>
        </p:nvSpPr>
        <p:spPr>
          <a:xfrm>
            <a:off x="758952" y="2057400"/>
            <a:ext cx="23042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Relevant memories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旁路检索注入</a:t>
            </a:r>
            <a:endParaRPr lang="zh-CN" sz="1100"/>
          </a:p>
        </p:txBody>
      </p:sp>
      <p:sp>
        <p:nvSpPr>
          <p:cNvPr id="14" name="rect 14"/>
          <p:cNvSpPr/>
          <p:nvPr/>
        </p:nvSpPr>
        <p:spPr>
          <a:xfrm>
            <a:off x="685800" y="3154680"/>
            <a:ext cx="237744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5" name="rect 15"/>
          <p:cNvSpPr/>
          <p:nvPr/>
        </p:nvSpPr>
        <p:spPr>
          <a:xfrm>
            <a:off x="685800" y="315468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6" name="node text 16"/>
          <p:cNvSpPr txBox="1"/>
          <p:nvPr/>
        </p:nvSpPr>
        <p:spPr>
          <a:xfrm>
            <a:off x="758952" y="3154680"/>
            <a:ext cx="23042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Extract Memories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反思式后台写入</a:t>
            </a:r>
            <a:endParaRPr lang="zh-CN" sz="1100"/>
          </a:p>
        </p:txBody>
      </p:sp>
      <p:sp>
        <p:nvSpPr>
          <p:cNvPr id="17" name="rect 17"/>
          <p:cNvSpPr/>
          <p:nvPr/>
        </p:nvSpPr>
        <p:spPr>
          <a:xfrm>
            <a:off x="685800" y="4251960"/>
            <a:ext cx="2377440" cy="685800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18" name="rect 18"/>
          <p:cNvSpPr/>
          <p:nvPr/>
        </p:nvSpPr>
        <p:spPr>
          <a:xfrm>
            <a:off x="685800" y="425196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19" name="node text 19"/>
          <p:cNvSpPr txBox="1"/>
          <p:nvPr/>
        </p:nvSpPr>
        <p:spPr>
          <a:xfrm>
            <a:off x="758952" y="4251960"/>
            <a:ext cx="230428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Session Memory</a:t>
            </a:r>
            <a:endParaRPr lang="zh-CN" sz="1100"/>
          </a:p>
          <a:p>
            <a:pPr algn="ctr"/>
            <a:r>
              <a:rPr lang="zh-CN" sz="11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会话摘要与 compact</a:t>
            </a:r>
            <a:endParaRPr lang="zh-CN" sz="1100"/>
          </a:p>
        </p:txBody>
      </p:sp>
      <p:sp>
        <p:nvSpPr>
          <p:cNvPr id="20" name="rect 20"/>
          <p:cNvSpPr/>
          <p:nvPr/>
        </p:nvSpPr>
        <p:spPr>
          <a:xfrm>
            <a:off x="4206240" y="960120"/>
            <a:ext cx="205740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21" name="rect 21"/>
          <p:cNvSpPr/>
          <p:nvPr/>
        </p:nvSpPr>
        <p:spPr>
          <a:xfrm>
            <a:off x="4206240" y="960120"/>
            <a:ext cx="73152" cy="685800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22" name="node text 22"/>
          <p:cNvSpPr txBox="1"/>
          <p:nvPr/>
        </p:nvSpPr>
        <p:spPr>
          <a:xfrm>
            <a:off x="4279392" y="96012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显式上下文管理</a:t>
            </a:r>
            <a:endParaRPr lang="zh-CN" sz="1100"/>
          </a:p>
        </p:txBody>
      </p:sp>
      <p:sp>
        <p:nvSpPr>
          <p:cNvPr id="23" name="rect 23"/>
          <p:cNvSpPr/>
          <p:nvPr/>
        </p:nvSpPr>
        <p:spPr>
          <a:xfrm>
            <a:off x="4206240" y="2057400"/>
            <a:ext cx="205740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24" name="rect 24"/>
          <p:cNvSpPr/>
          <p:nvPr/>
        </p:nvSpPr>
        <p:spPr>
          <a:xfrm>
            <a:off x="4206240" y="2057400"/>
            <a:ext cx="73152" cy="685800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25" name="node text 25"/>
          <p:cNvSpPr txBox="1"/>
          <p:nvPr/>
        </p:nvSpPr>
        <p:spPr>
          <a:xfrm>
            <a:off x="4279392" y="205740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检索增强生成</a:t>
            </a:r>
            <a:endParaRPr lang="zh-CN" sz="1100"/>
          </a:p>
        </p:txBody>
      </p:sp>
      <p:sp>
        <p:nvSpPr>
          <p:cNvPr id="26" name="rect 26"/>
          <p:cNvSpPr/>
          <p:nvPr/>
        </p:nvSpPr>
        <p:spPr>
          <a:xfrm>
            <a:off x="4206240" y="3154680"/>
            <a:ext cx="205740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27" name="rect 27"/>
          <p:cNvSpPr/>
          <p:nvPr/>
        </p:nvSpPr>
        <p:spPr>
          <a:xfrm>
            <a:off x="4206240" y="3154680"/>
            <a:ext cx="73152" cy="685800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28" name="node text 28"/>
          <p:cNvSpPr txBox="1"/>
          <p:nvPr/>
        </p:nvSpPr>
        <p:spPr>
          <a:xfrm>
            <a:off x="4279392" y="315468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经验→反思→记忆</a:t>
            </a:r>
            <a:endParaRPr lang="zh-CN" sz="1100"/>
          </a:p>
        </p:txBody>
      </p:sp>
      <p:sp>
        <p:nvSpPr>
          <p:cNvPr id="29" name="rect 29"/>
          <p:cNvSpPr/>
          <p:nvPr/>
        </p:nvSpPr>
        <p:spPr>
          <a:xfrm>
            <a:off x="4206240" y="4251960"/>
            <a:ext cx="2057400" cy="685800"/>
          </a:xfrm>
          <a:prstGeom prst="roundRect">
            <a:avLst/>
          </a:prstGeom>
          <a:solidFill>
            <a:srgbClr val="F1ECE6"/>
          </a:solidFill>
          <a:ln w="9500">
            <a:solidFill>
              <a:srgbClr val="E7DED6"/>
            </a:solidFill>
          </a:ln>
        </p:spPr>
      </p:sp>
      <p:sp>
        <p:nvSpPr>
          <p:cNvPr id="30" name="rect 30"/>
          <p:cNvSpPr/>
          <p:nvPr/>
        </p:nvSpPr>
        <p:spPr>
          <a:xfrm>
            <a:off x="4206240" y="4251960"/>
            <a:ext cx="73152" cy="685800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31" name="node text 31"/>
          <p:cNvSpPr txBox="1"/>
          <p:nvPr/>
        </p:nvSpPr>
        <p:spPr>
          <a:xfrm>
            <a:off x="4279392" y="4251960"/>
            <a:ext cx="1984248" cy="685800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1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长期/分层记忆</a:t>
            </a:r>
            <a:endParaRPr lang="zh-CN" sz="1100"/>
          </a:p>
        </p:txBody>
      </p:sp>
      <p:sp>
        <p:nvSpPr>
          <p:cNvPr id="32" name="rect 32"/>
          <p:cNvSpPr/>
          <p:nvPr/>
        </p:nvSpPr>
        <p:spPr>
          <a:xfrm>
            <a:off x="7452360" y="777240"/>
            <a:ext cx="3337560" cy="56692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3" name="rect 33"/>
          <p:cNvSpPr/>
          <p:nvPr/>
        </p:nvSpPr>
        <p:spPr>
          <a:xfrm>
            <a:off x="7452360" y="777240"/>
            <a:ext cx="73152" cy="566928"/>
          </a:xfrm>
          <a:prstGeom prst="rect">
            <a:avLst/>
          </a:prstGeom>
          <a:solidFill>
            <a:srgbClr val="D77757"/>
          </a:solidFill>
          <a:ln>
            <a:noFill/>
          </a:ln>
        </p:spPr>
      </p:sp>
      <p:sp>
        <p:nvSpPr>
          <p:cNvPr id="34" name="node text 34"/>
          <p:cNvSpPr txBox="1"/>
          <p:nvPr/>
        </p:nvSpPr>
        <p:spPr>
          <a:xfrm>
            <a:off x="7525512" y="777240"/>
            <a:ext cx="3264408" cy="56692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MemGPT 2023</a:t>
            </a:r>
            <a:endParaRPr lang="zh-CN" sz="900"/>
          </a:p>
          <a:p>
            <a:pPr algn="ctr"/>
            <a:r>
              <a:rPr lang="zh-CN" sz="9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arXiv:2310.08560</a:t>
            </a:r>
            <a:endParaRPr lang="zh-CN" sz="900"/>
          </a:p>
        </p:txBody>
      </p:sp>
      <p:sp>
        <p:nvSpPr>
          <p:cNvPr id="35" name="rect 35"/>
          <p:cNvSpPr/>
          <p:nvPr/>
        </p:nvSpPr>
        <p:spPr>
          <a:xfrm>
            <a:off x="7452360" y="1691640"/>
            <a:ext cx="3337560" cy="56692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6" name="rect 36"/>
          <p:cNvSpPr/>
          <p:nvPr/>
        </p:nvSpPr>
        <p:spPr>
          <a:xfrm>
            <a:off x="7452360" y="1691640"/>
            <a:ext cx="73152" cy="56692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37" name="node text 37"/>
          <p:cNvSpPr txBox="1"/>
          <p:nvPr/>
        </p:nvSpPr>
        <p:spPr>
          <a:xfrm>
            <a:off x="7525512" y="1691640"/>
            <a:ext cx="3264408" cy="56692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RAG 2020</a:t>
            </a:r>
            <a:endParaRPr lang="zh-CN" sz="900"/>
          </a:p>
          <a:p>
            <a:pPr algn="ctr"/>
            <a:r>
              <a:rPr lang="zh-CN" sz="9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arXiv:2005.11401</a:t>
            </a:r>
            <a:endParaRPr lang="zh-CN" sz="900"/>
          </a:p>
        </p:txBody>
      </p:sp>
      <p:sp>
        <p:nvSpPr>
          <p:cNvPr id="38" name="rect 38"/>
          <p:cNvSpPr/>
          <p:nvPr/>
        </p:nvSpPr>
        <p:spPr>
          <a:xfrm>
            <a:off x="7452360" y="2606040"/>
            <a:ext cx="3337560" cy="56692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39" name="rect 39"/>
          <p:cNvSpPr/>
          <p:nvPr/>
        </p:nvSpPr>
        <p:spPr>
          <a:xfrm>
            <a:off x="7452360" y="2606040"/>
            <a:ext cx="73152" cy="566928"/>
          </a:xfrm>
          <a:prstGeom prst="rect">
            <a:avLst/>
          </a:prstGeom>
          <a:solidFill>
            <a:srgbClr val="5769F7"/>
          </a:solidFill>
          <a:ln>
            <a:noFill/>
          </a:ln>
        </p:spPr>
      </p:sp>
      <p:sp>
        <p:nvSpPr>
          <p:cNvPr id="40" name="node text 40"/>
          <p:cNvSpPr txBox="1"/>
          <p:nvPr/>
        </p:nvSpPr>
        <p:spPr>
          <a:xfrm>
            <a:off x="7525512" y="2606040"/>
            <a:ext cx="3264408" cy="56692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RETRO 2022 / LongMem 2023</a:t>
            </a:r>
            <a:endParaRPr lang="zh-CN" sz="900"/>
          </a:p>
          <a:p>
            <a:pPr algn="ctr"/>
            <a:r>
              <a:rPr lang="zh-CN" sz="9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arXiv:2112.04426 /</a:t>
            </a:r>
            <a:endParaRPr lang="zh-CN" sz="900"/>
          </a:p>
          <a:p>
            <a:pPr algn="ctr"/>
            <a:r>
              <a:rPr lang="zh-CN" sz="9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2306.07174</a:t>
            </a:r>
            <a:endParaRPr lang="zh-CN" sz="900"/>
          </a:p>
        </p:txBody>
      </p:sp>
      <p:sp>
        <p:nvSpPr>
          <p:cNvPr id="41" name="rect 41"/>
          <p:cNvSpPr/>
          <p:nvPr/>
        </p:nvSpPr>
        <p:spPr>
          <a:xfrm>
            <a:off x="7452360" y="3520440"/>
            <a:ext cx="3337560" cy="56692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42" name="rect 42"/>
          <p:cNvSpPr/>
          <p:nvPr/>
        </p:nvSpPr>
        <p:spPr>
          <a:xfrm>
            <a:off x="7452360" y="3520440"/>
            <a:ext cx="73152" cy="56692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43" name="node text 43"/>
          <p:cNvSpPr txBox="1"/>
          <p:nvPr/>
        </p:nvSpPr>
        <p:spPr>
          <a:xfrm>
            <a:off x="7525512" y="3520440"/>
            <a:ext cx="3264408" cy="56692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Generative Agents 2023</a:t>
            </a:r>
            <a:endParaRPr lang="zh-CN" sz="900"/>
          </a:p>
          <a:p>
            <a:pPr algn="ctr"/>
            <a:r>
              <a:rPr lang="zh-CN" sz="9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arXiv:2304.03442</a:t>
            </a:r>
            <a:endParaRPr lang="zh-CN" sz="900"/>
          </a:p>
        </p:txBody>
      </p:sp>
      <p:sp>
        <p:nvSpPr>
          <p:cNvPr id="44" name="rect 44"/>
          <p:cNvSpPr/>
          <p:nvPr/>
        </p:nvSpPr>
        <p:spPr>
          <a:xfrm>
            <a:off x="7452360" y="4434840"/>
            <a:ext cx="3337560" cy="56692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45" name="rect 45"/>
          <p:cNvSpPr/>
          <p:nvPr/>
        </p:nvSpPr>
        <p:spPr>
          <a:xfrm>
            <a:off x="7452360" y="4434840"/>
            <a:ext cx="73152" cy="56692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46" name="node text 46"/>
          <p:cNvSpPr txBox="1"/>
          <p:nvPr/>
        </p:nvSpPr>
        <p:spPr>
          <a:xfrm>
            <a:off x="7525512" y="4434840"/>
            <a:ext cx="3264408" cy="56692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Reflexion 2023 / ReAct 2023</a:t>
            </a:r>
            <a:endParaRPr lang="zh-CN" sz="900"/>
          </a:p>
          <a:p>
            <a:pPr algn="ctr"/>
            <a:r>
              <a:rPr lang="zh-CN" sz="9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arXiv:2303.11366 /</a:t>
            </a:r>
            <a:endParaRPr lang="zh-CN" sz="900"/>
          </a:p>
          <a:p>
            <a:pPr algn="ctr"/>
            <a:r>
              <a:rPr lang="zh-CN" sz="9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2210.03629</a:t>
            </a:r>
            <a:endParaRPr lang="zh-CN" sz="900"/>
          </a:p>
        </p:txBody>
      </p:sp>
      <p:sp>
        <p:nvSpPr>
          <p:cNvPr id="47" name="rect 47"/>
          <p:cNvSpPr/>
          <p:nvPr/>
        </p:nvSpPr>
        <p:spPr>
          <a:xfrm>
            <a:off x="7452360" y="5349240"/>
            <a:ext cx="3337560" cy="566928"/>
          </a:xfrm>
          <a:prstGeom prst="roundRect">
            <a:avLst/>
          </a:prstGeom>
          <a:solidFill>
            <a:srgbClr val="FFFDF8"/>
          </a:solidFill>
          <a:ln w="9500">
            <a:solidFill>
              <a:srgbClr val="E7DED6"/>
            </a:solidFill>
          </a:ln>
        </p:spPr>
      </p:sp>
      <p:sp>
        <p:nvSpPr>
          <p:cNvPr id="48" name="rect 48"/>
          <p:cNvSpPr/>
          <p:nvPr/>
        </p:nvSpPr>
        <p:spPr>
          <a:xfrm>
            <a:off x="7452360" y="5349240"/>
            <a:ext cx="73152" cy="566928"/>
          </a:xfrm>
          <a:prstGeom prst="rect">
            <a:avLst/>
          </a:prstGeom>
          <a:solidFill>
            <a:srgbClr val="4E8F6F"/>
          </a:solidFill>
          <a:ln>
            <a:noFill/>
          </a:ln>
        </p:spPr>
      </p:sp>
      <p:sp>
        <p:nvSpPr>
          <p:cNvPr id="49" name="node text 49"/>
          <p:cNvSpPr txBox="1"/>
          <p:nvPr/>
        </p:nvSpPr>
        <p:spPr>
          <a:xfrm>
            <a:off x="7525512" y="5349240"/>
            <a:ext cx="3264408" cy="56692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900" b="1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MemoryBank 2023</a:t>
            </a:r>
            <a:endParaRPr lang="zh-CN" sz="900"/>
          </a:p>
          <a:p>
            <a:pPr algn="ctr"/>
            <a:r>
              <a:rPr lang="zh-CN" sz="9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arXiv:2305.10250</a:t>
            </a:r>
            <a:endParaRPr lang="zh-CN" sz="900"/>
          </a:p>
        </p:txBody>
      </p:sp>
      <p:cxnSp>
        <p:nvCxnSpPr>
          <p:cNvPr id="50" name="arrow 50"/>
          <p:cNvCxnSpPr/>
          <p:nvPr/>
        </p:nvCxnSpPr>
        <p:spPr>
          <a:xfrm>
            <a:off x="3063240" y="1298448"/>
            <a:ext cx="114299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51" name="arrow 51"/>
          <p:cNvCxnSpPr/>
          <p:nvPr/>
        </p:nvCxnSpPr>
        <p:spPr>
          <a:xfrm>
            <a:off x="3063240" y="2395728"/>
            <a:ext cx="114299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52" name="arrow 52"/>
          <p:cNvCxnSpPr/>
          <p:nvPr/>
        </p:nvCxnSpPr>
        <p:spPr>
          <a:xfrm>
            <a:off x="3063240" y="3493008"/>
            <a:ext cx="114299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53" name="arrow 53"/>
          <p:cNvCxnSpPr/>
          <p:nvPr/>
        </p:nvCxnSpPr>
        <p:spPr>
          <a:xfrm>
            <a:off x="3063240" y="4590288"/>
            <a:ext cx="1142999" cy="1"/>
          </a:xfrm>
          <a:prstGeom prst="line">
            <a:avLst/>
          </a:prstGeom>
          <a:ln w="18000">
            <a:solidFill>
              <a:srgbClr val="6F6761"/>
            </a:solidFill>
            <a:headEnd type="triangle"/>
          </a:ln>
        </p:spPr>
      </p:cxnSp>
      <p:cxnSp>
        <p:nvCxnSpPr>
          <p:cNvPr id="54" name="arrow 54"/>
          <p:cNvCxnSpPr/>
          <p:nvPr/>
        </p:nvCxnSpPr>
        <p:spPr>
          <a:xfrm flipV="1">
            <a:off x="6263640" y="1060704"/>
            <a:ext cx="1188720" cy="237744"/>
          </a:xfrm>
          <a:prstGeom prst="line">
            <a:avLst/>
          </a:prstGeom>
          <a:ln w="12000">
            <a:solidFill>
              <a:srgbClr val="6F6761"/>
            </a:solidFill>
            <a:headEnd type="triangle"/>
          </a:ln>
        </p:spPr>
      </p:cxnSp>
      <p:cxnSp>
        <p:nvCxnSpPr>
          <p:cNvPr id="55" name="arrow 55"/>
          <p:cNvCxnSpPr/>
          <p:nvPr/>
        </p:nvCxnSpPr>
        <p:spPr>
          <a:xfrm flipV="1">
            <a:off x="6263640" y="1975104"/>
            <a:ext cx="1188720" cy="420623"/>
          </a:xfrm>
          <a:prstGeom prst="line">
            <a:avLst/>
          </a:prstGeom>
          <a:ln w="12000">
            <a:solidFill>
              <a:srgbClr val="5769F7"/>
            </a:solidFill>
            <a:headEnd type="triangle"/>
          </a:ln>
        </p:spPr>
      </p:cxnSp>
      <p:cxnSp>
        <p:nvCxnSpPr>
          <p:cNvPr id="56" name="arrow 56"/>
          <p:cNvCxnSpPr/>
          <p:nvPr/>
        </p:nvCxnSpPr>
        <p:spPr>
          <a:xfrm>
            <a:off x="6263640" y="2395728"/>
            <a:ext cx="1188720" cy="493776"/>
          </a:xfrm>
          <a:prstGeom prst="line">
            <a:avLst/>
          </a:prstGeom>
          <a:ln w="12000">
            <a:solidFill>
              <a:srgbClr val="5769F7"/>
            </a:solidFill>
            <a:headEnd type="triangle"/>
          </a:ln>
        </p:spPr>
      </p:cxnSp>
      <p:cxnSp>
        <p:nvCxnSpPr>
          <p:cNvPr id="57" name="arrow 57"/>
          <p:cNvCxnSpPr/>
          <p:nvPr/>
        </p:nvCxnSpPr>
        <p:spPr>
          <a:xfrm>
            <a:off x="6263640" y="3493008"/>
            <a:ext cx="1188720" cy="310896"/>
          </a:xfrm>
          <a:prstGeom prst="line">
            <a:avLst/>
          </a:prstGeom>
          <a:ln w="12000">
            <a:solidFill>
              <a:srgbClr val="6F6761"/>
            </a:solidFill>
            <a:headEnd type="triangle"/>
          </a:ln>
        </p:spPr>
      </p:cxnSp>
      <p:cxnSp>
        <p:nvCxnSpPr>
          <p:cNvPr id="58" name="arrow 58"/>
          <p:cNvCxnSpPr/>
          <p:nvPr/>
        </p:nvCxnSpPr>
        <p:spPr>
          <a:xfrm>
            <a:off x="6263640" y="3493008"/>
            <a:ext cx="1188720" cy="1225296"/>
          </a:xfrm>
          <a:prstGeom prst="line">
            <a:avLst/>
          </a:prstGeom>
          <a:ln w="12000">
            <a:solidFill>
              <a:srgbClr val="6F6761"/>
            </a:solidFill>
            <a:headEnd type="triangle"/>
          </a:ln>
        </p:spPr>
      </p:cxnSp>
      <p:cxnSp>
        <p:nvCxnSpPr>
          <p:cNvPr id="59" name="arrow 59"/>
          <p:cNvCxnSpPr/>
          <p:nvPr/>
        </p:nvCxnSpPr>
        <p:spPr>
          <a:xfrm>
            <a:off x="6263640" y="3493008"/>
            <a:ext cx="1188720" cy="2139696"/>
          </a:xfrm>
          <a:prstGeom prst="line">
            <a:avLst/>
          </a:prstGeom>
          <a:ln w="12000">
            <a:solidFill>
              <a:srgbClr val="6F6761"/>
            </a:solidFill>
            <a:headEnd type="triangle"/>
          </a:ln>
        </p:spPr>
      </p:cxnSp>
      <p:cxnSp>
        <p:nvCxnSpPr>
          <p:cNvPr id="60" name="arrow 60"/>
          <p:cNvCxnSpPr/>
          <p:nvPr/>
        </p:nvCxnSpPr>
        <p:spPr>
          <a:xfrm flipV="1">
            <a:off x="6263640" y="1060704"/>
            <a:ext cx="1188720" cy="3529583"/>
          </a:xfrm>
          <a:prstGeom prst="line">
            <a:avLst/>
          </a:prstGeom>
          <a:ln w="12000">
            <a:solidFill>
              <a:srgbClr val="6F6761"/>
            </a:solidFill>
            <a:headEnd type="triangle"/>
          </a:ln>
        </p:spPr>
      </p:cxnSp>
      <p:cxnSp>
        <p:nvCxnSpPr>
          <p:cNvPr id="61" name="arrow 61"/>
          <p:cNvCxnSpPr/>
          <p:nvPr/>
        </p:nvCxnSpPr>
        <p:spPr>
          <a:xfrm flipV="1">
            <a:off x="6263640" y="2889504"/>
            <a:ext cx="1188720" cy="1700783"/>
          </a:xfrm>
          <a:prstGeom prst="line">
            <a:avLst/>
          </a:prstGeom>
          <a:ln w="12000">
            <a:solidFill>
              <a:srgbClr val="5769F7"/>
            </a:solidFill>
            <a:headEnd type="triangle"/>
          </a:ln>
        </p:spPr>
      </p:cxnSp>
      <p:sp>
        <p:nvSpPr>
          <p:cNvPr id="62" name="rect 62"/>
          <p:cNvSpPr/>
          <p:nvPr/>
        </p:nvSpPr>
        <p:spPr>
          <a:xfrm>
            <a:off x="777240" y="5989320"/>
            <a:ext cx="10332720" cy="384048"/>
          </a:xfrm>
          <a:prstGeom prst="roundRect">
            <a:avLst/>
          </a:prstGeom>
          <a:solidFill>
            <a:srgbClr val="F7E7DD"/>
          </a:solidFill>
          <a:ln w="9500">
            <a:solidFill>
              <a:srgbClr val="E7DED6"/>
            </a:solidFill>
          </a:ln>
        </p:spPr>
      </p:sp>
      <p:sp>
        <p:nvSpPr>
          <p:cNvPr id="63" name="rect 63"/>
          <p:cNvSpPr/>
          <p:nvPr/>
        </p:nvSpPr>
        <p:spPr>
          <a:xfrm>
            <a:off x="777240" y="5989320"/>
            <a:ext cx="73152" cy="384048"/>
          </a:xfrm>
          <a:prstGeom prst="rect">
            <a:avLst/>
          </a:prstGeom>
          <a:solidFill>
            <a:srgbClr val="A84F35"/>
          </a:solidFill>
          <a:ln>
            <a:noFill/>
          </a:ln>
        </p:spPr>
      </p:sp>
      <p:sp>
        <p:nvSpPr>
          <p:cNvPr id="64" name="node text 64"/>
          <p:cNvSpPr txBox="1"/>
          <p:nvPr/>
        </p:nvSpPr>
        <p:spPr>
          <a:xfrm>
            <a:off x="850392" y="5989320"/>
            <a:ext cx="10259568" cy="3840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ctr"/>
          <a:lstStyle/>
          <a:p>
            <a:pPr algn="ctr"/>
            <a:r>
              <a:rPr lang="zh-CN" sz="1000">
                <a:solidFill>
                  <a:srgbClr val="231F20"/>
                </a:solidFill>
                <a:latin typeface="Microsoft YaHei"/>
                <a:ea typeface="Microsoft YaHei"/>
                <a:cs typeface="Microsoft YaHei"/>
              </a:rPr>
              <a:t>注：这些论文提供相似系统设计依据，不代表 Claude Code 官方实现来源。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Flow Theme">
  <a:themeElements>
    <a:clrScheme name="Claude">
      <a:dk1>
        <a:srgbClr val="231F20"/>
      </a:dk1>
      <a:lt1>
        <a:srgbClr val="FAF7F2"/>
      </a:lt1>
      <a:dk2>
        <a:srgbClr val="6F6761"/>
      </a:dk2>
      <a:lt2>
        <a:srgbClr val="FFFDF8"/>
      </a:lt2>
      <a:accent1>
        <a:srgbClr val="D77757"/>
      </a:accent1>
      <a:accent2>
        <a:srgbClr val="5769F7"/>
      </a:accent2>
      <a:accent3>
        <a:srgbClr val="4E8F6F"/>
      </a:accent3>
      <a:accent4>
        <a:srgbClr val="A84F35"/>
      </a:accent4>
      <a:accent5>
        <a:srgbClr val="E7DED6"/>
      </a:accent5>
      <a:accent6>
        <a:srgbClr val="F1ECE6"/>
      </a:accent6>
      <a:hlink>
        <a:srgbClr val="5769F7"/>
      </a:hlink>
      <a:folHlink>
        <a:srgbClr val="A84F35"/>
      </a:folHlink>
    </a:clrScheme>
    <a:fontScheme name="Claude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laude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Claude Code 记忆机制流程图版</dc:title>
  <dc:creator>Codex</dc:creator>
  <dcterms:created xsi:type="dcterms:W3CDTF">2026-05-02T18:05:51Z</dcterms:created>
  <dcterms:modified xsi:type="dcterms:W3CDTF">2026-05-02T18:05:51Z</dcterms:modified>
</cp:coreProperties>
</file>